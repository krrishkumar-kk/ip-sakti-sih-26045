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Arial Bold" panose="020B0704020202020204" pitchFamily="34" charset="0"/>
      <p:regular r:id="rId8"/>
      <p:bold r:id="rId9"/>
    </p:embeddedFont>
    <p:embeddedFont>
      <p:font typeface="Caladea" panose="020B0604020202020204" charset="0"/>
      <p:regular r:id="rId10"/>
    </p:embeddedFont>
    <p:embeddedFont>
      <p:font typeface="Caladea Bold" panose="020B0604020202020204" charset="0"/>
      <p:regular r:id="rId11"/>
    </p:embeddedFont>
    <p:embeddedFont>
      <p:font typeface="Caladea Bold Italics" panose="020B0604020202020204" charset="0"/>
      <p:regular r:id="rId12"/>
    </p:embeddedFont>
    <p:embeddedFont>
      <p:font typeface="Calistoga" panose="020B0604020202020204" charset="0"/>
      <p:regular r:id="rId13"/>
    </p:embeddedFont>
    <p:embeddedFont>
      <p:font typeface="Cambria Italics" panose="020B0604020202020204" charset="0"/>
      <p:regular r:id="rId14"/>
    </p:embeddedFont>
    <p:embeddedFont>
      <p:font typeface="Canva Sans" panose="020B0604020202020204" charset="0"/>
      <p:regular r:id="rId15"/>
    </p:embeddedFont>
    <p:embeddedFont>
      <p:font typeface="Canva Sans Bold" panose="020B0604020202020204" charset="0"/>
      <p:regular r:id="rId16"/>
    </p:embeddedFont>
    <p:embeddedFont>
      <p:font typeface="Canva Sans Italics" panose="020B0604020202020204" charset="0"/>
      <p:regular r:id="rId17"/>
    </p:embeddedFont>
    <p:embeddedFont>
      <p:font typeface="Canva Student Font" panose="020B0604020202020204" charset="0"/>
      <p:regular r:id="rId18"/>
    </p:embeddedFont>
    <p:embeddedFont>
      <p:font typeface="Comic Sans Bold" panose="020B0604020202020204" charset="0"/>
      <p:regular r:id="rId19"/>
    </p:embeddedFont>
    <p:embeddedFont>
      <p:font typeface="Comic Sans Italics" panose="020B0604020202020204" charset="0"/>
      <p:regular r:id="rId20"/>
    </p:embeddedFont>
    <p:embeddedFont>
      <p:font typeface="DM Sans" pitchFamily="2" charset="0"/>
      <p:regular r:id="rId21"/>
    </p:embeddedFont>
    <p:embeddedFont>
      <p:font typeface="Garamond" panose="02020404030301010803" pitchFamily="18" charset="0"/>
      <p:regular r:id="rId22"/>
      <p:bold r:id="rId23"/>
      <p:italic r:id="rId24"/>
    </p:embeddedFont>
    <p:embeddedFont>
      <p:font typeface="Garamond Bold" panose="02020804030307010803" pitchFamily="18" charset="0"/>
      <p:regular r:id="rId25"/>
      <p:bold r:id="rId26"/>
    </p:embeddedFont>
    <p:embeddedFont>
      <p:font typeface="Georgia Pro Bold" panose="020B0604020202020204" charset="0"/>
      <p:regular r:id="rId27"/>
    </p:embeddedFont>
    <p:embeddedFont>
      <p:font typeface="Open Sauce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font" Target="fonts/font19.fntdata"/><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font" Target="fonts/font1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font" Target="fonts/font16.fntdata"/><Relationship Id="rId28" Type="http://schemas.openxmlformats.org/officeDocument/2006/relationships/font" Target="fonts/font21.fntdata"/><Relationship Id="rId10" Type="http://schemas.openxmlformats.org/officeDocument/2006/relationships/font" Target="fonts/font3.fntdata"/><Relationship Id="rId19" Type="http://schemas.openxmlformats.org/officeDocument/2006/relationships/font" Target="fonts/font1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font" Target="fonts/font15.fntdata"/><Relationship Id="rId27" Type="http://schemas.openxmlformats.org/officeDocument/2006/relationships/font" Target="fonts/font20.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pn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svg"/><Relationship Id="rId18" Type="http://schemas.openxmlformats.org/officeDocument/2006/relationships/image" Target="../media/image31.svg"/><Relationship Id="rId26" Type="http://schemas.microsoft.com/office/2007/relationships/hdphoto" Target="../media/hdphoto1.wdp"/><Relationship Id="rId3" Type="http://schemas.openxmlformats.org/officeDocument/2006/relationships/image" Target="../media/image16.svg"/><Relationship Id="rId21" Type="http://schemas.openxmlformats.org/officeDocument/2006/relationships/image" Target="../media/image32.png"/><Relationship Id="rId7" Type="http://schemas.openxmlformats.org/officeDocument/2006/relationships/image" Target="../media/image20.png"/><Relationship Id="rId12" Type="http://schemas.openxmlformats.org/officeDocument/2006/relationships/image" Target="../media/image25.svg"/><Relationship Id="rId17" Type="http://schemas.openxmlformats.org/officeDocument/2006/relationships/image" Target="../media/image30.svg"/><Relationship Id="rId25" Type="http://schemas.openxmlformats.org/officeDocument/2006/relationships/image" Target="../media/image34.png"/><Relationship Id="rId2" Type="http://schemas.openxmlformats.org/officeDocument/2006/relationships/image" Target="../media/image15.svg"/><Relationship Id="rId16" Type="http://schemas.openxmlformats.org/officeDocument/2006/relationships/image" Target="../media/image29.svg"/><Relationship Id="rId20"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hyperlink" Target="https://he.wikipedia.org/wiki/SQLite" TargetMode="External"/><Relationship Id="rId5" Type="http://schemas.openxmlformats.org/officeDocument/2006/relationships/image" Target="../media/image18.png"/><Relationship Id="rId15" Type="http://schemas.openxmlformats.org/officeDocument/2006/relationships/image" Target="../media/image28.svg"/><Relationship Id="rId23" Type="http://schemas.openxmlformats.org/officeDocument/2006/relationships/image" Target="../media/image33.png"/><Relationship Id="rId10" Type="http://schemas.openxmlformats.org/officeDocument/2006/relationships/image" Target="../media/image23.png"/><Relationship Id="rId19" Type="http://schemas.openxmlformats.org/officeDocument/2006/relationships/image" Target="../media/image4.png"/><Relationship Id="rId4" Type="http://schemas.openxmlformats.org/officeDocument/2006/relationships/image" Target="../media/image17.png"/><Relationship Id="rId9" Type="http://schemas.openxmlformats.org/officeDocument/2006/relationships/image" Target="../media/image22.svg"/><Relationship Id="rId14" Type="http://schemas.openxmlformats.org/officeDocument/2006/relationships/image" Target="../media/image27.svg"/><Relationship Id="rId22" Type="http://schemas.openxmlformats.org/officeDocument/2006/relationships/hyperlink" Target="https://fr.wikipedia.org/wiki/Vite_(logiciel)" TargetMode="External"/><Relationship Id="rId27" Type="http://schemas.openxmlformats.org/officeDocument/2006/relationships/hyperlink" Target="https://www.msn.com/en-us/money/mergers-and-acquisitions/doj-opens-formal-probe-into-nvidia-groq-deal-reverse-acquihire-playbook-faces-first-legal-test/ar-AA2bX2cx"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sv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7.svg"/></Relationships>
</file>

<file path=ppt/slides/_rels/slide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6.png"/><Relationship Id="rId3" Type="http://schemas.openxmlformats.org/officeDocument/2006/relationships/image" Target="../media/image39.svg"/><Relationship Id="rId7" Type="http://schemas.openxmlformats.org/officeDocument/2006/relationships/image" Target="../media/image43.svg"/><Relationship Id="rId12" Type="http://schemas.openxmlformats.org/officeDocument/2006/relationships/image" Target="../media/image4.png"/><Relationship Id="rId2"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7.svg"/><Relationship Id="rId5" Type="http://schemas.openxmlformats.org/officeDocument/2006/relationships/image" Target="../media/image41.sv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sv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ipindia.gov.in/pages/patents/chapter" TargetMode="External"/><Relationship Id="rId7" Type="http://schemas.openxmlformats.org/officeDocument/2006/relationships/hyperlink" Target="https://www.wipo.int/en/web/traditional-knowledge" TargetMode="Externa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https://ayush.gov.in" TargetMode="External"/><Relationship Id="rId5" Type="http://schemas.openxmlformats.org/officeDocument/2006/relationships/hyperlink" Target="https://www.tkdl.res.in/tkdl/langdefault/common/Home.asp" TargetMode="External"/><Relationship Id="rId4" Type="http://schemas.openxmlformats.org/officeDocument/2006/relationships/hyperlink" Target="https://www.nbaindia.nic.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86995" y="1931914"/>
            <a:ext cx="6957908" cy="7732452"/>
          </a:xfrm>
          <a:custGeom>
            <a:avLst/>
            <a:gdLst/>
            <a:ahLst/>
            <a:cxnLst/>
            <a:rect l="l" t="t" r="r" b="b"/>
            <a:pathLst>
              <a:path w="6957908" h="7732452">
                <a:moveTo>
                  <a:pt x="0" y="0"/>
                </a:moveTo>
                <a:lnTo>
                  <a:pt x="6957908" y="0"/>
                </a:lnTo>
                <a:lnTo>
                  <a:pt x="6957908" y="7732452"/>
                </a:lnTo>
                <a:lnTo>
                  <a:pt x="0" y="7732452"/>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884163" y="3228447"/>
            <a:ext cx="4805267" cy="5139357"/>
            <a:chOff x="0" y="0"/>
            <a:chExt cx="6407023" cy="6852476"/>
          </a:xfrm>
        </p:grpSpPr>
        <p:sp>
          <p:nvSpPr>
            <p:cNvPr id="4" name="Freeform 4"/>
            <p:cNvSpPr/>
            <p:nvPr/>
          </p:nvSpPr>
          <p:spPr>
            <a:xfrm>
              <a:off x="0" y="0"/>
              <a:ext cx="6407023" cy="6852412"/>
            </a:xfrm>
            <a:custGeom>
              <a:avLst/>
              <a:gdLst/>
              <a:ahLst/>
              <a:cxnLst/>
              <a:rect l="l" t="t" r="r" b="b"/>
              <a:pathLst>
                <a:path w="6407023" h="6852412">
                  <a:moveTo>
                    <a:pt x="0" y="0"/>
                  </a:moveTo>
                  <a:lnTo>
                    <a:pt x="6407023" y="0"/>
                  </a:lnTo>
                  <a:lnTo>
                    <a:pt x="6407023" y="6852412"/>
                  </a:lnTo>
                  <a:lnTo>
                    <a:pt x="0" y="6852412"/>
                  </a:lnTo>
                  <a:lnTo>
                    <a:pt x="0" y="0"/>
                  </a:lnTo>
                  <a:close/>
                </a:path>
              </a:pathLst>
            </a:custGeom>
            <a:blipFill>
              <a:blip r:embed="rId3"/>
              <a:stretch>
                <a:fillRect r="-149475" b="-1"/>
              </a:stretch>
            </a:blipFill>
          </p:spPr>
        </p:sp>
      </p:grpSp>
      <p:grpSp>
        <p:nvGrpSpPr>
          <p:cNvPr id="5" name="Group 5"/>
          <p:cNvGrpSpPr/>
          <p:nvPr/>
        </p:nvGrpSpPr>
        <p:grpSpPr>
          <a:xfrm>
            <a:off x="496929" y="-790137"/>
            <a:ext cx="15544800" cy="3114675"/>
            <a:chOff x="0" y="0"/>
            <a:chExt cx="20726400" cy="4152900"/>
          </a:xfrm>
        </p:grpSpPr>
        <p:sp>
          <p:nvSpPr>
            <p:cNvPr id="6" name="Freeform 6"/>
            <p:cNvSpPr/>
            <p:nvPr/>
          </p:nvSpPr>
          <p:spPr>
            <a:xfrm>
              <a:off x="0" y="0"/>
              <a:ext cx="20726400" cy="4152900"/>
            </a:xfrm>
            <a:custGeom>
              <a:avLst/>
              <a:gdLst/>
              <a:ahLst/>
              <a:cxnLst/>
              <a:rect l="l" t="t" r="r" b="b"/>
              <a:pathLst>
                <a:path w="20726400" h="4152900">
                  <a:moveTo>
                    <a:pt x="0" y="0"/>
                  </a:moveTo>
                  <a:lnTo>
                    <a:pt x="20726400" y="0"/>
                  </a:lnTo>
                  <a:lnTo>
                    <a:pt x="20726400" y="4152900"/>
                  </a:lnTo>
                  <a:lnTo>
                    <a:pt x="0" y="4152900"/>
                  </a:lnTo>
                  <a:close/>
                </a:path>
              </a:pathLst>
            </a:custGeom>
            <a:blipFill>
              <a:blip r:embed="rId4">
                <a:alphaModFix amt="0"/>
              </a:blip>
              <a:stretch>
                <a:fillRect t="-47246" b="-47246"/>
              </a:stretch>
            </a:blipFill>
          </p:spPr>
        </p:sp>
        <p:sp>
          <p:nvSpPr>
            <p:cNvPr id="7" name="TextBox 7"/>
            <p:cNvSpPr txBox="1"/>
            <p:nvPr/>
          </p:nvSpPr>
          <p:spPr>
            <a:xfrm>
              <a:off x="0" y="-19050"/>
              <a:ext cx="20726400" cy="4171950"/>
            </a:xfrm>
            <a:prstGeom prst="rect">
              <a:avLst/>
            </a:prstGeom>
          </p:spPr>
          <p:txBody>
            <a:bodyPr lIns="0" tIns="0" rIns="0" bIns="0" rtlCol="0" anchor="ctr"/>
            <a:lstStyle/>
            <a:p>
              <a:pPr algn="ctr">
                <a:lnSpc>
                  <a:spcPts val="7200"/>
                </a:lnSpc>
              </a:pPr>
              <a:r>
                <a:rPr lang="en-US" sz="6000" b="1">
                  <a:solidFill>
                    <a:srgbClr val="1F497D"/>
                  </a:solidFill>
                  <a:latin typeface="Garamond Bold"/>
                  <a:ea typeface="Garamond Bold"/>
                  <a:cs typeface="Garamond Bold"/>
                  <a:sym typeface="Garamond Bold"/>
                </a:rPr>
                <a:t>SMART INDIA HACKATHON 2026</a:t>
              </a:r>
            </a:p>
          </p:txBody>
        </p:sp>
      </p:grpSp>
      <p:sp>
        <p:nvSpPr>
          <p:cNvPr id="8" name="TextBox 8"/>
          <p:cNvSpPr txBox="1"/>
          <p:nvPr/>
        </p:nvSpPr>
        <p:spPr>
          <a:xfrm>
            <a:off x="440055" y="1000125"/>
            <a:ext cx="9467680" cy="9203738"/>
          </a:xfrm>
          <a:prstGeom prst="rect">
            <a:avLst/>
          </a:prstGeom>
        </p:spPr>
        <p:txBody>
          <a:bodyPr lIns="0" tIns="0" rIns="0" bIns="0" rtlCol="0" anchor="t">
            <a:spAutoFit/>
          </a:bodyPr>
          <a:lstStyle/>
          <a:p>
            <a:pPr>
              <a:lnSpc>
                <a:spcPts val="4320"/>
              </a:lnSpc>
            </a:pPr>
            <a:endParaRPr dirty="0"/>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Problem Statement ID – </a:t>
            </a:r>
            <a:r>
              <a:rPr lang="en-US" sz="3600" dirty="0">
                <a:solidFill>
                  <a:srgbClr val="000000"/>
                </a:solidFill>
                <a:latin typeface="Arial"/>
                <a:ea typeface="Arial"/>
                <a:cs typeface="Arial"/>
                <a:sym typeface="Arial"/>
              </a:rPr>
              <a:t>SIH26045</a:t>
            </a: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Problem Statement Title- </a:t>
            </a:r>
            <a:r>
              <a:rPr lang="en-US" sz="3600" dirty="0">
                <a:solidFill>
                  <a:srgbClr val="000000"/>
                </a:solidFill>
                <a:latin typeface="Arial"/>
                <a:ea typeface="Arial"/>
                <a:cs typeface="Arial"/>
                <a:sym typeface="Arial"/>
              </a:rPr>
              <a:t>IP-SAKTI </a:t>
            </a:r>
            <a:r>
              <a:rPr lang="en-US" sz="3600" dirty="0" err="1">
                <a:solidFill>
                  <a:srgbClr val="000000"/>
                </a:solidFill>
                <a:latin typeface="Arial"/>
                <a:ea typeface="Arial"/>
                <a:cs typeface="Arial"/>
                <a:sym typeface="Arial"/>
              </a:rPr>
              <a:t>sahayak</a:t>
            </a:r>
            <a:r>
              <a:rPr lang="en-US" sz="3600" dirty="0">
                <a:solidFill>
                  <a:srgbClr val="000000"/>
                </a:solidFill>
                <a:latin typeface="Arial"/>
                <a:ea typeface="Arial"/>
                <a:cs typeface="Arial"/>
                <a:sym typeface="Arial"/>
              </a:rPr>
              <a:t> a multilingual , RAG-Based (source cited) AI assistant</a:t>
            </a: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Theme- </a:t>
            </a:r>
            <a:r>
              <a:rPr lang="en-US" sz="3600" dirty="0">
                <a:solidFill>
                  <a:srgbClr val="000000"/>
                </a:solidFill>
                <a:latin typeface="Arial"/>
                <a:ea typeface="Arial"/>
                <a:cs typeface="Arial"/>
                <a:sym typeface="Arial"/>
              </a:rPr>
              <a:t>MedTech/ </a:t>
            </a:r>
            <a:r>
              <a:rPr lang="en-US" sz="3600" dirty="0" err="1">
                <a:solidFill>
                  <a:srgbClr val="000000"/>
                </a:solidFill>
                <a:latin typeface="Arial"/>
                <a:ea typeface="Arial"/>
                <a:cs typeface="Arial"/>
                <a:sym typeface="Arial"/>
              </a:rPr>
              <a:t>BioTech</a:t>
            </a:r>
            <a:r>
              <a:rPr lang="en-US" sz="3600" dirty="0">
                <a:solidFill>
                  <a:srgbClr val="000000"/>
                </a:solidFill>
                <a:latin typeface="Arial"/>
                <a:ea typeface="Arial"/>
                <a:cs typeface="Arial"/>
                <a:sym typeface="Arial"/>
              </a:rPr>
              <a:t>/ HealthTech</a:t>
            </a: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PS Category- Software</a:t>
            </a: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Team ID-</a:t>
            </a:r>
          </a:p>
          <a:p>
            <a:pPr marL="651510" lvl="1" indent="-325755">
              <a:lnSpc>
                <a:spcPts val="8640"/>
              </a:lnSpc>
              <a:buFont typeface="Arial"/>
              <a:buChar char="•"/>
            </a:pPr>
            <a:r>
              <a:rPr lang="en-US" sz="3600" b="1" dirty="0">
                <a:solidFill>
                  <a:srgbClr val="000000"/>
                </a:solidFill>
                <a:latin typeface="Arial Bold"/>
                <a:ea typeface="Arial Bold"/>
                <a:cs typeface="Arial Bold"/>
                <a:sym typeface="Arial Bold"/>
              </a:rPr>
              <a:t>Team Name:</a:t>
            </a:r>
            <a:r>
              <a:rPr lang="en-US" sz="3600" dirty="0">
                <a:solidFill>
                  <a:srgbClr val="000000"/>
                </a:solidFill>
                <a:latin typeface="Arial"/>
                <a:ea typeface="Arial"/>
                <a:cs typeface="Arial"/>
                <a:sym typeface="Arial"/>
              </a:rPr>
              <a:t> Hallucinators</a:t>
            </a:r>
          </a:p>
        </p:txBody>
      </p:sp>
      <p:grpSp>
        <p:nvGrpSpPr>
          <p:cNvPr id="9" name="Group 9"/>
          <p:cNvGrpSpPr/>
          <p:nvPr/>
        </p:nvGrpSpPr>
        <p:grpSpPr>
          <a:xfrm>
            <a:off x="14670129" y="2248"/>
            <a:ext cx="3374774" cy="1593504"/>
            <a:chOff x="0" y="0"/>
            <a:chExt cx="4499699" cy="2124672"/>
          </a:xfrm>
        </p:grpSpPr>
        <p:sp>
          <p:nvSpPr>
            <p:cNvPr id="10" name="Freeform 10"/>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5"/>
              <a:stretch>
                <a:fillRect b="1"/>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13119"/>
            <a:ext cx="18288000" cy="573881"/>
            <a:chOff x="0" y="0"/>
            <a:chExt cx="18288000" cy="573875"/>
          </a:xfrm>
        </p:grpSpPr>
        <p:sp>
          <p:nvSpPr>
            <p:cNvPr id="3" name="Freeform 3"/>
            <p:cNvSpPr/>
            <p:nvPr/>
          </p:nvSpPr>
          <p:spPr>
            <a:xfrm>
              <a:off x="0" y="0"/>
              <a:ext cx="18288000" cy="573909"/>
            </a:xfrm>
            <a:custGeom>
              <a:avLst/>
              <a:gdLst/>
              <a:ahLst/>
              <a:cxnLst/>
              <a:rect l="l" t="t" r="r" b="b"/>
              <a:pathLst>
                <a:path w="18288000" h="573909">
                  <a:moveTo>
                    <a:pt x="0" y="0"/>
                  </a:moveTo>
                  <a:lnTo>
                    <a:pt x="0" y="573909"/>
                  </a:lnTo>
                  <a:lnTo>
                    <a:pt x="18288000" y="573909"/>
                  </a:lnTo>
                  <a:lnTo>
                    <a:pt x="18288000" y="0"/>
                  </a:lnTo>
                  <a:close/>
                </a:path>
              </a:pathLst>
            </a:custGeom>
            <a:solidFill>
              <a:srgbClr val="3D2500"/>
            </a:solidFill>
          </p:spPr>
        </p:sp>
      </p:grpSp>
      <p:grpSp>
        <p:nvGrpSpPr>
          <p:cNvPr id="4" name="Group 4"/>
          <p:cNvGrpSpPr/>
          <p:nvPr/>
        </p:nvGrpSpPr>
        <p:grpSpPr>
          <a:xfrm>
            <a:off x="1289304" y="1463040"/>
            <a:ext cx="6513576" cy="664464"/>
            <a:chOff x="0" y="0"/>
            <a:chExt cx="8684768" cy="885952"/>
          </a:xfrm>
        </p:grpSpPr>
        <p:sp>
          <p:nvSpPr>
            <p:cNvPr id="5" name="Freeform 5"/>
            <p:cNvSpPr/>
            <p:nvPr/>
          </p:nvSpPr>
          <p:spPr>
            <a:xfrm>
              <a:off x="0" y="0"/>
              <a:ext cx="8684768" cy="885952"/>
            </a:xfrm>
            <a:custGeom>
              <a:avLst/>
              <a:gdLst/>
              <a:ahLst/>
              <a:cxnLst/>
              <a:rect l="l" t="t" r="r" b="b"/>
              <a:pathLst>
                <a:path w="8684768" h="885952">
                  <a:moveTo>
                    <a:pt x="0" y="0"/>
                  </a:moveTo>
                  <a:lnTo>
                    <a:pt x="8684768" y="0"/>
                  </a:lnTo>
                  <a:lnTo>
                    <a:pt x="8684768" y="885952"/>
                  </a:lnTo>
                  <a:lnTo>
                    <a:pt x="0" y="885952"/>
                  </a:lnTo>
                  <a:lnTo>
                    <a:pt x="0" y="0"/>
                  </a:lnTo>
                  <a:close/>
                </a:path>
              </a:pathLst>
            </a:custGeom>
            <a:blipFill>
              <a:blip r:embed="rId2"/>
              <a:stretch>
                <a:fillRect/>
              </a:stretch>
            </a:blipFill>
          </p:spPr>
        </p:sp>
      </p:grpSp>
      <p:grpSp>
        <p:nvGrpSpPr>
          <p:cNvPr id="6" name="Group 6"/>
          <p:cNvGrpSpPr/>
          <p:nvPr/>
        </p:nvGrpSpPr>
        <p:grpSpPr>
          <a:xfrm>
            <a:off x="621218" y="1431039"/>
            <a:ext cx="7968563" cy="734505"/>
            <a:chOff x="0" y="0"/>
            <a:chExt cx="2098716" cy="193450"/>
          </a:xfrm>
        </p:grpSpPr>
        <p:sp>
          <p:nvSpPr>
            <p:cNvPr id="7" name="Freeform 7"/>
            <p:cNvSpPr/>
            <p:nvPr/>
          </p:nvSpPr>
          <p:spPr>
            <a:xfrm>
              <a:off x="0" y="0"/>
              <a:ext cx="2098716" cy="193450"/>
            </a:xfrm>
            <a:custGeom>
              <a:avLst/>
              <a:gdLst/>
              <a:ahLst/>
              <a:cxnLst/>
              <a:rect l="l" t="t" r="r" b="b"/>
              <a:pathLst>
                <a:path w="2098716" h="193450">
                  <a:moveTo>
                    <a:pt x="49549" y="0"/>
                  </a:moveTo>
                  <a:lnTo>
                    <a:pt x="2049167" y="0"/>
                  </a:lnTo>
                  <a:cubicBezTo>
                    <a:pt x="2076532" y="0"/>
                    <a:pt x="2098716" y="22184"/>
                    <a:pt x="2098716" y="49549"/>
                  </a:cubicBezTo>
                  <a:lnTo>
                    <a:pt x="2098716" y="143900"/>
                  </a:lnTo>
                  <a:cubicBezTo>
                    <a:pt x="2098716" y="157042"/>
                    <a:pt x="2093496" y="169645"/>
                    <a:pt x="2084204" y="178937"/>
                  </a:cubicBezTo>
                  <a:cubicBezTo>
                    <a:pt x="2074911" y="188230"/>
                    <a:pt x="2062308" y="193450"/>
                    <a:pt x="2049167" y="193450"/>
                  </a:cubicBezTo>
                  <a:lnTo>
                    <a:pt x="49549" y="193450"/>
                  </a:lnTo>
                  <a:cubicBezTo>
                    <a:pt x="22184" y="193450"/>
                    <a:pt x="0" y="171266"/>
                    <a:pt x="0" y="143900"/>
                  </a:cubicBezTo>
                  <a:lnTo>
                    <a:pt x="0" y="49549"/>
                  </a:lnTo>
                  <a:cubicBezTo>
                    <a:pt x="0" y="36408"/>
                    <a:pt x="5220" y="23805"/>
                    <a:pt x="14513" y="14513"/>
                  </a:cubicBezTo>
                  <a:cubicBezTo>
                    <a:pt x="23805" y="5220"/>
                    <a:pt x="36408" y="0"/>
                    <a:pt x="49549" y="0"/>
                  </a:cubicBezTo>
                  <a:close/>
                </a:path>
              </a:pathLst>
            </a:custGeom>
            <a:solidFill>
              <a:srgbClr val="3D1700"/>
            </a:solidFill>
          </p:spPr>
        </p:sp>
        <p:sp>
          <p:nvSpPr>
            <p:cNvPr id="8" name="TextBox 8"/>
            <p:cNvSpPr txBox="1"/>
            <p:nvPr/>
          </p:nvSpPr>
          <p:spPr>
            <a:xfrm>
              <a:off x="0" y="-47625"/>
              <a:ext cx="2098716" cy="241075"/>
            </a:xfrm>
            <a:prstGeom prst="rect">
              <a:avLst/>
            </a:prstGeom>
          </p:spPr>
          <p:txBody>
            <a:bodyPr lIns="50800" tIns="50800" rIns="50800" bIns="50800" rtlCol="0" anchor="ctr"/>
            <a:lstStyle/>
            <a:p>
              <a:pPr algn="ctr">
                <a:lnSpc>
                  <a:spcPts val="3131"/>
                </a:lnSpc>
              </a:pPr>
              <a:endParaRPr/>
            </a:p>
          </p:txBody>
        </p:sp>
      </p:grpSp>
      <p:grpSp>
        <p:nvGrpSpPr>
          <p:cNvPr id="9" name="Group 9"/>
          <p:cNvGrpSpPr/>
          <p:nvPr/>
        </p:nvGrpSpPr>
        <p:grpSpPr>
          <a:xfrm>
            <a:off x="75513" y="2317944"/>
            <a:ext cx="8883550" cy="6230969"/>
            <a:chOff x="0" y="0"/>
            <a:chExt cx="2339700" cy="1641078"/>
          </a:xfrm>
        </p:grpSpPr>
        <p:sp>
          <p:nvSpPr>
            <p:cNvPr id="10" name="Freeform 10"/>
            <p:cNvSpPr/>
            <p:nvPr/>
          </p:nvSpPr>
          <p:spPr>
            <a:xfrm>
              <a:off x="0" y="0"/>
              <a:ext cx="2339700" cy="1641078"/>
            </a:xfrm>
            <a:custGeom>
              <a:avLst/>
              <a:gdLst/>
              <a:ahLst/>
              <a:cxnLst/>
              <a:rect l="l" t="t" r="r" b="b"/>
              <a:pathLst>
                <a:path w="2339700" h="1641078">
                  <a:moveTo>
                    <a:pt x="44446" y="0"/>
                  </a:moveTo>
                  <a:lnTo>
                    <a:pt x="2295254" y="0"/>
                  </a:lnTo>
                  <a:cubicBezTo>
                    <a:pt x="2307042" y="0"/>
                    <a:pt x="2318347" y="4683"/>
                    <a:pt x="2326682" y="13018"/>
                  </a:cubicBezTo>
                  <a:cubicBezTo>
                    <a:pt x="2335018" y="21353"/>
                    <a:pt x="2339700" y="32658"/>
                    <a:pt x="2339700" y="44446"/>
                  </a:cubicBezTo>
                  <a:lnTo>
                    <a:pt x="2339700" y="1596632"/>
                  </a:lnTo>
                  <a:cubicBezTo>
                    <a:pt x="2339700" y="1621179"/>
                    <a:pt x="2319801" y="1641078"/>
                    <a:pt x="2295254" y="1641078"/>
                  </a:cubicBezTo>
                  <a:lnTo>
                    <a:pt x="44446" y="1641078"/>
                  </a:lnTo>
                  <a:cubicBezTo>
                    <a:pt x="19899" y="1641078"/>
                    <a:pt x="0" y="1621179"/>
                    <a:pt x="0" y="1596632"/>
                  </a:cubicBezTo>
                  <a:lnTo>
                    <a:pt x="0" y="44446"/>
                  </a:lnTo>
                  <a:cubicBezTo>
                    <a:pt x="0" y="19899"/>
                    <a:pt x="19899" y="0"/>
                    <a:pt x="44446" y="0"/>
                  </a:cubicBezTo>
                  <a:close/>
                </a:path>
              </a:pathLst>
            </a:custGeom>
            <a:solidFill>
              <a:srgbClr val="E4FFC2"/>
            </a:solidFill>
          </p:spPr>
        </p:sp>
        <p:sp>
          <p:nvSpPr>
            <p:cNvPr id="11" name="TextBox 11"/>
            <p:cNvSpPr txBox="1"/>
            <p:nvPr/>
          </p:nvSpPr>
          <p:spPr>
            <a:xfrm>
              <a:off x="0" y="-47625"/>
              <a:ext cx="2339700" cy="1688703"/>
            </a:xfrm>
            <a:prstGeom prst="rect">
              <a:avLst/>
            </a:prstGeom>
          </p:spPr>
          <p:txBody>
            <a:bodyPr lIns="50800" tIns="50800" rIns="50800" bIns="50800" rtlCol="0" anchor="ctr"/>
            <a:lstStyle/>
            <a:p>
              <a:pPr algn="ctr">
                <a:lnSpc>
                  <a:spcPts val="3131"/>
                </a:lnSpc>
              </a:pPr>
              <a:endParaRPr/>
            </a:p>
          </p:txBody>
        </p:sp>
      </p:grpSp>
      <p:grpSp>
        <p:nvGrpSpPr>
          <p:cNvPr id="12" name="Group 12"/>
          <p:cNvGrpSpPr/>
          <p:nvPr/>
        </p:nvGrpSpPr>
        <p:grpSpPr>
          <a:xfrm>
            <a:off x="15331964" y="2248"/>
            <a:ext cx="2712939" cy="1280998"/>
            <a:chOff x="0" y="0"/>
            <a:chExt cx="4499699" cy="2124672"/>
          </a:xfrm>
        </p:grpSpPr>
        <p:sp>
          <p:nvSpPr>
            <p:cNvPr id="13" name="Freeform 13"/>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3"/>
              <a:stretch>
                <a:fillRect b="1"/>
              </a:stretch>
            </a:blipFill>
          </p:spPr>
        </p:sp>
      </p:grpSp>
      <p:grpSp>
        <p:nvGrpSpPr>
          <p:cNvPr id="14" name="Group 14"/>
          <p:cNvGrpSpPr/>
          <p:nvPr/>
        </p:nvGrpSpPr>
        <p:grpSpPr>
          <a:xfrm>
            <a:off x="6375596" y="127439"/>
            <a:ext cx="5733003" cy="655782"/>
            <a:chOff x="0" y="0"/>
            <a:chExt cx="1509927" cy="172716"/>
          </a:xfrm>
        </p:grpSpPr>
        <p:sp>
          <p:nvSpPr>
            <p:cNvPr id="15" name="Freeform 15"/>
            <p:cNvSpPr/>
            <p:nvPr/>
          </p:nvSpPr>
          <p:spPr>
            <a:xfrm>
              <a:off x="0" y="0"/>
              <a:ext cx="1509927" cy="172716"/>
            </a:xfrm>
            <a:custGeom>
              <a:avLst/>
              <a:gdLst/>
              <a:ahLst/>
              <a:cxnLst/>
              <a:rect l="l" t="t" r="r" b="b"/>
              <a:pathLst>
                <a:path w="1509927" h="172716">
                  <a:moveTo>
                    <a:pt x="68871" y="0"/>
                  </a:moveTo>
                  <a:lnTo>
                    <a:pt x="1441056" y="0"/>
                  </a:lnTo>
                  <a:cubicBezTo>
                    <a:pt x="1479092" y="0"/>
                    <a:pt x="1509927" y="30835"/>
                    <a:pt x="1509927" y="68871"/>
                  </a:cubicBezTo>
                  <a:lnTo>
                    <a:pt x="1509927" y="103845"/>
                  </a:lnTo>
                  <a:cubicBezTo>
                    <a:pt x="1509927" y="122111"/>
                    <a:pt x="1502671" y="139629"/>
                    <a:pt x="1489755" y="152544"/>
                  </a:cubicBezTo>
                  <a:cubicBezTo>
                    <a:pt x="1476839" y="165460"/>
                    <a:pt x="1459321" y="172716"/>
                    <a:pt x="1441056" y="172716"/>
                  </a:cubicBezTo>
                  <a:lnTo>
                    <a:pt x="68871" y="172716"/>
                  </a:lnTo>
                  <a:cubicBezTo>
                    <a:pt x="30835" y="172716"/>
                    <a:pt x="0" y="141882"/>
                    <a:pt x="0" y="103845"/>
                  </a:cubicBezTo>
                  <a:lnTo>
                    <a:pt x="0" y="68871"/>
                  </a:lnTo>
                  <a:cubicBezTo>
                    <a:pt x="0" y="30835"/>
                    <a:pt x="30835" y="0"/>
                    <a:pt x="68871" y="0"/>
                  </a:cubicBezTo>
                  <a:close/>
                </a:path>
              </a:pathLst>
            </a:custGeom>
            <a:solidFill>
              <a:srgbClr val="C2F6FF"/>
            </a:solidFill>
          </p:spPr>
        </p:sp>
        <p:sp>
          <p:nvSpPr>
            <p:cNvPr id="16" name="TextBox 16"/>
            <p:cNvSpPr txBox="1"/>
            <p:nvPr/>
          </p:nvSpPr>
          <p:spPr>
            <a:xfrm>
              <a:off x="0" y="-66675"/>
              <a:ext cx="1509927" cy="239391"/>
            </a:xfrm>
            <a:prstGeom prst="rect">
              <a:avLst/>
            </a:prstGeom>
          </p:spPr>
          <p:txBody>
            <a:bodyPr lIns="50800" tIns="50800" rIns="50800" bIns="50800" rtlCol="0" anchor="ctr"/>
            <a:lstStyle/>
            <a:p>
              <a:pPr algn="ctr">
                <a:lnSpc>
                  <a:spcPts val="4251"/>
                </a:lnSpc>
              </a:pPr>
              <a:r>
                <a:rPr lang="en-US" sz="3036" b="1" spc="69">
                  <a:solidFill>
                    <a:srgbClr val="000000"/>
                  </a:solidFill>
                  <a:latin typeface="Caladea Bold"/>
                  <a:ea typeface="Caladea Bold"/>
                  <a:cs typeface="Caladea Bold"/>
                  <a:sym typeface="Caladea Bold"/>
                </a:rPr>
                <a:t>IP SAKTI SAHAYAK</a:t>
              </a:r>
            </a:p>
          </p:txBody>
        </p:sp>
      </p:grpSp>
      <p:sp>
        <p:nvSpPr>
          <p:cNvPr id="17" name="Freeform 17"/>
          <p:cNvSpPr/>
          <p:nvPr/>
        </p:nvSpPr>
        <p:spPr>
          <a:xfrm>
            <a:off x="581480" y="97150"/>
            <a:ext cx="562668" cy="716360"/>
          </a:xfrm>
          <a:custGeom>
            <a:avLst/>
            <a:gdLst/>
            <a:ahLst/>
            <a:cxnLst/>
            <a:rect l="l" t="t" r="r" b="b"/>
            <a:pathLst>
              <a:path w="562668" h="716360">
                <a:moveTo>
                  <a:pt x="0" y="0"/>
                </a:moveTo>
                <a:lnTo>
                  <a:pt x="562668" y="0"/>
                </a:lnTo>
                <a:lnTo>
                  <a:pt x="562668" y="716361"/>
                </a:lnTo>
                <a:lnTo>
                  <a:pt x="0" y="716361"/>
                </a:lnTo>
                <a:lnTo>
                  <a:pt x="0" y="0"/>
                </a:lnTo>
                <a:close/>
              </a:path>
            </a:pathLst>
          </a:custGeom>
          <a:blipFill>
            <a:blip r:embed="rId4"/>
            <a:stretch>
              <a:fillRect t="-837" r="-164092"/>
            </a:stretch>
          </a:blipFill>
        </p:spPr>
      </p:sp>
      <p:sp>
        <p:nvSpPr>
          <p:cNvPr id="18" name="Freeform 18"/>
          <p:cNvSpPr/>
          <p:nvPr/>
        </p:nvSpPr>
        <p:spPr>
          <a:xfrm>
            <a:off x="9312926" y="2469749"/>
            <a:ext cx="8724773" cy="5328451"/>
          </a:xfrm>
          <a:custGeom>
            <a:avLst/>
            <a:gdLst/>
            <a:ahLst/>
            <a:cxnLst/>
            <a:rect l="l" t="t" r="r" b="b"/>
            <a:pathLst>
              <a:path w="8724773" h="5328451">
                <a:moveTo>
                  <a:pt x="0" y="0"/>
                </a:moveTo>
                <a:lnTo>
                  <a:pt x="8724773" y="0"/>
                </a:lnTo>
                <a:lnTo>
                  <a:pt x="8724773" y="5328452"/>
                </a:lnTo>
                <a:lnTo>
                  <a:pt x="0" y="5328452"/>
                </a:lnTo>
                <a:lnTo>
                  <a:pt x="0" y="0"/>
                </a:lnTo>
                <a:close/>
              </a:path>
            </a:pathLst>
          </a:custGeom>
          <a:blipFill>
            <a:blip r:embed="rId5"/>
            <a:stretch>
              <a:fillRect/>
            </a:stretch>
          </a:blipFill>
        </p:spPr>
      </p:sp>
      <p:sp>
        <p:nvSpPr>
          <p:cNvPr id="19" name="Freeform 19"/>
          <p:cNvSpPr/>
          <p:nvPr/>
        </p:nvSpPr>
        <p:spPr>
          <a:xfrm>
            <a:off x="11407522" y="3663365"/>
            <a:ext cx="408347" cy="392013"/>
          </a:xfrm>
          <a:custGeom>
            <a:avLst/>
            <a:gdLst/>
            <a:ahLst/>
            <a:cxnLst/>
            <a:rect l="l" t="t" r="r" b="b"/>
            <a:pathLst>
              <a:path w="408347" h="392013">
                <a:moveTo>
                  <a:pt x="0" y="0"/>
                </a:moveTo>
                <a:lnTo>
                  <a:pt x="408347" y="0"/>
                </a:lnTo>
                <a:lnTo>
                  <a:pt x="408347" y="392013"/>
                </a:lnTo>
                <a:lnTo>
                  <a:pt x="0" y="39201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0" name="Freeform 20"/>
          <p:cNvSpPr/>
          <p:nvPr/>
        </p:nvSpPr>
        <p:spPr>
          <a:xfrm>
            <a:off x="10599027" y="7385943"/>
            <a:ext cx="345762" cy="335390"/>
          </a:xfrm>
          <a:custGeom>
            <a:avLst/>
            <a:gdLst/>
            <a:ahLst/>
            <a:cxnLst/>
            <a:rect l="l" t="t" r="r" b="b"/>
            <a:pathLst>
              <a:path w="345762" h="335390">
                <a:moveTo>
                  <a:pt x="0" y="0"/>
                </a:moveTo>
                <a:lnTo>
                  <a:pt x="345762" y="0"/>
                </a:lnTo>
                <a:lnTo>
                  <a:pt x="345762" y="335389"/>
                </a:lnTo>
                <a:lnTo>
                  <a:pt x="0" y="33538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1" name="Freeform 21"/>
          <p:cNvSpPr/>
          <p:nvPr/>
        </p:nvSpPr>
        <p:spPr>
          <a:xfrm>
            <a:off x="12727522" y="7385943"/>
            <a:ext cx="222851" cy="280315"/>
          </a:xfrm>
          <a:custGeom>
            <a:avLst/>
            <a:gdLst/>
            <a:ahLst/>
            <a:cxnLst/>
            <a:rect l="l" t="t" r="r" b="b"/>
            <a:pathLst>
              <a:path w="222851" h="280315">
                <a:moveTo>
                  <a:pt x="0" y="0"/>
                </a:moveTo>
                <a:lnTo>
                  <a:pt x="222850" y="0"/>
                </a:lnTo>
                <a:lnTo>
                  <a:pt x="222850" y="280315"/>
                </a:lnTo>
                <a:lnTo>
                  <a:pt x="0" y="280315"/>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2" name="Freeform 22"/>
          <p:cNvSpPr/>
          <p:nvPr/>
        </p:nvSpPr>
        <p:spPr>
          <a:xfrm>
            <a:off x="12743644" y="6446211"/>
            <a:ext cx="206728" cy="293231"/>
          </a:xfrm>
          <a:custGeom>
            <a:avLst/>
            <a:gdLst/>
            <a:ahLst/>
            <a:cxnLst/>
            <a:rect l="l" t="t" r="r" b="b"/>
            <a:pathLst>
              <a:path w="206728" h="293231">
                <a:moveTo>
                  <a:pt x="0" y="0"/>
                </a:moveTo>
                <a:lnTo>
                  <a:pt x="206728" y="0"/>
                </a:lnTo>
                <a:lnTo>
                  <a:pt x="206728" y="293231"/>
                </a:lnTo>
                <a:lnTo>
                  <a:pt x="0" y="293231"/>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3" name="Freeform 23"/>
          <p:cNvSpPr/>
          <p:nvPr/>
        </p:nvSpPr>
        <p:spPr>
          <a:xfrm>
            <a:off x="16386785" y="5505244"/>
            <a:ext cx="301648" cy="427869"/>
          </a:xfrm>
          <a:custGeom>
            <a:avLst/>
            <a:gdLst/>
            <a:ahLst/>
            <a:cxnLst/>
            <a:rect l="l" t="t" r="r" b="b"/>
            <a:pathLst>
              <a:path w="301648" h="427869">
                <a:moveTo>
                  <a:pt x="0" y="0"/>
                </a:moveTo>
                <a:lnTo>
                  <a:pt x="301648" y="0"/>
                </a:lnTo>
                <a:lnTo>
                  <a:pt x="301648" y="427869"/>
                </a:lnTo>
                <a:lnTo>
                  <a:pt x="0" y="427869"/>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4" name="Freeform 24"/>
          <p:cNvSpPr/>
          <p:nvPr/>
        </p:nvSpPr>
        <p:spPr>
          <a:xfrm>
            <a:off x="14509784" y="5077040"/>
            <a:ext cx="379137" cy="356388"/>
          </a:xfrm>
          <a:custGeom>
            <a:avLst/>
            <a:gdLst/>
            <a:ahLst/>
            <a:cxnLst/>
            <a:rect l="l" t="t" r="r" b="b"/>
            <a:pathLst>
              <a:path w="379137" h="356388">
                <a:moveTo>
                  <a:pt x="0" y="0"/>
                </a:moveTo>
                <a:lnTo>
                  <a:pt x="379137" y="0"/>
                </a:lnTo>
                <a:lnTo>
                  <a:pt x="379137" y="356389"/>
                </a:lnTo>
                <a:lnTo>
                  <a:pt x="0" y="356389"/>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5" name="Freeform 25"/>
          <p:cNvSpPr/>
          <p:nvPr/>
        </p:nvSpPr>
        <p:spPr>
          <a:xfrm>
            <a:off x="14369918" y="6446211"/>
            <a:ext cx="279734" cy="279734"/>
          </a:xfrm>
          <a:custGeom>
            <a:avLst/>
            <a:gdLst/>
            <a:ahLst/>
            <a:cxnLst/>
            <a:rect l="l" t="t" r="r" b="b"/>
            <a:pathLst>
              <a:path w="279734" h="279734">
                <a:moveTo>
                  <a:pt x="0" y="0"/>
                </a:moveTo>
                <a:lnTo>
                  <a:pt x="279733" y="0"/>
                </a:lnTo>
                <a:lnTo>
                  <a:pt x="279733" y="279734"/>
                </a:lnTo>
                <a:lnTo>
                  <a:pt x="0" y="279734"/>
                </a:lnTo>
                <a:lnTo>
                  <a:pt x="0" y="0"/>
                </a:lnTo>
                <a:close/>
              </a:path>
            </a:pathLst>
          </a:custGeom>
          <a:blipFill>
            <a:blip>
              <a:extLst>
                <a:ext uri="{96DAC541-7B7A-43D3-8B79-37D633B846F1}">
                  <asvg:svgBlip xmlns:asvg="http://schemas.microsoft.com/office/drawing/2016/SVG/main" r:embed="rId12"/>
                </a:ext>
              </a:extLst>
            </a:blip>
            <a:stretch>
              <a:fillRect/>
            </a:stretch>
          </a:blipFill>
        </p:spPr>
      </p:sp>
      <p:grpSp>
        <p:nvGrpSpPr>
          <p:cNvPr id="26" name="Group 26"/>
          <p:cNvGrpSpPr/>
          <p:nvPr/>
        </p:nvGrpSpPr>
        <p:grpSpPr>
          <a:xfrm>
            <a:off x="10944789" y="1602588"/>
            <a:ext cx="5441996" cy="613844"/>
            <a:chOff x="0" y="0"/>
            <a:chExt cx="1433283" cy="161671"/>
          </a:xfrm>
        </p:grpSpPr>
        <p:sp>
          <p:nvSpPr>
            <p:cNvPr id="27" name="Freeform 27"/>
            <p:cNvSpPr/>
            <p:nvPr/>
          </p:nvSpPr>
          <p:spPr>
            <a:xfrm>
              <a:off x="0" y="0"/>
              <a:ext cx="1433283" cy="161671"/>
            </a:xfrm>
            <a:custGeom>
              <a:avLst/>
              <a:gdLst/>
              <a:ahLst/>
              <a:cxnLst/>
              <a:rect l="l" t="t" r="r" b="b"/>
              <a:pathLst>
                <a:path w="1433283" h="161671">
                  <a:moveTo>
                    <a:pt x="72554" y="0"/>
                  </a:moveTo>
                  <a:lnTo>
                    <a:pt x="1360729" y="0"/>
                  </a:lnTo>
                  <a:cubicBezTo>
                    <a:pt x="1400799" y="0"/>
                    <a:pt x="1433283" y="32483"/>
                    <a:pt x="1433283" y="72554"/>
                  </a:cubicBezTo>
                  <a:lnTo>
                    <a:pt x="1433283" y="89117"/>
                  </a:lnTo>
                  <a:cubicBezTo>
                    <a:pt x="1433283" y="108359"/>
                    <a:pt x="1425639" y="126814"/>
                    <a:pt x="1412032" y="140420"/>
                  </a:cubicBezTo>
                  <a:cubicBezTo>
                    <a:pt x="1398426" y="154027"/>
                    <a:pt x="1379972" y="161671"/>
                    <a:pt x="1360729" y="161671"/>
                  </a:cubicBezTo>
                  <a:lnTo>
                    <a:pt x="72554" y="161671"/>
                  </a:lnTo>
                  <a:cubicBezTo>
                    <a:pt x="53311" y="161671"/>
                    <a:pt x="34857" y="154027"/>
                    <a:pt x="21251" y="140420"/>
                  </a:cubicBezTo>
                  <a:cubicBezTo>
                    <a:pt x="7644" y="126814"/>
                    <a:pt x="0" y="108359"/>
                    <a:pt x="0" y="89117"/>
                  </a:cubicBezTo>
                  <a:lnTo>
                    <a:pt x="0" y="72554"/>
                  </a:lnTo>
                  <a:cubicBezTo>
                    <a:pt x="0" y="53311"/>
                    <a:pt x="7644" y="34857"/>
                    <a:pt x="21251" y="21251"/>
                  </a:cubicBezTo>
                  <a:cubicBezTo>
                    <a:pt x="34857" y="7644"/>
                    <a:pt x="53311" y="0"/>
                    <a:pt x="72554" y="0"/>
                  </a:cubicBezTo>
                  <a:close/>
                </a:path>
              </a:pathLst>
            </a:custGeom>
            <a:solidFill>
              <a:srgbClr val="FFE66C"/>
            </a:solidFill>
          </p:spPr>
        </p:sp>
        <p:sp>
          <p:nvSpPr>
            <p:cNvPr id="28" name="TextBox 28"/>
            <p:cNvSpPr txBox="1"/>
            <p:nvPr/>
          </p:nvSpPr>
          <p:spPr>
            <a:xfrm>
              <a:off x="0" y="-47625"/>
              <a:ext cx="1433283" cy="209296"/>
            </a:xfrm>
            <a:prstGeom prst="rect">
              <a:avLst/>
            </a:prstGeom>
          </p:spPr>
          <p:txBody>
            <a:bodyPr lIns="50800" tIns="50800" rIns="50800" bIns="50800" rtlCol="0" anchor="ctr"/>
            <a:lstStyle/>
            <a:p>
              <a:pPr algn="ctr">
                <a:lnSpc>
                  <a:spcPts val="3131"/>
                </a:lnSpc>
              </a:pPr>
              <a:endParaRPr/>
            </a:p>
          </p:txBody>
        </p:sp>
      </p:grpSp>
      <p:sp>
        <p:nvSpPr>
          <p:cNvPr id="29" name="TextBox 29"/>
          <p:cNvSpPr txBox="1"/>
          <p:nvPr/>
        </p:nvSpPr>
        <p:spPr>
          <a:xfrm>
            <a:off x="17119664" y="9838887"/>
            <a:ext cx="136408" cy="318135"/>
          </a:xfrm>
          <a:prstGeom prst="rect">
            <a:avLst/>
          </a:prstGeom>
        </p:spPr>
        <p:txBody>
          <a:bodyPr lIns="0" tIns="0" rIns="0" bIns="0" rtlCol="0" anchor="t">
            <a:spAutoFit/>
          </a:bodyPr>
          <a:lstStyle/>
          <a:p>
            <a:pPr algn="l">
              <a:lnSpc>
                <a:spcPts val="2520"/>
              </a:lnSpc>
            </a:pPr>
            <a:r>
              <a:rPr lang="en-US" sz="1800">
                <a:solidFill>
                  <a:srgbClr val="FFFFFF"/>
                </a:solidFill>
                <a:latin typeface="Calistoga"/>
                <a:ea typeface="Calistoga"/>
                <a:cs typeface="Calistoga"/>
                <a:sym typeface="Calistoga"/>
              </a:rPr>
              <a:t>2</a:t>
            </a:r>
          </a:p>
        </p:txBody>
      </p:sp>
      <p:sp>
        <p:nvSpPr>
          <p:cNvPr id="30" name="TextBox 30"/>
          <p:cNvSpPr txBox="1"/>
          <p:nvPr/>
        </p:nvSpPr>
        <p:spPr>
          <a:xfrm>
            <a:off x="4369345" y="707022"/>
            <a:ext cx="10317510" cy="573405"/>
          </a:xfrm>
          <a:prstGeom prst="rect">
            <a:avLst/>
          </a:prstGeom>
        </p:spPr>
        <p:txBody>
          <a:bodyPr lIns="0" tIns="0" rIns="0" bIns="0" rtlCol="0" anchor="t">
            <a:spAutoFit/>
          </a:bodyPr>
          <a:lstStyle/>
          <a:p>
            <a:pPr algn="l">
              <a:lnSpc>
                <a:spcPts val="4620"/>
              </a:lnSpc>
            </a:pPr>
            <a:r>
              <a:rPr lang="en-US" sz="3300" i="1">
                <a:solidFill>
                  <a:srgbClr val="000000"/>
                </a:solidFill>
                <a:latin typeface="Cambria Italics"/>
                <a:ea typeface="Cambria Italics"/>
                <a:cs typeface="Cambria Italics"/>
                <a:sym typeface="Cambria Italics"/>
              </a:rPr>
              <a:t>Where Traditional Knowledge Meets Its Rightful Protection</a:t>
            </a:r>
          </a:p>
        </p:txBody>
      </p:sp>
      <p:sp>
        <p:nvSpPr>
          <p:cNvPr id="31" name="TextBox 31"/>
          <p:cNvSpPr txBox="1"/>
          <p:nvPr/>
        </p:nvSpPr>
        <p:spPr>
          <a:xfrm>
            <a:off x="1398746" y="1465393"/>
            <a:ext cx="6413506" cy="589597"/>
          </a:xfrm>
          <a:prstGeom prst="rect">
            <a:avLst/>
          </a:prstGeom>
        </p:spPr>
        <p:txBody>
          <a:bodyPr lIns="0" tIns="0" rIns="0" bIns="0" rtlCol="0" anchor="t">
            <a:spAutoFit/>
          </a:bodyPr>
          <a:lstStyle/>
          <a:p>
            <a:pPr algn="l">
              <a:lnSpc>
                <a:spcPts val="4620"/>
              </a:lnSpc>
            </a:pPr>
            <a:r>
              <a:rPr lang="en-US" sz="3300" spc="145">
                <a:solidFill>
                  <a:srgbClr val="F6F6F6"/>
                </a:solidFill>
                <a:latin typeface="Calistoga"/>
                <a:ea typeface="Calistoga"/>
                <a:cs typeface="Calistoga"/>
                <a:sym typeface="Calistoga"/>
              </a:rPr>
              <a:t> Proposed Solution / Approach</a:t>
            </a:r>
          </a:p>
        </p:txBody>
      </p:sp>
      <p:sp>
        <p:nvSpPr>
          <p:cNvPr id="32" name="TextBox 32"/>
          <p:cNvSpPr txBox="1"/>
          <p:nvPr/>
        </p:nvSpPr>
        <p:spPr>
          <a:xfrm>
            <a:off x="62135" y="2841819"/>
            <a:ext cx="8912940" cy="6014142"/>
          </a:xfrm>
          <a:prstGeom prst="rect">
            <a:avLst/>
          </a:prstGeom>
        </p:spPr>
        <p:txBody>
          <a:bodyPr wrap="square" lIns="0" tIns="0" rIns="0" bIns="0" rtlCol="0" anchor="t">
            <a:spAutoFit/>
          </a:bodyPr>
          <a:lstStyle/>
          <a:p>
            <a:pPr marL="472010" lvl="1" indent="-236005" algn="l">
              <a:lnSpc>
                <a:spcPts val="3060"/>
              </a:lnSpc>
              <a:buFont typeface="Arial"/>
              <a:buChar char="•"/>
            </a:pPr>
            <a:r>
              <a:rPr lang="en-US" sz="2186" b="1" i="1" spc="50" dirty="0">
                <a:solidFill>
                  <a:srgbClr val="3D1700"/>
                </a:solidFill>
                <a:latin typeface="Caladea Bold Italics"/>
                <a:ea typeface="Caladea Bold Italics"/>
                <a:cs typeface="Caladea Bold Italics"/>
                <a:sym typeface="Caladea Bold Italics"/>
              </a:rPr>
              <a:t>A multilingual AI assistant</a:t>
            </a:r>
            <a:r>
              <a:rPr lang="en-US" sz="2186" spc="50" dirty="0">
                <a:solidFill>
                  <a:srgbClr val="3D1700"/>
                </a:solidFill>
                <a:latin typeface="Caladea"/>
                <a:ea typeface="Caladea"/>
                <a:cs typeface="Caladea"/>
                <a:sym typeface="Caladea"/>
              </a:rPr>
              <a:t> that answers Ayurveda IP and regulatory questions using real statutes, treaties, and registry records — not a general-purpose chatbot guessing at law.</a:t>
            </a:r>
          </a:p>
          <a:p>
            <a:pPr marL="472010" lvl="1" indent="-236005" algn="l">
              <a:lnSpc>
                <a:spcPts val="3060"/>
              </a:lnSpc>
              <a:buFont typeface="Arial"/>
              <a:buChar char="•"/>
            </a:pPr>
            <a:r>
              <a:rPr lang="en-US" sz="2186" b="1" i="1" spc="50" dirty="0">
                <a:solidFill>
                  <a:srgbClr val="3D1700"/>
                </a:solidFill>
                <a:latin typeface="Caladea Bold Italics"/>
                <a:ea typeface="Caladea Bold Italics"/>
                <a:cs typeface="Caladea Bold Italics"/>
                <a:sym typeface="Caladea Bold Italics"/>
              </a:rPr>
              <a:t>It first figures out what kind of question is being asked</a:t>
            </a:r>
            <a:r>
              <a:rPr lang="en-US" sz="2186" spc="50" dirty="0">
                <a:solidFill>
                  <a:srgbClr val="3D1700"/>
                </a:solidFill>
                <a:latin typeface="Caladea"/>
                <a:ea typeface="Caladea"/>
                <a:cs typeface="Caladea"/>
                <a:sym typeface="Caladea"/>
              </a:rPr>
              <a:t> (a concept, a binding legal/statutory question, or both) so it always pulls from the right expertise before answering using its RAG based modeling</a:t>
            </a:r>
          </a:p>
          <a:p>
            <a:pPr marL="472010" lvl="1" indent="-236005" algn="l">
              <a:lnSpc>
                <a:spcPts val="3060"/>
              </a:lnSpc>
              <a:buFont typeface="Arial"/>
              <a:buChar char="•"/>
            </a:pPr>
            <a:r>
              <a:rPr lang="en-US" sz="2186" b="1" i="1" spc="50" dirty="0">
                <a:solidFill>
                  <a:srgbClr val="3D1700"/>
                </a:solidFill>
                <a:latin typeface="Caladea Bold Italics"/>
                <a:ea typeface="Caladea Bold Italics"/>
                <a:cs typeface="Caladea Bold Italics"/>
                <a:sym typeface="Caladea Bold Italics"/>
              </a:rPr>
              <a:t>National (India) and international laws are kept strictly separate</a:t>
            </a:r>
            <a:r>
              <a:rPr lang="en-US" sz="2186" spc="50" dirty="0">
                <a:solidFill>
                  <a:srgbClr val="3D1700"/>
                </a:solidFill>
                <a:latin typeface="Caladea"/>
                <a:ea typeface="Caladea"/>
                <a:cs typeface="Caladea"/>
                <a:sym typeface="Caladea"/>
              </a:rPr>
              <a:t> through a jurisdiction toggle, so a user never gets conflated or wrong-country guidance.</a:t>
            </a:r>
          </a:p>
          <a:p>
            <a:pPr marL="472010" lvl="1" indent="-236005" algn="l">
              <a:lnSpc>
                <a:spcPts val="3060"/>
              </a:lnSpc>
              <a:buFont typeface="Arial"/>
              <a:buChar char="•"/>
            </a:pPr>
            <a:r>
              <a:rPr lang="en-US" sz="2186" b="1" i="1" spc="50" dirty="0">
                <a:solidFill>
                  <a:srgbClr val="3D1700"/>
                </a:solidFill>
                <a:latin typeface="Caladea Bold Italics"/>
                <a:ea typeface="Caladea Bold Italics"/>
                <a:cs typeface="Caladea Bold Italics"/>
                <a:sym typeface="Caladea Bold Italics"/>
              </a:rPr>
              <a:t>Every answer is traceable to its source</a:t>
            </a:r>
            <a:r>
              <a:rPr lang="en-US" sz="2186" spc="50" dirty="0">
                <a:solidFill>
                  <a:srgbClr val="3D1700"/>
                </a:solidFill>
                <a:latin typeface="Caladea"/>
                <a:ea typeface="Caladea"/>
                <a:cs typeface="Caladea"/>
                <a:sym typeface="Caladea"/>
              </a:rPr>
              <a:t> means a specific act, rule, or treaty article will be cited instead of an unverifiable AI summary.</a:t>
            </a:r>
          </a:p>
          <a:p>
            <a:pPr marL="472010" lvl="1" indent="-236005" algn="l">
              <a:lnSpc>
                <a:spcPts val="3060"/>
              </a:lnSpc>
              <a:buFont typeface="Arial"/>
              <a:buChar char="•"/>
            </a:pPr>
            <a:r>
              <a:rPr lang="en-US" sz="2186" b="1" i="1" spc="50" dirty="0">
                <a:solidFill>
                  <a:srgbClr val="3D1700"/>
                </a:solidFill>
                <a:latin typeface="Caladea Bold Italics"/>
                <a:ea typeface="Caladea Bold Italics"/>
                <a:cs typeface="Caladea Bold Italics"/>
                <a:sym typeface="Caladea Bold Italics"/>
              </a:rPr>
              <a:t>Built to grow in stages</a:t>
            </a:r>
            <a:r>
              <a:rPr lang="en-US" sz="2186" spc="50" dirty="0">
                <a:solidFill>
                  <a:srgbClr val="3D1700"/>
                </a:solidFill>
                <a:latin typeface="Caladea"/>
                <a:ea typeface="Caladea"/>
                <a:cs typeface="Caladea"/>
                <a:sym typeface="Caladea"/>
              </a:rPr>
              <a:t>: a working retrieval-based prototype already runs end-to-end; next stages add a knowledge graph, human-expert escalation, and full multilingual/voice delivery.</a:t>
            </a:r>
          </a:p>
          <a:p>
            <a:pPr algn="l">
              <a:lnSpc>
                <a:spcPts val="3060"/>
              </a:lnSpc>
            </a:pPr>
            <a:endParaRPr lang="en-US" sz="2186" spc="50" dirty="0">
              <a:solidFill>
                <a:srgbClr val="3D1700"/>
              </a:solidFill>
              <a:latin typeface="Caladea"/>
              <a:ea typeface="Caladea"/>
              <a:cs typeface="Caladea"/>
              <a:sym typeface="Caladea"/>
            </a:endParaRPr>
          </a:p>
        </p:txBody>
      </p:sp>
      <p:sp>
        <p:nvSpPr>
          <p:cNvPr id="33" name="TextBox 33"/>
          <p:cNvSpPr txBox="1"/>
          <p:nvPr/>
        </p:nvSpPr>
        <p:spPr>
          <a:xfrm>
            <a:off x="10695907" y="1685754"/>
            <a:ext cx="5996340" cy="372923"/>
          </a:xfrm>
          <a:prstGeom prst="rect">
            <a:avLst/>
          </a:prstGeom>
        </p:spPr>
        <p:txBody>
          <a:bodyPr wrap="square" lIns="0" tIns="0" rIns="0" bIns="0" rtlCol="0" anchor="t">
            <a:spAutoFit/>
          </a:bodyPr>
          <a:lstStyle/>
          <a:p>
            <a:pPr algn="ctr">
              <a:lnSpc>
                <a:spcPts val="3131"/>
              </a:lnSpc>
              <a:spcBef>
                <a:spcPct val="0"/>
              </a:spcBef>
            </a:pPr>
            <a:r>
              <a:rPr lang="en-US" sz="2236" b="1" i="1" spc="51" dirty="0">
                <a:solidFill>
                  <a:srgbClr val="000000"/>
                </a:solidFill>
                <a:latin typeface="Caladea Bold Italics"/>
                <a:ea typeface="Caladea Bold Italics"/>
                <a:cs typeface="Caladea Bold Italics"/>
                <a:sym typeface="Caladea Bold Italics"/>
              </a:rPr>
              <a:t>IP SAKTI END TO END WORKFLOW</a:t>
            </a:r>
          </a:p>
        </p:txBody>
      </p:sp>
      <p:sp>
        <p:nvSpPr>
          <p:cNvPr id="34" name="TextBox 34"/>
          <p:cNvSpPr txBox="1"/>
          <p:nvPr/>
        </p:nvSpPr>
        <p:spPr>
          <a:xfrm>
            <a:off x="7146217" y="9812051"/>
            <a:ext cx="3625691" cy="306705"/>
          </a:xfrm>
          <a:prstGeom prst="rect">
            <a:avLst/>
          </a:prstGeom>
        </p:spPr>
        <p:txBody>
          <a:bodyPr lIns="0" tIns="0" rIns="0" bIns="0" rtlCol="0" anchor="t">
            <a:spAutoFit/>
          </a:bodyPr>
          <a:lstStyle/>
          <a:p>
            <a:pPr algn="ctr">
              <a:lnSpc>
                <a:spcPts val="2520"/>
              </a:lnSpc>
              <a:spcBef>
                <a:spcPct val="0"/>
              </a:spcBef>
            </a:pPr>
            <a:r>
              <a:rPr lang="en-US" sz="1800" spc="41">
                <a:solidFill>
                  <a:srgbClr val="FFFFFF"/>
                </a:solidFill>
                <a:latin typeface="Calistoga"/>
                <a:ea typeface="Calistoga"/>
                <a:cs typeface="Calistoga"/>
                <a:sym typeface="Calistoga"/>
              </a:rPr>
              <a:t>SMART INDIA HACKATHON 2026</a:t>
            </a:r>
          </a:p>
        </p:txBody>
      </p:sp>
      <p:sp>
        <p:nvSpPr>
          <p:cNvPr id="35" name="TextBox 35"/>
          <p:cNvSpPr txBox="1"/>
          <p:nvPr/>
        </p:nvSpPr>
        <p:spPr>
          <a:xfrm>
            <a:off x="23125" y="754647"/>
            <a:ext cx="1958075" cy="250261"/>
          </a:xfrm>
          <a:prstGeom prst="rect">
            <a:avLst/>
          </a:prstGeom>
        </p:spPr>
        <p:txBody>
          <a:bodyPr wrap="square" lIns="0" tIns="0" rIns="0" bIns="0" rtlCol="0" anchor="t">
            <a:spAutoFit/>
          </a:bodyPr>
          <a:lstStyle/>
          <a:p>
            <a:pPr algn="ctr">
              <a:lnSpc>
                <a:spcPts val="2100"/>
              </a:lnSpc>
            </a:pPr>
            <a:r>
              <a:rPr lang="en-US" sz="1500" i="1">
                <a:solidFill>
                  <a:srgbClr val="000000"/>
                </a:solidFill>
                <a:latin typeface="Comic Sans Italics"/>
                <a:ea typeface="Comic Sans Italics"/>
                <a:cs typeface="Comic Sans Italics"/>
                <a:sym typeface="Comic Sans Italics"/>
              </a:rPr>
              <a:t>HALLUCINATORS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13119"/>
            <a:ext cx="18287914" cy="573881"/>
            <a:chOff x="0" y="0"/>
            <a:chExt cx="18287911" cy="573875"/>
          </a:xfrm>
        </p:grpSpPr>
        <p:sp>
          <p:nvSpPr>
            <p:cNvPr id="3" name="Freeform 3"/>
            <p:cNvSpPr/>
            <p:nvPr/>
          </p:nvSpPr>
          <p:spPr>
            <a:xfrm>
              <a:off x="0" y="0"/>
              <a:ext cx="18287874" cy="573909"/>
            </a:xfrm>
            <a:custGeom>
              <a:avLst/>
              <a:gdLst/>
              <a:ahLst/>
              <a:cxnLst/>
              <a:rect l="l" t="t" r="r" b="b"/>
              <a:pathLst>
                <a:path w="18287874" h="573909">
                  <a:moveTo>
                    <a:pt x="0" y="0"/>
                  </a:moveTo>
                  <a:lnTo>
                    <a:pt x="0" y="573909"/>
                  </a:lnTo>
                  <a:lnTo>
                    <a:pt x="18287874" y="573909"/>
                  </a:lnTo>
                  <a:lnTo>
                    <a:pt x="18287874" y="0"/>
                  </a:lnTo>
                  <a:close/>
                </a:path>
              </a:pathLst>
            </a:custGeom>
            <a:solidFill>
              <a:srgbClr val="3D2500"/>
            </a:solidFill>
          </p:spPr>
        </p:sp>
      </p:grpSp>
      <p:sp>
        <p:nvSpPr>
          <p:cNvPr id="4" name="Freeform 4"/>
          <p:cNvSpPr/>
          <p:nvPr/>
        </p:nvSpPr>
        <p:spPr>
          <a:xfrm>
            <a:off x="47273" y="8494395"/>
            <a:ext cx="13658098" cy="1174452"/>
          </a:xfrm>
          <a:custGeom>
            <a:avLst/>
            <a:gdLst/>
            <a:ahLst/>
            <a:cxnLst/>
            <a:rect l="l" t="t" r="r" b="b"/>
            <a:pathLst>
              <a:path w="13658098" h="1174452">
                <a:moveTo>
                  <a:pt x="0" y="0"/>
                </a:moveTo>
                <a:lnTo>
                  <a:pt x="13658097" y="0"/>
                </a:lnTo>
                <a:lnTo>
                  <a:pt x="13658097" y="1174452"/>
                </a:lnTo>
                <a:lnTo>
                  <a:pt x="0" y="117445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3818699" y="992191"/>
            <a:ext cx="4403227" cy="8651281"/>
          </a:xfrm>
          <a:custGeom>
            <a:avLst/>
            <a:gdLst/>
            <a:ahLst/>
            <a:cxnLst/>
            <a:rect l="l" t="t" r="r" b="b"/>
            <a:pathLst>
              <a:path w="4403227" h="8651281">
                <a:moveTo>
                  <a:pt x="0" y="0"/>
                </a:moveTo>
                <a:lnTo>
                  <a:pt x="4403226" y="0"/>
                </a:lnTo>
                <a:lnTo>
                  <a:pt x="4403226" y="8651281"/>
                </a:lnTo>
                <a:lnTo>
                  <a:pt x="0" y="865128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4880520" y="8757771"/>
            <a:ext cx="647700" cy="647700"/>
            <a:chOff x="0" y="0"/>
            <a:chExt cx="863600" cy="863600"/>
          </a:xfrm>
        </p:grpSpPr>
        <p:sp>
          <p:nvSpPr>
            <p:cNvPr id="7" name="Freeform 7"/>
            <p:cNvSpPr/>
            <p:nvPr/>
          </p:nvSpPr>
          <p:spPr>
            <a:xfrm>
              <a:off x="0" y="0"/>
              <a:ext cx="863600" cy="863600"/>
            </a:xfrm>
            <a:custGeom>
              <a:avLst/>
              <a:gdLst/>
              <a:ahLst/>
              <a:cxnLst/>
              <a:rect l="l" t="t" r="r" b="b"/>
              <a:pathLst>
                <a:path w="863600" h="863600">
                  <a:moveTo>
                    <a:pt x="0" y="0"/>
                  </a:moveTo>
                  <a:lnTo>
                    <a:pt x="863600" y="0"/>
                  </a:lnTo>
                  <a:lnTo>
                    <a:pt x="863600" y="863600"/>
                  </a:lnTo>
                  <a:lnTo>
                    <a:pt x="0" y="863600"/>
                  </a:lnTo>
                  <a:lnTo>
                    <a:pt x="0" y="0"/>
                  </a:lnTo>
                  <a:close/>
                </a:path>
              </a:pathLst>
            </a:custGeom>
            <a:blipFill>
              <a:blip r:embed="rId4"/>
              <a:stretch>
                <a:fillRect/>
              </a:stretch>
            </a:blipFill>
          </p:spPr>
        </p:sp>
      </p:grpSp>
      <p:grpSp>
        <p:nvGrpSpPr>
          <p:cNvPr id="10" name="Group 10"/>
          <p:cNvGrpSpPr/>
          <p:nvPr/>
        </p:nvGrpSpPr>
        <p:grpSpPr>
          <a:xfrm>
            <a:off x="8098203" y="8816759"/>
            <a:ext cx="552450" cy="552450"/>
            <a:chOff x="0" y="0"/>
            <a:chExt cx="736600" cy="736600"/>
          </a:xfrm>
        </p:grpSpPr>
        <p:sp>
          <p:nvSpPr>
            <p:cNvPr id="11" name="Freeform 11"/>
            <p:cNvSpPr/>
            <p:nvPr/>
          </p:nvSpPr>
          <p:spPr>
            <a:xfrm>
              <a:off x="0" y="0"/>
              <a:ext cx="736600" cy="736600"/>
            </a:xfrm>
            <a:custGeom>
              <a:avLst/>
              <a:gdLst/>
              <a:ahLst/>
              <a:cxnLst/>
              <a:rect l="l" t="t" r="r" b="b"/>
              <a:pathLst>
                <a:path w="736600" h="736600">
                  <a:moveTo>
                    <a:pt x="0" y="0"/>
                  </a:moveTo>
                  <a:lnTo>
                    <a:pt x="736600" y="0"/>
                  </a:lnTo>
                  <a:lnTo>
                    <a:pt x="736600" y="736600"/>
                  </a:lnTo>
                  <a:lnTo>
                    <a:pt x="0" y="736600"/>
                  </a:lnTo>
                  <a:lnTo>
                    <a:pt x="0" y="0"/>
                  </a:lnTo>
                  <a:close/>
                </a:path>
              </a:pathLst>
            </a:custGeom>
            <a:blipFill>
              <a:blip r:embed="rId5"/>
              <a:stretch>
                <a:fillRect/>
              </a:stretch>
            </a:blipFill>
          </p:spPr>
        </p:sp>
      </p:grpSp>
      <p:grpSp>
        <p:nvGrpSpPr>
          <p:cNvPr id="18" name="Group 18"/>
          <p:cNvGrpSpPr/>
          <p:nvPr/>
        </p:nvGrpSpPr>
        <p:grpSpPr>
          <a:xfrm>
            <a:off x="12554426" y="8708184"/>
            <a:ext cx="771525" cy="771525"/>
            <a:chOff x="0" y="0"/>
            <a:chExt cx="1028700" cy="1028700"/>
          </a:xfrm>
        </p:grpSpPr>
        <p:sp>
          <p:nvSpPr>
            <p:cNvPr id="19" name="Freeform 19"/>
            <p:cNvSpPr/>
            <p:nvPr/>
          </p:nvSpPr>
          <p:spPr>
            <a:xfrm>
              <a:off x="0" y="0"/>
              <a:ext cx="1028700" cy="1028700"/>
            </a:xfrm>
            <a:custGeom>
              <a:avLst/>
              <a:gdLst/>
              <a:ahLst/>
              <a:cxnLst/>
              <a:rect l="l" t="t" r="r" b="b"/>
              <a:pathLst>
                <a:path w="1028700" h="1028700">
                  <a:moveTo>
                    <a:pt x="0" y="0"/>
                  </a:moveTo>
                  <a:lnTo>
                    <a:pt x="1028700" y="0"/>
                  </a:lnTo>
                  <a:lnTo>
                    <a:pt x="1028700" y="1028700"/>
                  </a:lnTo>
                  <a:lnTo>
                    <a:pt x="0" y="1028700"/>
                  </a:lnTo>
                  <a:lnTo>
                    <a:pt x="0" y="0"/>
                  </a:lnTo>
                  <a:close/>
                </a:path>
              </a:pathLst>
            </a:custGeom>
            <a:blipFill>
              <a:blip r:embed="rId6"/>
              <a:stretch>
                <a:fillRect/>
              </a:stretch>
            </a:blipFill>
          </p:spPr>
        </p:sp>
      </p:grpSp>
      <p:grpSp>
        <p:nvGrpSpPr>
          <p:cNvPr id="20" name="Group 20"/>
          <p:cNvGrpSpPr/>
          <p:nvPr/>
        </p:nvGrpSpPr>
        <p:grpSpPr>
          <a:xfrm>
            <a:off x="9238145" y="8708184"/>
            <a:ext cx="714375" cy="723900"/>
            <a:chOff x="0" y="0"/>
            <a:chExt cx="952500" cy="965200"/>
          </a:xfrm>
        </p:grpSpPr>
        <p:sp>
          <p:nvSpPr>
            <p:cNvPr id="21" name="Freeform 21"/>
            <p:cNvSpPr/>
            <p:nvPr/>
          </p:nvSpPr>
          <p:spPr>
            <a:xfrm>
              <a:off x="0" y="0"/>
              <a:ext cx="952500" cy="965200"/>
            </a:xfrm>
            <a:custGeom>
              <a:avLst/>
              <a:gdLst/>
              <a:ahLst/>
              <a:cxnLst/>
              <a:rect l="l" t="t" r="r" b="b"/>
              <a:pathLst>
                <a:path w="952500" h="965200">
                  <a:moveTo>
                    <a:pt x="0" y="0"/>
                  </a:moveTo>
                  <a:lnTo>
                    <a:pt x="952500" y="0"/>
                  </a:lnTo>
                  <a:lnTo>
                    <a:pt x="952500" y="965200"/>
                  </a:lnTo>
                  <a:lnTo>
                    <a:pt x="0" y="965200"/>
                  </a:lnTo>
                  <a:lnTo>
                    <a:pt x="0" y="0"/>
                  </a:lnTo>
                  <a:close/>
                </a:path>
              </a:pathLst>
            </a:custGeom>
            <a:blipFill>
              <a:blip r:embed="rId7"/>
              <a:stretch>
                <a:fillRect l="-51837" t="-25776" r="-52162" b="-25539"/>
              </a:stretch>
            </a:blipFill>
          </p:spPr>
        </p:sp>
      </p:grpSp>
      <p:grpSp>
        <p:nvGrpSpPr>
          <p:cNvPr id="22" name="Group 22"/>
          <p:cNvGrpSpPr/>
          <p:nvPr/>
        </p:nvGrpSpPr>
        <p:grpSpPr>
          <a:xfrm>
            <a:off x="2898477" y="8557879"/>
            <a:ext cx="28575" cy="1047493"/>
            <a:chOff x="0" y="0"/>
            <a:chExt cx="28575" cy="1047496"/>
          </a:xfrm>
        </p:grpSpPr>
        <p:sp>
          <p:nvSpPr>
            <p:cNvPr id="23" name="Freeform 23"/>
            <p:cNvSpPr/>
            <p:nvPr/>
          </p:nvSpPr>
          <p:spPr>
            <a:xfrm>
              <a:off x="0" y="0"/>
              <a:ext cx="28575" cy="1047498"/>
            </a:xfrm>
            <a:custGeom>
              <a:avLst/>
              <a:gdLst/>
              <a:ahLst/>
              <a:cxnLst/>
              <a:rect l="l" t="t" r="r" b="b"/>
              <a:pathLst>
                <a:path w="28575" h="1047498">
                  <a:moveTo>
                    <a:pt x="0" y="1047498"/>
                  </a:moveTo>
                  <a:lnTo>
                    <a:pt x="0" y="876047"/>
                  </a:lnTo>
                  <a:lnTo>
                    <a:pt x="28575" y="876047"/>
                  </a:lnTo>
                  <a:lnTo>
                    <a:pt x="28575" y="1047498"/>
                  </a:lnTo>
                  <a:moveTo>
                    <a:pt x="0" y="847472"/>
                  </a:moveTo>
                  <a:lnTo>
                    <a:pt x="0" y="676022"/>
                  </a:lnTo>
                  <a:lnTo>
                    <a:pt x="28575" y="676022"/>
                  </a:lnTo>
                  <a:lnTo>
                    <a:pt x="28575" y="847472"/>
                  </a:lnTo>
                  <a:moveTo>
                    <a:pt x="0" y="647447"/>
                  </a:moveTo>
                  <a:lnTo>
                    <a:pt x="0" y="475997"/>
                  </a:lnTo>
                  <a:lnTo>
                    <a:pt x="28575" y="475997"/>
                  </a:lnTo>
                  <a:lnTo>
                    <a:pt x="28575" y="647447"/>
                  </a:lnTo>
                  <a:moveTo>
                    <a:pt x="0" y="447422"/>
                  </a:moveTo>
                  <a:lnTo>
                    <a:pt x="0" y="275971"/>
                  </a:lnTo>
                  <a:lnTo>
                    <a:pt x="28575" y="275971"/>
                  </a:lnTo>
                  <a:lnTo>
                    <a:pt x="28575" y="447422"/>
                  </a:lnTo>
                  <a:moveTo>
                    <a:pt x="0" y="247396"/>
                  </a:moveTo>
                  <a:lnTo>
                    <a:pt x="0" y="75946"/>
                  </a:lnTo>
                  <a:lnTo>
                    <a:pt x="28575" y="75946"/>
                  </a:lnTo>
                  <a:lnTo>
                    <a:pt x="28575" y="247396"/>
                  </a:lnTo>
                  <a:moveTo>
                    <a:pt x="0" y="47371"/>
                  </a:moveTo>
                  <a:lnTo>
                    <a:pt x="0" y="0"/>
                  </a:lnTo>
                  <a:lnTo>
                    <a:pt x="28575" y="0"/>
                  </a:lnTo>
                  <a:lnTo>
                    <a:pt x="28575" y="47371"/>
                  </a:lnTo>
                </a:path>
              </a:pathLst>
            </a:custGeom>
            <a:solidFill>
              <a:srgbClr val="000000"/>
            </a:solidFill>
          </p:spPr>
        </p:sp>
      </p:grpSp>
      <p:grpSp>
        <p:nvGrpSpPr>
          <p:cNvPr id="25" name="Group 25"/>
          <p:cNvGrpSpPr/>
          <p:nvPr/>
        </p:nvGrpSpPr>
        <p:grpSpPr>
          <a:xfrm>
            <a:off x="683321" y="1257791"/>
            <a:ext cx="2959760" cy="6976045"/>
            <a:chOff x="0" y="0"/>
            <a:chExt cx="543171" cy="1280233"/>
          </a:xfrm>
        </p:grpSpPr>
        <p:sp>
          <p:nvSpPr>
            <p:cNvPr id="26" name="Freeform 26"/>
            <p:cNvSpPr/>
            <p:nvPr/>
          </p:nvSpPr>
          <p:spPr>
            <a:xfrm>
              <a:off x="0" y="0"/>
              <a:ext cx="543171" cy="1280233"/>
            </a:xfrm>
            <a:custGeom>
              <a:avLst/>
              <a:gdLst/>
              <a:ahLst/>
              <a:cxnLst/>
              <a:rect l="l" t="t" r="r" b="b"/>
              <a:pathLst>
                <a:path w="543171" h="1280233">
                  <a:moveTo>
                    <a:pt x="0" y="0"/>
                  </a:moveTo>
                  <a:lnTo>
                    <a:pt x="543171" y="0"/>
                  </a:lnTo>
                  <a:lnTo>
                    <a:pt x="543171" y="1280233"/>
                  </a:lnTo>
                  <a:lnTo>
                    <a:pt x="0" y="1280233"/>
                  </a:lnTo>
                  <a:close/>
                </a:path>
              </a:pathLst>
            </a:custGeom>
            <a:solidFill>
              <a:srgbClr val="259A9F"/>
            </a:solidFill>
          </p:spPr>
        </p:sp>
        <p:sp>
          <p:nvSpPr>
            <p:cNvPr id="27" name="TextBox 27"/>
            <p:cNvSpPr txBox="1"/>
            <p:nvPr/>
          </p:nvSpPr>
          <p:spPr>
            <a:xfrm>
              <a:off x="0" y="-47625"/>
              <a:ext cx="543171" cy="1327858"/>
            </a:xfrm>
            <a:prstGeom prst="rect">
              <a:avLst/>
            </a:prstGeom>
          </p:spPr>
          <p:txBody>
            <a:bodyPr lIns="50800" tIns="50800" rIns="50800" bIns="50800" rtlCol="0" anchor="ctr"/>
            <a:lstStyle/>
            <a:p>
              <a:pPr algn="ctr">
                <a:lnSpc>
                  <a:spcPts val="3131"/>
                </a:lnSpc>
              </a:pPr>
              <a:endParaRPr/>
            </a:p>
          </p:txBody>
        </p:sp>
      </p:grpSp>
      <p:grpSp>
        <p:nvGrpSpPr>
          <p:cNvPr id="28" name="Group 28"/>
          <p:cNvGrpSpPr/>
          <p:nvPr/>
        </p:nvGrpSpPr>
        <p:grpSpPr>
          <a:xfrm>
            <a:off x="683321" y="1982744"/>
            <a:ext cx="2959760" cy="6251092"/>
            <a:chOff x="0" y="0"/>
            <a:chExt cx="543171" cy="1147191"/>
          </a:xfrm>
        </p:grpSpPr>
        <p:sp>
          <p:nvSpPr>
            <p:cNvPr id="29" name="Freeform 29"/>
            <p:cNvSpPr/>
            <p:nvPr/>
          </p:nvSpPr>
          <p:spPr>
            <a:xfrm>
              <a:off x="0" y="0"/>
              <a:ext cx="543171" cy="1147191"/>
            </a:xfrm>
            <a:custGeom>
              <a:avLst/>
              <a:gdLst/>
              <a:ahLst/>
              <a:cxnLst/>
              <a:rect l="l" t="t" r="r" b="b"/>
              <a:pathLst>
                <a:path w="543171" h="1147191">
                  <a:moveTo>
                    <a:pt x="0" y="0"/>
                  </a:moveTo>
                  <a:lnTo>
                    <a:pt x="543171" y="0"/>
                  </a:lnTo>
                  <a:lnTo>
                    <a:pt x="543171" y="1147191"/>
                  </a:lnTo>
                  <a:lnTo>
                    <a:pt x="0" y="1147191"/>
                  </a:lnTo>
                  <a:close/>
                </a:path>
              </a:pathLst>
            </a:custGeom>
            <a:solidFill>
              <a:srgbClr val="C2F6FF"/>
            </a:solidFill>
          </p:spPr>
        </p:sp>
        <p:sp>
          <p:nvSpPr>
            <p:cNvPr id="30" name="TextBox 30"/>
            <p:cNvSpPr txBox="1"/>
            <p:nvPr/>
          </p:nvSpPr>
          <p:spPr>
            <a:xfrm>
              <a:off x="0" y="-47625"/>
              <a:ext cx="543171" cy="1194816"/>
            </a:xfrm>
            <a:prstGeom prst="rect">
              <a:avLst/>
            </a:prstGeom>
          </p:spPr>
          <p:txBody>
            <a:bodyPr lIns="50800" tIns="50800" rIns="50800" bIns="50800" rtlCol="0" anchor="ctr"/>
            <a:lstStyle/>
            <a:p>
              <a:pPr algn="ctr">
                <a:lnSpc>
                  <a:spcPts val="3131"/>
                </a:lnSpc>
              </a:pPr>
              <a:endParaRPr/>
            </a:p>
          </p:txBody>
        </p:sp>
      </p:grpSp>
      <p:sp>
        <p:nvSpPr>
          <p:cNvPr id="31" name="Freeform 31"/>
          <p:cNvSpPr/>
          <p:nvPr/>
        </p:nvSpPr>
        <p:spPr>
          <a:xfrm>
            <a:off x="1152601" y="4885226"/>
            <a:ext cx="1371478" cy="1347075"/>
          </a:xfrm>
          <a:custGeom>
            <a:avLst/>
            <a:gdLst/>
            <a:ahLst/>
            <a:cxnLst/>
            <a:rect l="l" t="t" r="r" b="b"/>
            <a:pathLst>
              <a:path w="1371478" h="1347075">
                <a:moveTo>
                  <a:pt x="0" y="0"/>
                </a:moveTo>
                <a:lnTo>
                  <a:pt x="1371478" y="0"/>
                </a:lnTo>
                <a:lnTo>
                  <a:pt x="1371478" y="1347075"/>
                </a:lnTo>
                <a:lnTo>
                  <a:pt x="0" y="1347075"/>
                </a:lnTo>
                <a:lnTo>
                  <a:pt x="0" y="0"/>
                </a:lnTo>
                <a:close/>
              </a:path>
            </a:pathLst>
          </a:custGeom>
          <a:blipFill>
            <a:blip r:embed="rId8"/>
            <a:stretch>
              <a:fillRect t="-905" b="-905"/>
            </a:stretch>
          </a:blipFill>
        </p:spPr>
      </p:sp>
      <p:grpSp>
        <p:nvGrpSpPr>
          <p:cNvPr id="32" name="Group 32"/>
          <p:cNvGrpSpPr/>
          <p:nvPr/>
        </p:nvGrpSpPr>
        <p:grpSpPr>
          <a:xfrm>
            <a:off x="793680" y="2192157"/>
            <a:ext cx="2570028" cy="1904640"/>
            <a:chOff x="0" y="0"/>
            <a:chExt cx="812800" cy="602364"/>
          </a:xfrm>
        </p:grpSpPr>
        <p:sp>
          <p:nvSpPr>
            <p:cNvPr id="33" name="Freeform 33"/>
            <p:cNvSpPr/>
            <p:nvPr/>
          </p:nvSpPr>
          <p:spPr>
            <a:xfrm>
              <a:off x="0" y="0"/>
              <a:ext cx="812800" cy="602283"/>
            </a:xfrm>
            <a:custGeom>
              <a:avLst/>
              <a:gdLst/>
              <a:ahLst/>
              <a:cxnLst/>
              <a:rect l="l" t="t" r="r" b="b"/>
              <a:pathLst>
                <a:path w="812800" h="602283">
                  <a:moveTo>
                    <a:pt x="461490" y="0"/>
                  </a:moveTo>
                  <a:cubicBezTo>
                    <a:pt x="470405" y="0"/>
                    <a:pt x="479374" y="0"/>
                    <a:pt x="488272" y="0"/>
                  </a:cubicBezTo>
                  <a:cubicBezTo>
                    <a:pt x="559210" y="10061"/>
                    <a:pt x="603543" y="43550"/>
                    <a:pt x="623736" y="98350"/>
                  </a:cubicBezTo>
                  <a:cubicBezTo>
                    <a:pt x="742003" y="91042"/>
                    <a:pt x="827989" y="194660"/>
                    <a:pt x="775586" y="296356"/>
                  </a:cubicBezTo>
                  <a:cubicBezTo>
                    <a:pt x="793012" y="317725"/>
                    <a:pt x="807550" y="341629"/>
                    <a:pt x="812800" y="373712"/>
                  </a:cubicBezTo>
                  <a:cubicBezTo>
                    <a:pt x="812800" y="382902"/>
                    <a:pt x="812800" y="392071"/>
                    <a:pt x="812800" y="401260"/>
                  </a:cubicBezTo>
                  <a:cubicBezTo>
                    <a:pt x="797154" y="482915"/>
                    <a:pt x="729827" y="538091"/>
                    <a:pt x="619295" y="523237"/>
                  </a:cubicBezTo>
                  <a:cubicBezTo>
                    <a:pt x="590856" y="565163"/>
                    <a:pt x="540252" y="606602"/>
                    <a:pt x="461507" y="601920"/>
                  </a:cubicBezTo>
                  <a:cubicBezTo>
                    <a:pt x="420804" y="599168"/>
                    <a:pt x="392488" y="583226"/>
                    <a:pt x="367697" y="563857"/>
                  </a:cubicBezTo>
                  <a:cubicBezTo>
                    <a:pt x="341584" y="579957"/>
                    <a:pt x="313304" y="592592"/>
                    <a:pt x="272443" y="592732"/>
                  </a:cubicBezTo>
                  <a:cubicBezTo>
                    <a:pt x="177910" y="592970"/>
                    <a:pt x="114672" y="530942"/>
                    <a:pt x="113139" y="445861"/>
                  </a:cubicBezTo>
                  <a:cubicBezTo>
                    <a:pt x="52367" y="425957"/>
                    <a:pt x="11206" y="388804"/>
                    <a:pt x="0" y="325230"/>
                  </a:cubicBezTo>
                  <a:cubicBezTo>
                    <a:pt x="0" y="316042"/>
                    <a:pt x="0" y="306833"/>
                    <a:pt x="0" y="297682"/>
                  </a:cubicBezTo>
                  <a:cubicBezTo>
                    <a:pt x="12369" y="234685"/>
                    <a:pt x="51292" y="195114"/>
                    <a:pt x="116099" y="178340"/>
                  </a:cubicBezTo>
                  <a:cubicBezTo>
                    <a:pt x="112205" y="72069"/>
                    <a:pt x="241837" y="5664"/>
                    <a:pt x="348333" y="52482"/>
                  </a:cubicBezTo>
                  <a:cubicBezTo>
                    <a:pt x="373689" y="29331"/>
                    <a:pt x="409562" y="4080"/>
                    <a:pt x="461490" y="0"/>
                  </a:cubicBezTo>
                  <a:close/>
                </a:path>
              </a:pathLst>
            </a:custGeom>
            <a:solidFill>
              <a:srgbClr val="54D9F9"/>
            </a:solidFill>
          </p:spPr>
        </p:sp>
        <p:sp>
          <p:nvSpPr>
            <p:cNvPr id="34" name="TextBox 34"/>
            <p:cNvSpPr txBox="1"/>
            <p:nvPr/>
          </p:nvSpPr>
          <p:spPr>
            <a:xfrm>
              <a:off x="38100" y="52769"/>
              <a:ext cx="736600" cy="463543"/>
            </a:xfrm>
            <a:prstGeom prst="rect">
              <a:avLst/>
            </a:prstGeom>
          </p:spPr>
          <p:txBody>
            <a:bodyPr lIns="50800" tIns="50800" rIns="50800" bIns="50800" rtlCol="0" anchor="ctr"/>
            <a:lstStyle/>
            <a:p>
              <a:pPr algn="ctr">
                <a:lnSpc>
                  <a:spcPts val="3131"/>
                </a:lnSpc>
              </a:pPr>
              <a:endParaRPr/>
            </a:p>
          </p:txBody>
        </p:sp>
      </p:grpSp>
      <p:grpSp>
        <p:nvGrpSpPr>
          <p:cNvPr id="35" name="Group 35"/>
          <p:cNvGrpSpPr/>
          <p:nvPr/>
        </p:nvGrpSpPr>
        <p:grpSpPr>
          <a:xfrm>
            <a:off x="1063713" y="2710974"/>
            <a:ext cx="881953" cy="433502"/>
            <a:chOff x="0" y="0"/>
            <a:chExt cx="749300" cy="368300"/>
          </a:xfrm>
        </p:grpSpPr>
        <p:sp>
          <p:nvSpPr>
            <p:cNvPr id="36" name="Freeform 36"/>
            <p:cNvSpPr/>
            <p:nvPr/>
          </p:nvSpPr>
          <p:spPr>
            <a:xfrm>
              <a:off x="0" y="0"/>
              <a:ext cx="749300" cy="368300"/>
            </a:xfrm>
            <a:custGeom>
              <a:avLst/>
              <a:gdLst/>
              <a:ahLst/>
              <a:cxnLst/>
              <a:rect l="l" t="t" r="r" b="b"/>
              <a:pathLst>
                <a:path w="749300" h="368300">
                  <a:moveTo>
                    <a:pt x="302595" y="0"/>
                  </a:moveTo>
                  <a:cubicBezTo>
                    <a:pt x="374793" y="0"/>
                    <a:pt x="438128" y="31965"/>
                    <a:pt x="473774" y="80008"/>
                  </a:cubicBezTo>
                  <a:cubicBezTo>
                    <a:pt x="505094" y="62401"/>
                    <a:pt x="543878" y="57997"/>
                    <a:pt x="580502" y="71168"/>
                  </a:cubicBezTo>
                  <a:cubicBezTo>
                    <a:pt x="621377" y="85869"/>
                    <a:pt x="649916" y="119006"/>
                    <a:pt x="659931" y="157438"/>
                  </a:cubicBezTo>
                  <a:cubicBezTo>
                    <a:pt x="710698" y="166149"/>
                    <a:pt x="749297" y="209658"/>
                    <a:pt x="749300" y="262058"/>
                  </a:cubicBezTo>
                  <a:cubicBezTo>
                    <a:pt x="749300" y="320733"/>
                    <a:pt x="700914" y="368299"/>
                    <a:pt x="641228" y="368300"/>
                  </a:cubicBezTo>
                  <a:lnTo>
                    <a:pt x="108072" y="368300"/>
                  </a:lnTo>
                  <a:cubicBezTo>
                    <a:pt x="44877" y="368299"/>
                    <a:pt x="0" y="326606"/>
                    <a:pt x="0" y="262058"/>
                  </a:cubicBezTo>
                  <a:cubicBezTo>
                    <a:pt x="3" y="205539"/>
                    <a:pt x="44902" y="159334"/>
                    <a:pt x="101548" y="156017"/>
                  </a:cubicBezTo>
                  <a:cubicBezTo>
                    <a:pt x="109980" y="68673"/>
                    <a:pt x="196766" y="3"/>
                    <a:pt x="302595" y="0"/>
                  </a:cubicBezTo>
                  <a:close/>
                </a:path>
              </a:pathLst>
            </a:custGeom>
            <a:solidFill>
              <a:srgbClr val="D9D9D9"/>
            </a:solidFill>
            <a:ln w="9525" cap="sq">
              <a:solidFill>
                <a:srgbClr val="000000"/>
              </a:solidFill>
              <a:prstDash val="dash"/>
              <a:miter/>
            </a:ln>
          </p:spPr>
        </p:sp>
        <p:sp>
          <p:nvSpPr>
            <p:cNvPr id="37" name="TextBox 37"/>
            <p:cNvSpPr txBox="1"/>
            <p:nvPr/>
          </p:nvSpPr>
          <p:spPr>
            <a:xfrm>
              <a:off x="127000" y="63500"/>
              <a:ext cx="469900" cy="304800"/>
            </a:xfrm>
            <a:prstGeom prst="rect">
              <a:avLst/>
            </a:prstGeom>
          </p:spPr>
          <p:txBody>
            <a:bodyPr lIns="50800" tIns="50800" rIns="50800" bIns="50800" rtlCol="0" anchor="ctr"/>
            <a:lstStyle/>
            <a:p>
              <a:pPr algn="ctr">
                <a:lnSpc>
                  <a:spcPts val="980"/>
                </a:lnSpc>
              </a:pPr>
              <a:endParaRPr/>
            </a:p>
          </p:txBody>
        </p:sp>
      </p:grpSp>
      <p:grpSp>
        <p:nvGrpSpPr>
          <p:cNvPr id="38" name="Group 38"/>
          <p:cNvGrpSpPr/>
          <p:nvPr/>
        </p:nvGrpSpPr>
        <p:grpSpPr>
          <a:xfrm>
            <a:off x="1405072" y="3435009"/>
            <a:ext cx="788244" cy="387442"/>
            <a:chOff x="0" y="0"/>
            <a:chExt cx="749300" cy="368300"/>
          </a:xfrm>
        </p:grpSpPr>
        <p:sp>
          <p:nvSpPr>
            <p:cNvPr id="39" name="Freeform 39"/>
            <p:cNvSpPr/>
            <p:nvPr/>
          </p:nvSpPr>
          <p:spPr>
            <a:xfrm>
              <a:off x="0" y="0"/>
              <a:ext cx="749300" cy="368300"/>
            </a:xfrm>
            <a:custGeom>
              <a:avLst/>
              <a:gdLst/>
              <a:ahLst/>
              <a:cxnLst/>
              <a:rect l="l" t="t" r="r" b="b"/>
              <a:pathLst>
                <a:path w="749300" h="368300">
                  <a:moveTo>
                    <a:pt x="302595" y="0"/>
                  </a:moveTo>
                  <a:cubicBezTo>
                    <a:pt x="374793" y="0"/>
                    <a:pt x="438128" y="31965"/>
                    <a:pt x="473774" y="80008"/>
                  </a:cubicBezTo>
                  <a:cubicBezTo>
                    <a:pt x="505094" y="62401"/>
                    <a:pt x="543878" y="57997"/>
                    <a:pt x="580502" y="71168"/>
                  </a:cubicBezTo>
                  <a:cubicBezTo>
                    <a:pt x="621377" y="85869"/>
                    <a:pt x="649916" y="119006"/>
                    <a:pt x="659931" y="157438"/>
                  </a:cubicBezTo>
                  <a:cubicBezTo>
                    <a:pt x="710698" y="166149"/>
                    <a:pt x="749297" y="209658"/>
                    <a:pt x="749300" y="262058"/>
                  </a:cubicBezTo>
                  <a:cubicBezTo>
                    <a:pt x="749300" y="320733"/>
                    <a:pt x="700914" y="368299"/>
                    <a:pt x="641228" y="368300"/>
                  </a:cubicBezTo>
                  <a:lnTo>
                    <a:pt x="108072" y="368300"/>
                  </a:lnTo>
                  <a:cubicBezTo>
                    <a:pt x="44877" y="368299"/>
                    <a:pt x="0" y="326606"/>
                    <a:pt x="0" y="262058"/>
                  </a:cubicBezTo>
                  <a:cubicBezTo>
                    <a:pt x="3" y="205539"/>
                    <a:pt x="44902" y="159334"/>
                    <a:pt x="101548" y="156017"/>
                  </a:cubicBezTo>
                  <a:cubicBezTo>
                    <a:pt x="109980" y="68673"/>
                    <a:pt x="196766" y="3"/>
                    <a:pt x="302595" y="0"/>
                  </a:cubicBezTo>
                  <a:close/>
                </a:path>
              </a:pathLst>
            </a:custGeom>
            <a:solidFill>
              <a:srgbClr val="D9D9D9"/>
            </a:solidFill>
            <a:ln w="9525" cap="sq">
              <a:solidFill>
                <a:srgbClr val="000000"/>
              </a:solidFill>
              <a:prstDash val="dash"/>
              <a:miter/>
            </a:ln>
          </p:spPr>
        </p:sp>
        <p:sp>
          <p:nvSpPr>
            <p:cNvPr id="40" name="TextBox 40"/>
            <p:cNvSpPr txBox="1"/>
            <p:nvPr/>
          </p:nvSpPr>
          <p:spPr>
            <a:xfrm>
              <a:off x="127000" y="63500"/>
              <a:ext cx="469900" cy="304800"/>
            </a:xfrm>
            <a:prstGeom prst="rect">
              <a:avLst/>
            </a:prstGeom>
          </p:spPr>
          <p:txBody>
            <a:bodyPr lIns="50800" tIns="50800" rIns="50800" bIns="50800" rtlCol="0" anchor="ctr"/>
            <a:lstStyle/>
            <a:p>
              <a:pPr algn="ctr">
                <a:lnSpc>
                  <a:spcPts val="980"/>
                </a:lnSpc>
              </a:pPr>
              <a:endParaRPr/>
            </a:p>
          </p:txBody>
        </p:sp>
      </p:grpSp>
      <p:grpSp>
        <p:nvGrpSpPr>
          <p:cNvPr id="41" name="Group 41"/>
          <p:cNvGrpSpPr/>
          <p:nvPr/>
        </p:nvGrpSpPr>
        <p:grpSpPr>
          <a:xfrm>
            <a:off x="2193316" y="2631605"/>
            <a:ext cx="890517" cy="437712"/>
            <a:chOff x="0" y="0"/>
            <a:chExt cx="749300" cy="368300"/>
          </a:xfrm>
        </p:grpSpPr>
        <p:sp>
          <p:nvSpPr>
            <p:cNvPr id="42" name="Freeform 42"/>
            <p:cNvSpPr/>
            <p:nvPr/>
          </p:nvSpPr>
          <p:spPr>
            <a:xfrm>
              <a:off x="0" y="0"/>
              <a:ext cx="749300" cy="368300"/>
            </a:xfrm>
            <a:custGeom>
              <a:avLst/>
              <a:gdLst/>
              <a:ahLst/>
              <a:cxnLst/>
              <a:rect l="l" t="t" r="r" b="b"/>
              <a:pathLst>
                <a:path w="749300" h="368300">
                  <a:moveTo>
                    <a:pt x="302595" y="0"/>
                  </a:moveTo>
                  <a:cubicBezTo>
                    <a:pt x="374793" y="0"/>
                    <a:pt x="438128" y="31965"/>
                    <a:pt x="473774" y="80008"/>
                  </a:cubicBezTo>
                  <a:cubicBezTo>
                    <a:pt x="505094" y="62401"/>
                    <a:pt x="543878" y="57997"/>
                    <a:pt x="580502" y="71168"/>
                  </a:cubicBezTo>
                  <a:cubicBezTo>
                    <a:pt x="621377" y="85869"/>
                    <a:pt x="649916" y="119006"/>
                    <a:pt x="659931" y="157438"/>
                  </a:cubicBezTo>
                  <a:cubicBezTo>
                    <a:pt x="710698" y="166149"/>
                    <a:pt x="749297" y="209658"/>
                    <a:pt x="749300" y="262058"/>
                  </a:cubicBezTo>
                  <a:cubicBezTo>
                    <a:pt x="749300" y="320733"/>
                    <a:pt x="700914" y="368299"/>
                    <a:pt x="641228" y="368300"/>
                  </a:cubicBezTo>
                  <a:lnTo>
                    <a:pt x="108072" y="368300"/>
                  </a:lnTo>
                  <a:cubicBezTo>
                    <a:pt x="44877" y="368299"/>
                    <a:pt x="0" y="326606"/>
                    <a:pt x="0" y="262058"/>
                  </a:cubicBezTo>
                  <a:cubicBezTo>
                    <a:pt x="3" y="205539"/>
                    <a:pt x="44902" y="159334"/>
                    <a:pt x="101548" y="156017"/>
                  </a:cubicBezTo>
                  <a:cubicBezTo>
                    <a:pt x="109980" y="68673"/>
                    <a:pt x="196766" y="3"/>
                    <a:pt x="302595" y="0"/>
                  </a:cubicBezTo>
                  <a:close/>
                </a:path>
              </a:pathLst>
            </a:custGeom>
            <a:solidFill>
              <a:srgbClr val="D9D9D9"/>
            </a:solidFill>
            <a:ln w="9525" cap="sq">
              <a:solidFill>
                <a:srgbClr val="000000"/>
              </a:solidFill>
              <a:prstDash val="dash"/>
              <a:miter/>
            </a:ln>
          </p:spPr>
        </p:sp>
        <p:sp>
          <p:nvSpPr>
            <p:cNvPr id="43" name="TextBox 43"/>
            <p:cNvSpPr txBox="1"/>
            <p:nvPr/>
          </p:nvSpPr>
          <p:spPr>
            <a:xfrm>
              <a:off x="127000" y="63500"/>
              <a:ext cx="469900" cy="304800"/>
            </a:xfrm>
            <a:prstGeom prst="rect">
              <a:avLst/>
            </a:prstGeom>
          </p:spPr>
          <p:txBody>
            <a:bodyPr lIns="50800" tIns="50800" rIns="50800" bIns="50800" rtlCol="0" anchor="ctr"/>
            <a:lstStyle/>
            <a:p>
              <a:pPr algn="ctr">
                <a:lnSpc>
                  <a:spcPts val="980"/>
                </a:lnSpc>
              </a:pPr>
              <a:endParaRPr/>
            </a:p>
          </p:txBody>
        </p:sp>
      </p:grpSp>
      <p:grpSp>
        <p:nvGrpSpPr>
          <p:cNvPr id="44" name="Group 44"/>
          <p:cNvGrpSpPr/>
          <p:nvPr/>
        </p:nvGrpSpPr>
        <p:grpSpPr>
          <a:xfrm>
            <a:off x="2476304" y="3270433"/>
            <a:ext cx="669652" cy="329151"/>
            <a:chOff x="0" y="0"/>
            <a:chExt cx="749300" cy="368300"/>
          </a:xfrm>
        </p:grpSpPr>
        <p:sp>
          <p:nvSpPr>
            <p:cNvPr id="45" name="Freeform 45"/>
            <p:cNvSpPr/>
            <p:nvPr/>
          </p:nvSpPr>
          <p:spPr>
            <a:xfrm>
              <a:off x="0" y="0"/>
              <a:ext cx="749300" cy="368300"/>
            </a:xfrm>
            <a:custGeom>
              <a:avLst/>
              <a:gdLst/>
              <a:ahLst/>
              <a:cxnLst/>
              <a:rect l="l" t="t" r="r" b="b"/>
              <a:pathLst>
                <a:path w="749300" h="368300">
                  <a:moveTo>
                    <a:pt x="302595" y="0"/>
                  </a:moveTo>
                  <a:cubicBezTo>
                    <a:pt x="374793" y="0"/>
                    <a:pt x="438128" y="31965"/>
                    <a:pt x="473774" y="80008"/>
                  </a:cubicBezTo>
                  <a:cubicBezTo>
                    <a:pt x="505094" y="62401"/>
                    <a:pt x="543878" y="57997"/>
                    <a:pt x="580502" y="71168"/>
                  </a:cubicBezTo>
                  <a:cubicBezTo>
                    <a:pt x="621377" y="85869"/>
                    <a:pt x="649916" y="119006"/>
                    <a:pt x="659931" y="157438"/>
                  </a:cubicBezTo>
                  <a:cubicBezTo>
                    <a:pt x="710698" y="166149"/>
                    <a:pt x="749297" y="209658"/>
                    <a:pt x="749300" y="262058"/>
                  </a:cubicBezTo>
                  <a:cubicBezTo>
                    <a:pt x="749300" y="320733"/>
                    <a:pt x="700914" y="368299"/>
                    <a:pt x="641228" y="368300"/>
                  </a:cubicBezTo>
                  <a:lnTo>
                    <a:pt x="108072" y="368300"/>
                  </a:lnTo>
                  <a:cubicBezTo>
                    <a:pt x="44877" y="368299"/>
                    <a:pt x="0" y="326606"/>
                    <a:pt x="0" y="262058"/>
                  </a:cubicBezTo>
                  <a:cubicBezTo>
                    <a:pt x="3" y="205539"/>
                    <a:pt x="44902" y="159334"/>
                    <a:pt x="101548" y="156017"/>
                  </a:cubicBezTo>
                  <a:cubicBezTo>
                    <a:pt x="109980" y="68673"/>
                    <a:pt x="196766" y="3"/>
                    <a:pt x="302595" y="0"/>
                  </a:cubicBezTo>
                  <a:close/>
                </a:path>
              </a:pathLst>
            </a:custGeom>
            <a:solidFill>
              <a:srgbClr val="D9D9D9"/>
            </a:solidFill>
            <a:ln w="9525" cap="sq">
              <a:solidFill>
                <a:srgbClr val="000000"/>
              </a:solidFill>
              <a:prstDash val="sysDot"/>
              <a:miter/>
            </a:ln>
          </p:spPr>
        </p:sp>
        <p:sp>
          <p:nvSpPr>
            <p:cNvPr id="46" name="TextBox 46"/>
            <p:cNvSpPr txBox="1"/>
            <p:nvPr/>
          </p:nvSpPr>
          <p:spPr>
            <a:xfrm>
              <a:off x="127000" y="63500"/>
              <a:ext cx="469900" cy="304800"/>
            </a:xfrm>
            <a:prstGeom prst="rect">
              <a:avLst/>
            </a:prstGeom>
          </p:spPr>
          <p:txBody>
            <a:bodyPr lIns="50800" tIns="50800" rIns="50800" bIns="50800" rtlCol="0" anchor="ctr"/>
            <a:lstStyle/>
            <a:p>
              <a:pPr algn="ctr">
                <a:lnSpc>
                  <a:spcPts val="980"/>
                </a:lnSpc>
              </a:pPr>
              <a:endParaRPr/>
            </a:p>
          </p:txBody>
        </p:sp>
      </p:grpSp>
      <p:grpSp>
        <p:nvGrpSpPr>
          <p:cNvPr id="47" name="Group 47"/>
          <p:cNvGrpSpPr/>
          <p:nvPr/>
        </p:nvGrpSpPr>
        <p:grpSpPr>
          <a:xfrm>
            <a:off x="3738769" y="1276081"/>
            <a:ext cx="2959760" cy="706663"/>
            <a:chOff x="0" y="0"/>
            <a:chExt cx="543171" cy="129686"/>
          </a:xfrm>
        </p:grpSpPr>
        <p:sp>
          <p:nvSpPr>
            <p:cNvPr id="48" name="Freeform 48"/>
            <p:cNvSpPr/>
            <p:nvPr/>
          </p:nvSpPr>
          <p:spPr>
            <a:xfrm>
              <a:off x="0" y="0"/>
              <a:ext cx="543171" cy="129686"/>
            </a:xfrm>
            <a:custGeom>
              <a:avLst/>
              <a:gdLst/>
              <a:ahLst/>
              <a:cxnLst/>
              <a:rect l="l" t="t" r="r" b="b"/>
              <a:pathLst>
                <a:path w="543171" h="129686">
                  <a:moveTo>
                    <a:pt x="0" y="0"/>
                  </a:moveTo>
                  <a:lnTo>
                    <a:pt x="543171" y="0"/>
                  </a:lnTo>
                  <a:lnTo>
                    <a:pt x="543171" y="129686"/>
                  </a:lnTo>
                  <a:lnTo>
                    <a:pt x="0" y="129686"/>
                  </a:lnTo>
                  <a:close/>
                </a:path>
              </a:pathLst>
            </a:custGeom>
            <a:solidFill>
              <a:srgbClr val="D4E7BC"/>
            </a:solidFill>
          </p:spPr>
        </p:sp>
        <p:sp>
          <p:nvSpPr>
            <p:cNvPr id="49" name="TextBox 49"/>
            <p:cNvSpPr txBox="1"/>
            <p:nvPr/>
          </p:nvSpPr>
          <p:spPr>
            <a:xfrm>
              <a:off x="0" y="-47625"/>
              <a:ext cx="543171" cy="177311"/>
            </a:xfrm>
            <a:prstGeom prst="rect">
              <a:avLst/>
            </a:prstGeom>
          </p:spPr>
          <p:txBody>
            <a:bodyPr lIns="50800" tIns="50800" rIns="50800" bIns="50800" rtlCol="0" anchor="ctr"/>
            <a:lstStyle/>
            <a:p>
              <a:pPr algn="ctr">
                <a:lnSpc>
                  <a:spcPts val="3131"/>
                </a:lnSpc>
              </a:pPr>
              <a:endParaRPr/>
            </a:p>
          </p:txBody>
        </p:sp>
      </p:grpSp>
      <p:grpSp>
        <p:nvGrpSpPr>
          <p:cNvPr id="50" name="Group 50"/>
          <p:cNvGrpSpPr/>
          <p:nvPr/>
        </p:nvGrpSpPr>
        <p:grpSpPr>
          <a:xfrm>
            <a:off x="3738769" y="1982744"/>
            <a:ext cx="2959760" cy="6269382"/>
            <a:chOff x="0" y="0"/>
            <a:chExt cx="543171" cy="1150547"/>
          </a:xfrm>
        </p:grpSpPr>
        <p:sp>
          <p:nvSpPr>
            <p:cNvPr id="51" name="Freeform 51"/>
            <p:cNvSpPr/>
            <p:nvPr/>
          </p:nvSpPr>
          <p:spPr>
            <a:xfrm>
              <a:off x="0" y="0"/>
              <a:ext cx="543171" cy="1150547"/>
            </a:xfrm>
            <a:custGeom>
              <a:avLst/>
              <a:gdLst/>
              <a:ahLst/>
              <a:cxnLst/>
              <a:rect l="l" t="t" r="r" b="b"/>
              <a:pathLst>
                <a:path w="543171" h="1150547">
                  <a:moveTo>
                    <a:pt x="0" y="0"/>
                  </a:moveTo>
                  <a:lnTo>
                    <a:pt x="543171" y="0"/>
                  </a:lnTo>
                  <a:lnTo>
                    <a:pt x="543171" y="1150547"/>
                  </a:lnTo>
                  <a:lnTo>
                    <a:pt x="0" y="1150547"/>
                  </a:lnTo>
                  <a:close/>
                </a:path>
              </a:pathLst>
            </a:custGeom>
            <a:solidFill>
              <a:srgbClr val="E4FFC2"/>
            </a:solidFill>
          </p:spPr>
        </p:sp>
        <p:sp>
          <p:nvSpPr>
            <p:cNvPr id="52" name="TextBox 52"/>
            <p:cNvSpPr txBox="1"/>
            <p:nvPr/>
          </p:nvSpPr>
          <p:spPr>
            <a:xfrm>
              <a:off x="0" y="-47625"/>
              <a:ext cx="543171" cy="1198172"/>
            </a:xfrm>
            <a:prstGeom prst="rect">
              <a:avLst/>
            </a:prstGeom>
          </p:spPr>
          <p:txBody>
            <a:bodyPr lIns="50800" tIns="50800" rIns="50800" bIns="50800" rtlCol="0" anchor="ctr"/>
            <a:lstStyle/>
            <a:p>
              <a:pPr algn="ctr">
                <a:lnSpc>
                  <a:spcPts val="3131"/>
                </a:lnSpc>
              </a:pPr>
              <a:endParaRPr/>
            </a:p>
          </p:txBody>
        </p:sp>
      </p:grpSp>
      <p:grpSp>
        <p:nvGrpSpPr>
          <p:cNvPr id="53" name="Group 53"/>
          <p:cNvGrpSpPr/>
          <p:nvPr/>
        </p:nvGrpSpPr>
        <p:grpSpPr>
          <a:xfrm>
            <a:off x="3875466" y="2585276"/>
            <a:ext cx="2694002" cy="4749061"/>
            <a:chOff x="0" y="0"/>
            <a:chExt cx="465955" cy="821399"/>
          </a:xfrm>
        </p:grpSpPr>
        <p:sp>
          <p:nvSpPr>
            <p:cNvPr id="54" name="Freeform 54"/>
            <p:cNvSpPr/>
            <p:nvPr/>
          </p:nvSpPr>
          <p:spPr>
            <a:xfrm>
              <a:off x="0" y="0"/>
              <a:ext cx="465955" cy="821399"/>
            </a:xfrm>
            <a:custGeom>
              <a:avLst/>
              <a:gdLst/>
              <a:ahLst/>
              <a:cxnLst/>
              <a:rect l="l" t="t" r="r" b="b"/>
              <a:pathLst>
                <a:path w="465955" h="821399">
                  <a:moveTo>
                    <a:pt x="146562" y="0"/>
                  </a:moveTo>
                  <a:lnTo>
                    <a:pt x="319393" y="0"/>
                  </a:lnTo>
                  <a:cubicBezTo>
                    <a:pt x="358264" y="0"/>
                    <a:pt x="395543" y="15441"/>
                    <a:pt x="423028" y="42927"/>
                  </a:cubicBezTo>
                  <a:cubicBezTo>
                    <a:pt x="450514" y="70413"/>
                    <a:pt x="465955" y="107691"/>
                    <a:pt x="465955" y="146562"/>
                  </a:cubicBezTo>
                  <a:lnTo>
                    <a:pt x="465955" y="674837"/>
                  </a:lnTo>
                  <a:cubicBezTo>
                    <a:pt x="465955" y="713708"/>
                    <a:pt x="450514" y="750986"/>
                    <a:pt x="423028" y="778472"/>
                  </a:cubicBezTo>
                  <a:cubicBezTo>
                    <a:pt x="395543" y="805957"/>
                    <a:pt x="358264" y="821399"/>
                    <a:pt x="319393" y="821399"/>
                  </a:cubicBezTo>
                  <a:lnTo>
                    <a:pt x="146562" y="821399"/>
                  </a:lnTo>
                  <a:cubicBezTo>
                    <a:pt x="107691" y="821399"/>
                    <a:pt x="70413" y="805957"/>
                    <a:pt x="42927" y="778472"/>
                  </a:cubicBezTo>
                  <a:cubicBezTo>
                    <a:pt x="15441" y="750986"/>
                    <a:pt x="0" y="713708"/>
                    <a:pt x="0" y="674837"/>
                  </a:cubicBezTo>
                  <a:lnTo>
                    <a:pt x="0" y="146562"/>
                  </a:lnTo>
                  <a:cubicBezTo>
                    <a:pt x="0" y="107691"/>
                    <a:pt x="15441" y="70413"/>
                    <a:pt x="42927" y="42927"/>
                  </a:cubicBezTo>
                  <a:cubicBezTo>
                    <a:pt x="70413" y="15441"/>
                    <a:pt x="107691" y="0"/>
                    <a:pt x="146562" y="0"/>
                  </a:cubicBezTo>
                  <a:close/>
                </a:path>
              </a:pathLst>
            </a:custGeom>
            <a:solidFill>
              <a:srgbClr val="8DCE92"/>
            </a:solidFill>
            <a:ln w="19050" cap="rnd">
              <a:solidFill>
                <a:srgbClr val="000000"/>
              </a:solidFill>
              <a:prstDash val="sysDot"/>
              <a:round/>
            </a:ln>
          </p:spPr>
        </p:sp>
        <p:sp>
          <p:nvSpPr>
            <p:cNvPr id="55" name="TextBox 55"/>
            <p:cNvSpPr txBox="1"/>
            <p:nvPr/>
          </p:nvSpPr>
          <p:spPr>
            <a:xfrm>
              <a:off x="0" y="-47625"/>
              <a:ext cx="465955" cy="869024"/>
            </a:xfrm>
            <a:prstGeom prst="rect">
              <a:avLst/>
            </a:prstGeom>
          </p:spPr>
          <p:txBody>
            <a:bodyPr lIns="50800" tIns="50800" rIns="50800" bIns="50800" rtlCol="0" anchor="ctr"/>
            <a:lstStyle/>
            <a:p>
              <a:pPr algn="ctr">
                <a:lnSpc>
                  <a:spcPts val="3131"/>
                </a:lnSpc>
              </a:pPr>
              <a:endParaRPr/>
            </a:p>
          </p:txBody>
        </p:sp>
      </p:grpSp>
      <p:grpSp>
        <p:nvGrpSpPr>
          <p:cNvPr id="56" name="Group 56"/>
          <p:cNvGrpSpPr/>
          <p:nvPr/>
        </p:nvGrpSpPr>
        <p:grpSpPr>
          <a:xfrm>
            <a:off x="4024636" y="4379470"/>
            <a:ext cx="2395663" cy="719662"/>
            <a:chOff x="0" y="0"/>
            <a:chExt cx="1055509" cy="317077"/>
          </a:xfrm>
        </p:grpSpPr>
        <p:sp>
          <p:nvSpPr>
            <p:cNvPr id="57" name="Freeform 57"/>
            <p:cNvSpPr/>
            <p:nvPr/>
          </p:nvSpPr>
          <p:spPr>
            <a:xfrm>
              <a:off x="0" y="0"/>
              <a:ext cx="1055509" cy="317077"/>
            </a:xfrm>
            <a:custGeom>
              <a:avLst/>
              <a:gdLst/>
              <a:ahLst/>
              <a:cxnLst/>
              <a:rect l="l" t="t" r="r" b="b"/>
              <a:pathLst>
                <a:path w="1055509" h="317077">
                  <a:moveTo>
                    <a:pt x="55544" y="0"/>
                  </a:moveTo>
                  <a:lnTo>
                    <a:pt x="999965" y="0"/>
                  </a:lnTo>
                  <a:cubicBezTo>
                    <a:pt x="1014696" y="0"/>
                    <a:pt x="1028824" y="5852"/>
                    <a:pt x="1039240" y="16268"/>
                  </a:cubicBezTo>
                  <a:cubicBezTo>
                    <a:pt x="1049657" y="26685"/>
                    <a:pt x="1055509" y="40813"/>
                    <a:pt x="1055509" y="55544"/>
                  </a:cubicBezTo>
                  <a:lnTo>
                    <a:pt x="1055509" y="261533"/>
                  </a:lnTo>
                  <a:cubicBezTo>
                    <a:pt x="1055509" y="276264"/>
                    <a:pt x="1049657" y="290392"/>
                    <a:pt x="1039240" y="300808"/>
                  </a:cubicBezTo>
                  <a:cubicBezTo>
                    <a:pt x="1028824" y="311225"/>
                    <a:pt x="1014696" y="317077"/>
                    <a:pt x="999965" y="317077"/>
                  </a:cubicBezTo>
                  <a:lnTo>
                    <a:pt x="55544" y="317077"/>
                  </a:lnTo>
                  <a:cubicBezTo>
                    <a:pt x="40813" y="317077"/>
                    <a:pt x="26685" y="311225"/>
                    <a:pt x="16268" y="300808"/>
                  </a:cubicBezTo>
                  <a:cubicBezTo>
                    <a:pt x="5852" y="290392"/>
                    <a:pt x="0" y="276264"/>
                    <a:pt x="0" y="261533"/>
                  </a:cubicBezTo>
                  <a:lnTo>
                    <a:pt x="0" y="55544"/>
                  </a:lnTo>
                  <a:cubicBezTo>
                    <a:pt x="0" y="40813"/>
                    <a:pt x="5852" y="26685"/>
                    <a:pt x="16268" y="16268"/>
                  </a:cubicBezTo>
                  <a:cubicBezTo>
                    <a:pt x="26685" y="5852"/>
                    <a:pt x="40813" y="0"/>
                    <a:pt x="55544" y="0"/>
                  </a:cubicBezTo>
                  <a:close/>
                </a:path>
              </a:pathLst>
            </a:custGeom>
            <a:solidFill>
              <a:srgbClr val="D4E7BC"/>
            </a:solidFill>
          </p:spPr>
        </p:sp>
        <p:sp>
          <p:nvSpPr>
            <p:cNvPr id="58" name="TextBox 58"/>
            <p:cNvSpPr txBox="1"/>
            <p:nvPr/>
          </p:nvSpPr>
          <p:spPr>
            <a:xfrm>
              <a:off x="0" y="-38100"/>
              <a:ext cx="1055509" cy="355177"/>
            </a:xfrm>
            <a:prstGeom prst="rect">
              <a:avLst/>
            </a:prstGeom>
          </p:spPr>
          <p:txBody>
            <a:bodyPr lIns="50800" tIns="50800" rIns="50800" bIns="50800" rtlCol="0" anchor="ctr"/>
            <a:lstStyle/>
            <a:p>
              <a:pPr algn="ctr">
                <a:lnSpc>
                  <a:spcPts val="1539"/>
                </a:lnSpc>
              </a:pPr>
              <a:r>
                <a:rPr lang="en-US" sz="1099" b="1" spc="25">
                  <a:solidFill>
                    <a:srgbClr val="3D1700"/>
                  </a:solidFill>
                  <a:latin typeface="Caladea Bold"/>
                  <a:ea typeface="Caladea Bold"/>
                  <a:cs typeface="Caladea Bold"/>
                  <a:sym typeface="Caladea Bold"/>
                </a:rPr>
                <a:t>Jurisdiction Toggle</a:t>
              </a:r>
            </a:p>
            <a:p>
              <a:pPr algn="ctr">
                <a:lnSpc>
                  <a:spcPts val="1539"/>
                </a:lnSpc>
              </a:pPr>
              <a:r>
                <a:rPr lang="en-US" sz="1099" spc="25">
                  <a:solidFill>
                    <a:srgbClr val="3D1700"/>
                  </a:solidFill>
                  <a:latin typeface="Caladea"/>
                  <a:ea typeface="Caladea"/>
                  <a:cs typeface="Caladea"/>
                  <a:sym typeface="Caladea"/>
                </a:rPr>
                <a:t>(switch between India and international legal context)</a:t>
              </a:r>
            </a:p>
          </p:txBody>
        </p:sp>
      </p:grpSp>
      <p:grpSp>
        <p:nvGrpSpPr>
          <p:cNvPr id="59" name="Group 59"/>
          <p:cNvGrpSpPr/>
          <p:nvPr/>
        </p:nvGrpSpPr>
        <p:grpSpPr>
          <a:xfrm>
            <a:off x="4024636" y="5247348"/>
            <a:ext cx="2395663" cy="719662"/>
            <a:chOff x="0" y="0"/>
            <a:chExt cx="1055509" cy="317077"/>
          </a:xfrm>
        </p:grpSpPr>
        <p:sp>
          <p:nvSpPr>
            <p:cNvPr id="60" name="Freeform 60"/>
            <p:cNvSpPr/>
            <p:nvPr/>
          </p:nvSpPr>
          <p:spPr>
            <a:xfrm>
              <a:off x="0" y="0"/>
              <a:ext cx="1055509" cy="317077"/>
            </a:xfrm>
            <a:custGeom>
              <a:avLst/>
              <a:gdLst/>
              <a:ahLst/>
              <a:cxnLst/>
              <a:rect l="l" t="t" r="r" b="b"/>
              <a:pathLst>
                <a:path w="1055509" h="317077">
                  <a:moveTo>
                    <a:pt x="55544" y="0"/>
                  </a:moveTo>
                  <a:lnTo>
                    <a:pt x="999965" y="0"/>
                  </a:lnTo>
                  <a:cubicBezTo>
                    <a:pt x="1014696" y="0"/>
                    <a:pt x="1028824" y="5852"/>
                    <a:pt x="1039240" y="16268"/>
                  </a:cubicBezTo>
                  <a:cubicBezTo>
                    <a:pt x="1049657" y="26685"/>
                    <a:pt x="1055509" y="40813"/>
                    <a:pt x="1055509" y="55544"/>
                  </a:cubicBezTo>
                  <a:lnTo>
                    <a:pt x="1055509" y="261533"/>
                  </a:lnTo>
                  <a:cubicBezTo>
                    <a:pt x="1055509" y="276264"/>
                    <a:pt x="1049657" y="290392"/>
                    <a:pt x="1039240" y="300808"/>
                  </a:cubicBezTo>
                  <a:cubicBezTo>
                    <a:pt x="1028824" y="311225"/>
                    <a:pt x="1014696" y="317077"/>
                    <a:pt x="999965" y="317077"/>
                  </a:cubicBezTo>
                  <a:lnTo>
                    <a:pt x="55544" y="317077"/>
                  </a:lnTo>
                  <a:cubicBezTo>
                    <a:pt x="40813" y="317077"/>
                    <a:pt x="26685" y="311225"/>
                    <a:pt x="16268" y="300808"/>
                  </a:cubicBezTo>
                  <a:cubicBezTo>
                    <a:pt x="5852" y="290392"/>
                    <a:pt x="0" y="276264"/>
                    <a:pt x="0" y="261533"/>
                  </a:cubicBezTo>
                  <a:lnTo>
                    <a:pt x="0" y="55544"/>
                  </a:lnTo>
                  <a:cubicBezTo>
                    <a:pt x="0" y="40813"/>
                    <a:pt x="5852" y="26685"/>
                    <a:pt x="16268" y="16268"/>
                  </a:cubicBezTo>
                  <a:cubicBezTo>
                    <a:pt x="26685" y="5852"/>
                    <a:pt x="40813" y="0"/>
                    <a:pt x="55544" y="0"/>
                  </a:cubicBezTo>
                  <a:close/>
                </a:path>
              </a:pathLst>
            </a:custGeom>
            <a:solidFill>
              <a:srgbClr val="D4E7BC"/>
            </a:solidFill>
          </p:spPr>
        </p:sp>
        <p:sp>
          <p:nvSpPr>
            <p:cNvPr id="61" name="TextBox 61"/>
            <p:cNvSpPr txBox="1"/>
            <p:nvPr/>
          </p:nvSpPr>
          <p:spPr>
            <a:xfrm>
              <a:off x="0" y="-38100"/>
              <a:ext cx="1055509" cy="355177"/>
            </a:xfrm>
            <a:prstGeom prst="rect">
              <a:avLst/>
            </a:prstGeom>
          </p:spPr>
          <p:txBody>
            <a:bodyPr lIns="50800" tIns="50800" rIns="50800" bIns="50800" rtlCol="0" anchor="ctr"/>
            <a:lstStyle/>
            <a:p>
              <a:pPr algn="ctr">
                <a:lnSpc>
                  <a:spcPts val="1609"/>
                </a:lnSpc>
              </a:pPr>
              <a:r>
                <a:rPr lang="en-US" sz="1149" b="1" spc="26">
                  <a:solidFill>
                    <a:srgbClr val="3D1700"/>
                  </a:solidFill>
                  <a:latin typeface="Caladea Bold"/>
                  <a:ea typeface="Caladea Bold"/>
                  <a:cs typeface="Caladea Bold"/>
                  <a:sym typeface="Caladea Bold"/>
                </a:rPr>
                <a:t>Explore tools</a:t>
              </a:r>
            </a:p>
            <a:p>
              <a:pPr algn="ctr">
                <a:lnSpc>
                  <a:spcPts val="1609"/>
                </a:lnSpc>
              </a:pPr>
              <a:r>
                <a:rPr lang="en-US" sz="1149" spc="26">
                  <a:solidFill>
                    <a:srgbClr val="3D1700"/>
                  </a:solidFill>
                  <a:latin typeface="Caladea"/>
                  <a:ea typeface="Caladea"/>
                  <a:cs typeface="Caladea"/>
                  <a:sym typeface="Caladea"/>
                </a:rPr>
                <a:t>(IP classification , access and benefits sharing helper)</a:t>
              </a:r>
            </a:p>
          </p:txBody>
        </p:sp>
      </p:grpSp>
      <p:grpSp>
        <p:nvGrpSpPr>
          <p:cNvPr id="62" name="Group 62"/>
          <p:cNvGrpSpPr/>
          <p:nvPr/>
        </p:nvGrpSpPr>
        <p:grpSpPr>
          <a:xfrm>
            <a:off x="4024636" y="6115227"/>
            <a:ext cx="2395663" cy="719662"/>
            <a:chOff x="0" y="0"/>
            <a:chExt cx="1055509" cy="317077"/>
          </a:xfrm>
        </p:grpSpPr>
        <p:sp>
          <p:nvSpPr>
            <p:cNvPr id="63" name="Freeform 63"/>
            <p:cNvSpPr/>
            <p:nvPr/>
          </p:nvSpPr>
          <p:spPr>
            <a:xfrm>
              <a:off x="0" y="0"/>
              <a:ext cx="1055509" cy="317077"/>
            </a:xfrm>
            <a:custGeom>
              <a:avLst/>
              <a:gdLst/>
              <a:ahLst/>
              <a:cxnLst/>
              <a:rect l="l" t="t" r="r" b="b"/>
              <a:pathLst>
                <a:path w="1055509" h="317077">
                  <a:moveTo>
                    <a:pt x="55544" y="0"/>
                  </a:moveTo>
                  <a:lnTo>
                    <a:pt x="999965" y="0"/>
                  </a:lnTo>
                  <a:cubicBezTo>
                    <a:pt x="1014696" y="0"/>
                    <a:pt x="1028824" y="5852"/>
                    <a:pt x="1039240" y="16268"/>
                  </a:cubicBezTo>
                  <a:cubicBezTo>
                    <a:pt x="1049657" y="26685"/>
                    <a:pt x="1055509" y="40813"/>
                    <a:pt x="1055509" y="55544"/>
                  </a:cubicBezTo>
                  <a:lnTo>
                    <a:pt x="1055509" y="261533"/>
                  </a:lnTo>
                  <a:cubicBezTo>
                    <a:pt x="1055509" y="276264"/>
                    <a:pt x="1049657" y="290392"/>
                    <a:pt x="1039240" y="300808"/>
                  </a:cubicBezTo>
                  <a:cubicBezTo>
                    <a:pt x="1028824" y="311225"/>
                    <a:pt x="1014696" y="317077"/>
                    <a:pt x="999965" y="317077"/>
                  </a:cubicBezTo>
                  <a:lnTo>
                    <a:pt x="55544" y="317077"/>
                  </a:lnTo>
                  <a:cubicBezTo>
                    <a:pt x="40813" y="317077"/>
                    <a:pt x="26685" y="311225"/>
                    <a:pt x="16268" y="300808"/>
                  </a:cubicBezTo>
                  <a:cubicBezTo>
                    <a:pt x="5852" y="290392"/>
                    <a:pt x="0" y="276264"/>
                    <a:pt x="0" y="261533"/>
                  </a:cubicBezTo>
                  <a:lnTo>
                    <a:pt x="0" y="55544"/>
                  </a:lnTo>
                  <a:cubicBezTo>
                    <a:pt x="0" y="40813"/>
                    <a:pt x="5852" y="26685"/>
                    <a:pt x="16268" y="16268"/>
                  </a:cubicBezTo>
                  <a:cubicBezTo>
                    <a:pt x="26685" y="5852"/>
                    <a:pt x="40813" y="0"/>
                    <a:pt x="55544" y="0"/>
                  </a:cubicBezTo>
                  <a:close/>
                </a:path>
              </a:pathLst>
            </a:custGeom>
            <a:solidFill>
              <a:srgbClr val="D4E7BC"/>
            </a:solidFill>
          </p:spPr>
        </p:sp>
        <p:sp>
          <p:nvSpPr>
            <p:cNvPr id="64" name="TextBox 64"/>
            <p:cNvSpPr txBox="1"/>
            <p:nvPr/>
          </p:nvSpPr>
          <p:spPr>
            <a:xfrm>
              <a:off x="0" y="-38100"/>
              <a:ext cx="1055509" cy="355177"/>
            </a:xfrm>
            <a:prstGeom prst="rect">
              <a:avLst/>
            </a:prstGeom>
          </p:spPr>
          <p:txBody>
            <a:bodyPr lIns="50800" tIns="50800" rIns="50800" bIns="50800" rtlCol="0" anchor="ctr"/>
            <a:lstStyle/>
            <a:p>
              <a:pPr algn="ctr">
                <a:lnSpc>
                  <a:spcPts val="1609"/>
                </a:lnSpc>
              </a:pPr>
              <a:r>
                <a:rPr lang="en-US" sz="1149" b="1" spc="26">
                  <a:solidFill>
                    <a:srgbClr val="3D1700"/>
                  </a:solidFill>
                  <a:latin typeface="Caladea Bold"/>
                  <a:ea typeface="Caladea Bold"/>
                  <a:cs typeface="Caladea Bold"/>
                  <a:sym typeface="Caladea Bold"/>
                </a:rPr>
                <a:t>Workspace and history</a:t>
              </a:r>
            </a:p>
            <a:p>
              <a:pPr algn="ctr">
                <a:lnSpc>
                  <a:spcPts val="1609"/>
                </a:lnSpc>
              </a:pPr>
              <a:r>
                <a:rPr lang="en-US" sz="1149" spc="26">
                  <a:solidFill>
                    <a:srgbClr val="3D1700"/>
                  </a:solidFill>
                  <a:latin typeface="Caladea"/>
                  <a:ea typeface="Caladea"/>
                  <a:cs typeface="Caladea"/>
                  <a:sym typeface="Caladea"/>
                </a:rPr>
                <a:t>(saved chat sessions, quick start guided prompts)</a:t>
              </a:r>
            </a:p>
          </p:txBody>
        </p:sp>
      </p:grpSp>
      <p:grpSp>
        <p:nvGrpSpPr>
          <p:cNvPr id="65" name="Group 65"/>
          <p:cNvGrpSpPr/>
          <p:nvPr/>
        </p:nvGrpSpPr>
        <p:grpSpPr>
          <a:xfrm>
            <a:off x="4024636" y="3406434"/>
            <a:ext cx="2395663" cy="719662"/>
            <a:chOff x="0" y="0"/>
            <a:chExt cx="1055509" cy="317077"/>
          </a:xfrm>
        </p:grpSpPr>
        <p:sp>
          <p:nvSpPr>
            <p:cNvPr id="66" name="Freeform 66"/>
            <p:cNvSpPr/>
            <p:nvPr/>
          </p:nvSpPr>
          <p:spPr>
            <a:xfrm>
              <a:off x="0" y="0"/>
              <a:ext cx="1055509" cy="317077"/>
            </a:xfrm>
            <a:custGeom>
              <a:avLst/>
              <a:gdLst/>
              <a:ahLst/>
              <a:cxnLst/>
              <a:rect l="l" t="t" r="r" b="b"/>
              <a:pathLst>
                <a:path w="1055509" h="317077">
                  <a:moveTo>
                    <a:pt x="55544" y="0"/>
                  </a:moveTo>
                  <a:lnTo>
                    <a:pt x="999965" y="0"/>
                  </a:lnTo>
                  <a:cubicBezTo>
                    <a:pt x="1014696" y="0"/>
                    <a:pt x="1028824" y="5852"/>
                    <a:pt x="1039240" y="16268"/>
                  </a:cubicBezTo>
                  <a:cubicBezTo>
                    <a:pt x="1049657" y="26685"/>
                    <a:pt x="1055509" y="40813"/>
                    <a:pt x="1055509" y="55544"/>
                  </a:cubicBezTo>
                  <a:lnTo>
                    <a:pt x="1055509" y="261533"/>
                  </a:lnTo>
                  <a:cubicBezTo>
                    <a:pt x="1055509" y="276264"/>
                    <a:pt x="1049657" y="290392"/>
                    <a:pt x="1039240" y="300808"/>
                  </a:cubicBezTo>
                  <a:cubicBezTo>
                    <a:pt x="1028824" y="311225"/>
                    <a:pt x="1014696" y="317077"/>
                    <a:pt x="999965" y="317077"/>
                  </a:cubicBezTo>
                  <a:lnTo>
                    <a:pt x="55544" y="317077"/>
                  </a:lnTo>
                  <a:cubicBezTo>
                    <a:pt x="40813" y="317077"/>
                    <a:pt x="26685" y="311225"/>
                    <a:pt x="16268" y="300808"/>
                  </a:cubicBezTo>
                  <a:cubicBezTo>
                    <a:pt x="5852" y="290392"/>
                    <a:pt x="0" y="276264"/>
                    <a:pt x="0" y="261533"/>
                  </a:cubicBezTo>
                  <a:lnTo>
                    <a:pt x="0" y="55544"/>
                  </a:lnTo>
                  <a:cubicBezTo>
                    <a:pt x="0" y="40813"/>
                    <a:pt x="5852" y="26685"/>
                    <a:pt x="16268" y="16268"/>
                  </a:cubicBezTo>
                  <a:cubicBezTo>
                    <a:pt x="26685" y="5852"/>
                    <a:pt x="40813" y="0"/>
                    <a:pt x="55544" y="0"/>
                  </a:cubicBezTo>
                  <a:close/>
                </a:path>
              </a:pathLst>
            </a:custGeom>
            <a:solidFill>
              <a:srgbClr val="D4E7BC"/>
            </a:solidFill>
          </p:spPr>
        </p:sp>
        <p:sp>
          <p:nvSpPr>
            <p:cNvPr id="67" name="TextBox 67"/>
            <p:cNvSpPr txBox="1"/>
            <p:nvPr/>
          </p:nvSpPr>
          <p:spPr>
            <a:xfrm>
              <a:off x="0" y="-28575"/>
              <a:ext cx="1055509" cy="345652"/>
            </a:xfrm>
            <a:prstGeom prst="rect">
              <a:avLst/>
            </a:prstGeom>
          </p:spPr>
          <p:txBody>
            <a:bodyPr lIns="50800" tIns="50800" rIns="50800" bIns="50800" rtlCol="0" anchor="ctr"/>
            <a:lstStyle/>
            <a:p>
              <a:pPr algn="ctr">
                <a:lnSpc>
                  <a:spcPts val="1889"/>
                </a:lnSpc>
              </a:pPr>
              <a:r>
                <a:rPr lang="en-US" sz="1349" b="1" spc="31">
                  <a:solidFill>
                    <a:srgbClr val="3D1700"/>
                  </a:solidFill>
                  <a:latin typeface="Caladea Bold"/>
                  <a:ea typeface="Caladea Bold"/>
                  <a:cs typeface="Caladea Bold"/>
                  <a:sym typeface="Caladea Bold"/>
                </a:rPr>
                <a:t>Reasearch assistant</a:t>
              </a:r>
            </a:p>
            <a:p>
              <a:pPr algn="ctr">
                <a:lnSpc>
                  <a:spcPts val="1889"/>
                </a:lnSpc>
              </a:pPr>
              <a:r>
                <a:rPr lang="en-US" sz="1349" spc="31">
                  <a:solidFill>
                    <a:srgbClr val="3D1700"/>
                  </a:solidFill>
                  <a:latin typeface="Caladea"/>
                  <a:ea typeface="Caladea"/>
                  <a:cs typeface="Caladea"/>
                  <a:sym typeface="Caladea"/>
                </a:rPr>
                <a:t>(multilingual chat interface)</a:t>
              </a:r>
            </a:p>
          </p:txBody>
        </p:sp>
      </p:grpSp>
      <p:sp>
        <p:nvSpPr>
          <p:cNvPr id="68" name="AutoShape 68"/>
          <p:cNvSpPr/>
          <p:nvPr/>
        </p:nvSpPr>
        <p:spPr>
          <a:xfrm>
            <a:off x="2524079" y="5558763"/>
            <a:ext cx="1351387" cy="0"/>
          </a:xfrm>
          <a:prstGeom prst="line">
            <a:avLst/>
          </a:prstGeom>
          <a:ln w="9525" cap="flat">
            <a:solidFill>
              <a:srgbClr val="000000"/>
            </a:solidFill>
            <a:prstDash val="solid"/>
            <a:headEnd type="none" w="sm" len="sm"/>
            <a:tailEnd type="triangle" w="lg" len="med"/>
          </a:ln>
        </p:spPr>
      </p:sp>
      <p:grpSp>
        <p:nvGrpSpPr>
          <p:cNvPr id="69" name="Group 69"/>
          <p:cNvGrpSpPr/>
          <p:nvPr/>
        </p:nvGrpSpPr>
        <p:grpSpPr>
          <a:xfrm>
            <a:off x="6794216" y="2024988"/>
            <a:ext cx="3120957" cy="6269382"/>
            <a:chOff x="0" y="0"/>
            <a:chExt cx="572753" cy="1150547"/>
          </a:xfrm>
        </p:grpSpPr>
        <p:sp>
          <p:nvSpPr>
            <p:cNvPr id="70" name="Freeform 70"/>
            <p:cNvSpPr/>
            <p:nvPr/>
          </p:nvSpPr>
          <p:spPr>
            <a:xfrm>
              <a:off x="0" y="0"/>
              <a:ext cx="572753" cy="1150547"/>
            </a:xfrm>
            <a:custGeom>
              <a:avLst/>
              <a:gdLst/>
              <a:ahLst/>
              <a:cxnLst/>
              <a:rect l="l" t="t" r="r" b="b"/>
              <a:pathLst>
                <a:path w="572753" h="1150547">
                  <a:moveTo>
                    <a:pt x="0" y="0"/>
                  </a:moveTo>
                  <a:lnTo>
                    <a:pt x="572753" y="0"/>
                  </a:lnTo>
                  <a:lnTo>
                    <a:pt x="572753" y="1150547"/>
                  </a:lnTo>
                  <a:lnTo>
                    <a:pt x="0" y="1150547"/>
                  </a:lnTo>
                  <a:close/>
                </a:path>
              </a:pathLst>
            </a:custGeom>
            <a:solidFill>
              <a:srgbClr val="C2CDFF"/>
            </a:solidFill>
          </p:spPr>
        </p:sp>
        <p:sp>
          <p:nvSpPr>
            <p:cNvPr id="71" name="TextBox 71"/>
            <p:cNvSpPr txBox="1"/>
            <p:nvPr/>
          </p:nvSpPr>
          <p:spPr>
            <a:xfrm>
              <a:off x="0" y="-47625"/>
              <a:ext cx="572753" cy="1198172"/>
            </a:xfrm>
            <a:prstGeom prst="rect">
              <a:avLst/>
            </a:prstGeom>
          </p:spPr>
          <p:txBody>
            <a:bodyPr lIns="50800" tIns="50800" rIns="50800" bIns="50800" rtlCol="0" anchor="ctr"/>
            <a:lstStyle/>
            <a:p>
              <a:pPr algn="ctr">
                <a:lnSpc>
                  <a:spcPts val="3131"/>
                </a:lnSpc>
              </a:pPr>
              <a:endParaRPr/>
            </a:p>
          </p:txBody>
        </p:sp>
      </p:grpSp>
      <p:grpSp>
        <p:nvGrpSpPr>
          <p:cNvPr id="72" name="Group 72"/>
          <p:cNvGrpSpPr/>
          <p:nvPr/>
        </p:nvGrpSpPr>
        <p:grpSpPr>
          <a:xfrm>
            <a:off x="6794216" y="1227630"/>
            <a:ext cx="3120957" cy="797358"/>
            <a:chOff x="0" y="0"/>
            <a:chExt cx="572753" cy="146330"/>
          </a:xfrm>
        </p:grpSpPr>
        <p:sp>
          <p:nvSpPr>
            <p:cNvPr id="73" name="Freeform 73"/>
            <p:cNvSpPr/>
            <p:nvPr/>
          </p:nvSpPr>
          <p:spPr>
            <a:xfrm>
              <a:off x="0" y="0"/>
              <a:ext cx="572753" cy="146330"/>
            </a:xfrm>
            <a:custGeom>
              <a:avLst/>
              <a:gdLst/>
              <a:ahLst/>
              <a:cxnLst/>
              <a:rect l="l" t="t" r="r" b="b"/>
              <a:pathLst>
                <a:path w="572753" h="146330">
                  <a:moveTo>
                    <a:pt x="0" y="0"/>
                  </a:moveTo>
                  <a:lnTo>
                    <a:pt x="572753" y="0"/>
                  </a:lnTo>
                  <a:lnTo>
                    <a:pt x="572753" y="146330"/>
                  </a:lnTo>
                  <a:lnTo>
                    <a:pt x="0" y="146330"/>
                  </a:lnTo>
                  <a:close/>
                </a:path>
              </a:pathLst>
            </a:custGeom>
            <a:solidFill>
              <a:srgbClr val="99ACFF"/>
            </a:solidFill>
          </p:spPr>
        </p:sp>
        <p:sp>
          <p:nvSpPr>
            <p:cNvPr id="74" name="TextBox 74"/>
            <p:cNvSpPr txBox="1"/>
            <p:nvPr/>
          </p:nvSpPr>
          <p:spPr>
            <a:xfrm>
              <a:off x="0" y="-47625"/>
              <a:ext cx="572753" cy="193955"/>
            </a:xfrm>
            <a:prstGeom prst="rect">
              <a:avLst/>
            </a:prstGeom>
          </p:spPr>
          <p:txBody>
            <a:bodyPr lIns="50800" tIns="50800" rIns="50800" bIns="50800" rtlCol="0" anchor="ctr"/>
            <a:lstStyle/>
            <a:p>
              <a:pPr algn="ctr">
                <a:lnSpc>
                  <a:spcPts val="3131"/>
                </a:lnSpc>
              </a:pPr>
              <a:endParaRPr/>
            </a:p>
          </p:txBody>
        </p:sp>
      </p:grpSp>
      <p:grpSp>
        <p:nvGrpSpPr>
          <p:cNvPr id="75" name="Group 75"/>
          <p:cNvGrpSpPr/>
          <p:nvPr/>
        </p:nvGrpSpPr>
        <p:grpSpPr>
          <a:xfrm>
            <a:off x="6944583" y="2428397"/>
            <a:ext cx="2839366" cy="5289802"/>
            <a:chOff x="0" y="0"/>
            <a:chExt cx="407091" cy="758419"/>
          </a:xfrm>
        </p:grpSpPr>
        <p:sp>
          <p:nvSpPr>
            <p:cNvPr id="76" name="Freeform 76"/>
            <p:cNvSpPr/>
            <p:nvPr/>
          </p:nvSpPr>
          <p:spPr>
            <a:xfrm>
              <a:off x="0" y="0"/>
              <a:ext cx="407091" cy="758419"/>
            </a:xfrm>
            <a:custGeom>
              <a:avLst/>
              <a:gdLst/>
              <a:ahLst/>
              <a:cxnLst/>
              <a:rect l="l" t="t" r="r" b="b"/>
              <a:pathLst>
                <a:path w="407091" h="758419">
                  <a:moveTo>
                    <a:pt x="53255" y="0"/>
                  </a:moveTo>
                  <a:lnTo>
                    <a:pt x="353836" y="0"/>
                  </a:lnTo>
                  <a:cubicBezTo>
                    <a:pt x="383248" y="0"/>
                    <a:pt x="407091" y="23843"/>
                    <a:pt x="407091" y="53255"/>
                  </a:cubicBezTo>
                  <a:lnTo>
                    <a:pt x="407091" y="705164"/>
                  </a:lnTo>
                  <a:cubicBezTo>
                    <a:pt x="407091" y="719288"/>
                    <a:pt x="401480" y="732834"/>
                    <a:pt x="391493" y="742821"/>
                  </a:cubicBezTo>
                  <a:cubicBezTo>
                    <a:pt x="381506" y="752808"/>
                    <a:pt x="367960" y="758419"/>
                    <a:pt x="353836" y="758419"/>
                  </a:cubicBezTo>
                  <a:lnTo>
                    <a:pt x="53255" y="758419"/>
                  </a:lnTo>
                  <a:cubicBezTo>
                    <a:pt x="23843" y="758419"/>
                    <a:pt x="0" y="734576"/>
                    <a:pt x="0" y="705164"/>
                  </a:cubicBezTo>
                  <a:lnTo>
                    <a:pt x="0" y="53255"/>
                  </a:lnTo>
                  <a:cubicBezTo>
                    <a:pt x="0" y="23843"/>
                    <a:pt x="23843" y="0"/>
                    <a:pt x="53255" y="0"/>
                  </a:cubicBezTo>
                  <a:close/>
                </a:path>
              </a:pathLst>
            </a:custGeom>
            <a:solidFill>
              <a:srgbClr val="D8DFFF"/>
            </a:solidFill>
            <a:ln w="19050" cap="rnd">
              <a:solidFill>
                <a:srgbClr val="000000"/>
              </a:solidFill>
              <a:prstDash val="sysDot"/>
              <a:round/>
            </a:ln>
          </p:spPr>
        </p:sp>
        <p:sp>
          <p:nvSpPr>
            <p:cNvPr id="77" name="TextBox 77"/>
            <p:cNvSpPr txBox="1"/>
            <p:nvPr/>
          </p:nvSpPr>
          <p:spPr>
            <a:xfrm>
              <a:off x="0" y="-47625"/>
              <a:ext cx="407091" cy="806044"/>
            </a:xfrm>
            <a:prstGeom prst="rect">
              <a:avLst/>
            </a:prstGeom>
          </p:spPr>
          <p:txBody>
            <a:bodyPr lIns="50800" tIns="50800" rIns="50800" bIns="50800" rtlCol="0" anchor="ctr"/>
            <a:lstStyle/>
            <a:p>
              <a:pPr algn="ctr">
                <a:lnSpc>
                  <a:spcPts val="3131"/>
                </a:lnSpc>
              </a:pPr>
              <a:endParaRPr/>
            </a:p>
          </p:txBody>
        </p:sp>
      </p:grpSp>
      <p:grpSp>
        <p:nvGrpSpPr>
          <p:cNvPr id="78" name="Group 78"/>
          <p:cNvGrpSpPr/>
          <p:nvPr/>
        </p:nvGrpSpPr>
        <p:grpSpPr>
          <a:xfrm>
            <a:off x="7438712" y="3249080"/>
            <a:ext cx="1851108" cy="517185"/>
            <a:chOff x="0" y="0"/>
            <a:chExt cx="812800" cy="227090"/>
          </a:xfrm>
        </p:grpSpPr>
        <p:sp>
          <p:nvSpPr>
            <p:cNvPr id="79" name="Freeform 79"/>
            <p:cNvSpPr/>
            <p:nvPr/>
          </p:nvSpPr>
          <p:spPr>
            <a:xfrm>
              <a:off x="0" y="0"/>
              <a:ext cx="812800" cy="227090"/>
            </a:xfrm>
            <a:custGeom>
              <a:avLst/>
              <a:gdLst/>
              <a:ahLst/>
              <a:cxnLst/>
              <a:rect l="l" t="t" r="r" b="b"/>
              <a:pathLst>
                <a:path w="812800" h="227090">
                  <a:moveTo>
                    <a:pt x="88493" y="0"/>
                  </a:moveTo>
                  <a:lnTo>
                    <a:pt x="724307" y="0"/>
                  </a:lnTo>
                  <a:cubicBezTo>
                    <a:pt x="747777" y="0"/>
                    <a:pt x="770285" y="9323"/>
                    <a:pt x="786881" y="25919"/>
                  </a:cubicBezTo>
                  <a:cubicBezTo>
                    <a:pt x="803477" y="42515"/>
                    <a:pt x="812800" y="65023"/>
                    <a:pt x="812800" y="88493"/>
                  </a:cubicBezTo>
                  <a:lnTo>
                    <a:pt x="812800" y="138597"/>
                  </a:lnTo>
                  <a:cubicBezTo>
                    <a:pt x="812800" y="162066"/>
                    <a:pt x="803477" y="184575"/>
                    <a:pt x="786881" y="201171"/>
                  </a:cubicBezTo>
                  <a:cubicBezTo>
                    <a:pt x="770285" y="217766"/>
                    <a:pt x="747777" y="227090"/>
                    <a:pt x="724307" y="227090"/>
                  </a:cubicBezTo>
                  <a:lnTo>
                    <a:pt x="88493" y="227090"/>
                  </a:lnTo>
                  <a:cubicBezTo>
                    <a:pt x="65023" y="227090"/>
                    <a:pt x="42515" y="217766"/>
                    <a:pt x="25919" y="201171"/>
                  </a:cubicBezTo>
                  <a:cubicBezTo>
                    <a:pt x="9323" y="184575"/>
                    <a:pt x="0" y="162066"/>
                    <a:pt x="0" y="138597"/>
                  </a:cubicBezTo>
                  <a:lnTo>
                    <a:pt x="0" y="88493"/>
                  </a:lnTo>
                  <a:cubicBezTo>
                    <a:pt x="0" y="65023"/>
                    <a:pt x="9323" y="42515"/>
                    <a:pt x="25919" y="25919"/>
                  </a:cubicBezTo>
                  <a:cubicBezTo>
                    <a:pt x="42515" y="9323"/>
                    <a:pt x="65023" y="0"/>
                    <a:pt x="88493" y="0"/>
                  </a:cubicBezTo>
                  <a:close/>
                </a:path>
              </a:pathLst>
            </a:custGeom>
            <a:solidFill>
              <a:srgbClr val="E2A9F1"/>
            </a:solidFill>
          </p:spPr>
        </p:sp>
        <p:sp>
          <p:nvSpPr>
            <p:cNvPr id="80" name="TextBox 80"/>
            <p:cNvSpPr txBox="1"/>
            <p:nvPr/>
          </p:nvSpPr>
          <p:spPr>
            <a:xfrm>
              <a:off x="0" y="-38100"/>
              <a:ext cx="812800" cy="265190"/>
            </a:xfrm>
            <a:prstGeom prst="rect">
              <a:avLst/>
            </a:prstGeom>
          </p:spPr>
          <p:txBody>
            <a:bodyPr lIns="50800" tIns="50800" rIns="50800" bIns="50800" rtlCol="0" anchor="ctr"/>
            <a:lstStyle/>
            <a:p>
              <a:pPr algn="ctr">
                <a:lnSpc>
                  <a:spcPts val="2520"/>
                </a:lnSpc>
              </a:pPr>
              <a:endParaRPr/>
            </a:p>
          </p:txBody>
        </p:sp>
      </p:grpSp>
      <p:grpSp>
        <p:nvGrpSpPr>
          <p:cNvPr id="81" name="Group 81"/>
          <p:cNvGrpSpPr/>
          <p:nvPr/>
        </p:nvGrpSpPr>
        <p:grpSpPr>
          <a:xfrm>
            <a:off x="7438712" y="3975815"/>
            <a:ext cx="1851108" cy="517185"/>
            <a:chOff x="0" y="0"/>
            <a:chExt cx="812800" cy="227090"/>
          </a:xfrm>
        </p:grpSpPr>
        <p:sp>
          <p:nvSpPr>
            <p:cNvPr id="82" name="Freeform 82"/>
            <p:cNvSpPr/>
            <p:nvPr/>
          </p:nvSpPr>
          <p:spPr>
            <a:xfrm>
              <a:off x="0" y="0"/>
              <a:ext cx="812800" cy="227090"/>
            </a:xfrm>
            <a:custGeom>
              <a:avLst/>
              <a:gdLst/>
              <a:ahLst/>
              <a:cxnLst/>
              <a:rect l="l" t="t" r="r" b="b"/>
              <a:pathLst>
                <a:path w="812800" h="227090">
                  <a:moveTo>
                    <a:pt x="88493" y="0"/>
                  </a:moveTo>
                  <a:lnTo>
                    <a:pt x="724307" y="0"/>
                  </a:lnTo>
                  <a:cubicBezTo>
                    <a:pt x="747777" y="0"/>
                    <a:pt x="770285" y="9323"/>
                    <a:pt x="786881" y="25919"/>
                  </a:cubicBezTo>
                  <a:cubicBezTo>
                    <a:pt x="803477" y="42515"/>
                    <a:pt x="812800" y="65023"/>
                    <a:pt x="812800" y="88493"/>
                  </a:cubicBezTo>
                  <a:lnTo>
                    <a:pt x="812800" y="138597"/>
                  </a:lnTo>
                  <a:cubicBezTo>
                    <a:pt x="812800" y="162066"/>
                    <a:pt x="803477" y="184575"/>
                    <a:pt x="786881" y="201171"/>
                  </a:cubicBezTo>
                  <a:cubicBezTo>
                    <a:pt x="770285" y="217766"/>
                    <a:pt x="747777" y="227090"/>
                    <a:pt x="724307" y="227090"/>
                  </a:cubicBezTo>
                  <a:lnTo>
                    <a:pt x="88493" y="227090"/>
                  </a:lnTo>
                  <a:cubicBezTo>
                    <a:pt x="65023" y="227090"/>
                    <a:pt x="42515" y="217766"/>
                    <a:pt x="25919" y="201171"/>
                  </a:cubicBezTo>
                  <a:cubicBezTo>
                    <a:pt x="9323" y="184575"/>
                    <a:pt x="0" y="162066"/>
                    <a:pt x="0" y="138597"/>
                  </a:cubicBezTo>
                  <a:lnTo>
                    <a:pt x="0" y="88493"/>
                  </a:lnTo>
                  <a:cubicBezTo>
                    <a:pt x="0" y="65023"/>
                    <a:pt x="9323" y="42515"/>
                    <a:pt x="25919" y="25919"/>
                  </a:cubicBezTo>
                  <a:cubicBezTo>
                    <a:pt x="42515" y="9323"/>
                    <a:pt x="65023" y="0"/>
                    <a:pt x="88493" y="0"/>
                  </a:cubicBezTo>
                  <a:close/>
                </a:path>
              </a:pathLst>
            </a:custGeom>
            <a:solidFill>
              <a:srgbClr val="99ACFF"/>
            </a:solidFill>
          </p:spPr>
        </p:sp>
        <p:sp>
          <p:nvSpPr>
            <p:cNvPr id="83" name="TextBox 83"/>
            <p:cNvSpPr txBox="1"/>
            <p:nvPr/>
          </p:nvSpPr>
          <p:spPr>
            <a:xfrm>
              <a:off x="0" y="-19050"/>
              <a:ext cx="812800" cy="246140"/>
            </a:xfrm>
            <a:prstGeom prst="rect">
              <a:avLst/>
            </a:prstGeom>
          </p:spPr>
          <p:txBody>
            <a:bodyPr lIns="50800" tIns="50800" rIns="50800" bIns="50800" rtlCol="0" anchor="ctr"/>
            <a:lstStyle/>
            <a:p>
              <a:pPr algn="ctr">
                <a:lnSpc>
                  <a:spcPts val="1399"/>
                </a:lnSpc>
              </a:pPr>
              <a:r>
                <a:rPr lang="en-US" sz="999" b="1">
                  <a:solidFill>
                    <a:srgbClr val="000000"/>
                  </a:solidFill>
                  <a:latin typeface="Arial Bold"/>
                  <a:ea typeface="Arial Bold"/>
                  <a:cs typeface="Arial Bold"/>
                  <a:sym typeface="Arial Bold"/>
                </a:rPr>
                <a:t>Orchestrator Service</a:t>
              </a:r>
            </a:p>
            <a:p>
              <a:pPr algn="ctr">
                <a:lnSpc>
                  <a:spcPts val="1260"/>
                </a:lnSpc>
              </a:pPr>
              <a:r>
                <a:rPr lang="en-US" sz="900">
                  <a:solidFill>
                    <a:srgbClr val="000000"/>
                  </a:solidFill>
                  <a:latin typeface="Arial"/>
                  <a:ea typeface="Arial"/>
                  <a:cs typeface="Arial"/>
                  <a:sym typeface="Arial"/>
                </a:rPr>
                <a:t>(Receives query, manages flow)</a:t>
              </a:r>
            </a:p>
          </p:txBody>
        </p:sp>
      </p:grpSp>
      <p:grpSp>
        <p:nvGrpSpPr>
          <p:cNvPr id="84" name="Group 84"/>
          <p:cNvGrpSpPr/>
          <p:nvPr/>
        </p:nvGrpSpPr>
        <p:grpSpPr>
          <a:xfrm>
            <a:off x="7469725" y="4566942"/>
            <a:ext cx="1851108" cy="561406"/>
            <a:chOff x="0" y="0"/>
            <a:chExt cx="812800" cy="246507"/>
          </a:xfrm>
        </p:grpSpPr>
        <p:sp>
          <p:nvSpPr>
            <p:cNvPr id="85" name="Freeform 85"/>
            <p:cNvSpPr/>
            <p:nvPr/>
          </p:nvSpPr>
          <p:spPr>
            <a:xfrm>
              <a:off x="0" y="0"/>
              <a:ext cx="812800" cy="246507"/>
            </a:xfrm>
            <a:custGeom>
              <a:avLst/>
              <a:gdLst/>
              <a:ahLst/>
              <a:cxnLst/>
              <a:rect l="l" t="t" r="r" b="b"/>
              <a:pathLst>
                <a:path w="812800" h="246507">
                  <a:moveTo>
                    <a:pt x="88493" y="0"/>
                  </a:moveTo>
                  <a:lnTo>
                    <a:pt x="724307" y="0"/>
                  </a:lnTo>
                  <a:cubicBezTo>
                    <a:pt x="747777" y="0"/>
                    <a:pt x="770285" y="9323"/>
                    <a:pt x="786881" y="25919"/>
                  </a:cubicBezTo>
                  <a:cubicBezTo>
                    <a:pt x="803477" y="42515"/>
                    <a:pt x="812800" y="65023"/>
                    <a:pt x="812800" y="88493"/>
                  </a:cubicBezTo>
                  <a:lnTo>
                    <a:pt x="812800" y="158014"/>
                  </a:lnTo>
                  <a:cubicBezTo>
                    <a:pt x="812800" y="181484"/>
                    <a:pt x="803477" y="203992"/>
                    <a:pt x="786881" y="220588"/>
                  </a:cubicBezTo>
                  <a:cubicBezTo>
                    <a:pt x="770285" y="237184"/>
                    <a:pt x="747777" y="246507"/>
                    <a:pt x="724307" y="246507"/>
                  </a:cubicBezTo>
                  <a:lnTo>
                    <a:pt x="88493" y="246507"/>
                  </a:lnTo>
                  <a:cubicBezTo>
                    <a:pt x="65023" y="246507"/>
                    <a:pt x="42515" y="237184"/>
                    <a:pt x="25919" y="220588"/>
                  </a:cubicBezTo>
                  <a:cubicBezTo>
                    <a:pt x="9323" y="203992"/>
                    <a:pt x="0" y="181484"/>
                    <a:pt x="0" y="158014"/>
                  </a:cubicBezTo>
                  <a:lnTo>
                    <a:pt x="0" y="88493"/>
                  </a:lnTo>
                  <a:cubicBezTo>
                    <a:pt x="0" y="65023"/>
                    <a:pt x="9323" y="42515"/>
                    <a:pt x="25919" y="25919"/>
                  </a:cubicBezTo>
                  <a:cubicBezTo>
                    <a:pt x="42515" y="9323"/>
                    <a:pt x="65023" y="0"/>
                    <a:pt x="88493" y="0"/>
                  </a:cubicBezTo>
                  <a:close/>
                </a:path>
              </a:pathLst>
            </a:custGeom>
            <a:solidFill>
              <a:srgbClr val="99ACFF"/>
            </a:solidFill>
          </p:spPr>
        </p:sp>
        <p:sp>
          <p:nvSpPr>
            <p:cNvPr id="86" name="TextBox 86"/>
            <p:cNvSpPr txBox="1"/>
            <p:nvPr/>
          </p:nvSpPr>
          <p:spPr>
            <a:xfrm>
              <a:off x="0" y="-38100"/>
              <a:ext cx="812800" cy="284607"/>
            </a:xfrm>
            <a:prstGeom prst="rect">
              <a:avLst/>
            </a:prstGeom>
          </p:spPr>
          <p:txBody>
            <a:bodyPr lIns="50800" tIns="50800" rIns="50800" bIns="50800" rtlCol="0" anchor="ctr"/>
            <a:lstStyle/>
            <a:p>
              <a:pPr algn="ctr">
                <a:lnSpc>
                  <a:spcPts val="1539"/>
                </a:lnSpc>
              </a:pPr>
              <a:r>
                <a:rPr lang="en-US" sz="1099" b="1">
                  <a:solidFill>
                    <a:srgbClr val="000000"/>
                  </a:solidFill>
                  <a:latin typeface="Arial Bold"/>
                  <a:ea typeface="Arial Bold"/>
                  <a:cs typeface="Arial Bold"/>
                  <a:sym typeface="Arial Bold"/>
                </a:rPr>
                <a:t>Query Router</a:t>
              </a:r>
            </a:p>
            <a:p>
              <a:pPr algn="ctr">
                <a:lnSpc>
                  <a:spcPts val="1120"/>
                </a:lnSpc>
              </a:pPr>
              <a:r>
                <a:rPr lang="en-US" sz="800">
                  <a:solidFill>
                    <a:srgbClr val="000000"/>
                  </a:solidFill>
                  <a:latin typeface="Arial"/>
                  <a:ea typeface="Arial"/>
                  <a:cs typeface="Arial"/>
                  <a:sym typeface="Arial"/>
                </a:rPr>
                <a:t>(Intent detection : conceptual/hybrid/legal</a:t>
              </a:r>
            </a:p>
          </p:txBody>
        </p:sp>
      </p:grpSp>
      <p:grpSp>
        <p:nvGrpSpPr>
          <p:cNvPr id="87" name="Group 87"/>
          <p:cNvGrpSpPr/>
          <p:nvPr/>
        </p:nvGrpSpPr>
        <p:grpSpPr>
          <a:xfrm>
            <a:off x="7469725" y="5198821"/>
            <a:ext cx="1851108" cy="517185"/>
            <a:chOff x="0" y="0"/>
            <a:chExt cx="812800" cy="227090"/>
          </a:xfrm>
        </p:grpSpPr>
        <p:sp>
          <p:nvSpPr>
            <p:cNvPr id="88" name="Freeform 88"/>
            <p:cNvSpPr/>
            <p:nvPr/>
          </p:nvSpPr>
          <p:spPr>
            <a:xfrm>
              <a:off x="0" y="0"/>
              <a:ext cx="812800" cy="227090"/>
            </a:xfrm>
            <a:custGeom>
              <a:avLst/>
              <a:gdLst/>
              <a:ahLst/>
              <a:cxnLst/>
              <a:rect l="l" t="t" r="r" b="b"/>
              <a:pathLst>
                <a:path w="812800" h="227090">
                  <a:moveTo>
                    <a:pt x="88493" y="0"/>
                  </a:moveTo>
                  <a:lnTo>
                    <a:pt x="724307" y="0"/>
                  </a:lnTo>
                  <a:cubicBezTo>
                    <a:pt x="747777" y="0"/>
                    <a:pt x="770285" y="9323"/>
                    <a:pt x="786881" y="25919"/>
                  </a:cubicBezTo>
                  <a:cubicBezTo>
                    <a:pt x="803477" y="42515"/>
                    <a:pt x="812800" y="65023"/>
                    <a:pt x="812800" y="88493"/>
                  </a:cubicBezTo>
                  <a:lnTo>
                    <a:pt x="812800" y="138597"/>
                  </a:lnTo>
                  <a:cubicBezTo>
                    <a:pt x="812800" y="162066"/>
                    <a:pt x="803477" y="184575"/>
                    <a:pt x="786881" y="201171"/>
                  </a:cubicBezTo>
                  <a:cubicBezTo>
                    <a:pt x="770285" y="217766"/>
                    <a:pt x="747777" y="227090"/>
                    <a:pt x="724307" y="227090"/>
                  </a:cubicBezTo>
                  <a:lnTo>
                    <a:pt x="88493" y="227090"/>
                  </a:lnTo>
                  <a:cubicBezTo>
                    <a:pt x="65023" y="227090"/>
                    <a:pt x="42515" y="217766"/>
                    <a:pt x="25919" y="201171"/>
                  </a:cubicBezTo>
                  <a:cubicBezTo>
                    <a:pt x="9323" y="184575"/>
                    <a:pt x="0" y="162066"/>
                    <a:pt x="0" y="138597"/>
                  </a:cubicBezTo>
                  <a:lnTo>
                    <a:pt x="0" y="88493"/>
                  </a:lnTo>
                  <a:cubicBezTo>
                    <a:pt x="0" y="65023"/>
                    <a:pt x="9323" y="42515"/>
                    <a:pt x="25919" y="25919"/>
                  </a:cubicBezTo>
                  <a:cubicBezTo>
                    <a:pt x="42515" y="9323"/>
                    <a:pt x="65023" y="0"/>
                    <a:pt x="88493" y="0"/>
                  </a:cubicBezTo>
                  <a:close/>
                </a:path>
              </a:pathLst>
            </a:custGeom>
            <a:solidFill>
              <a:srgbClr val="99ACFF"/>
            </a:solidFill>
          </p:spPr>
        </p:sp>
        <p:sp>
          <p:nvSpPr>
            <p:cNvPr id="89" name="TextBox 89"/>
            <p:cNvSpPr txBox="1"/>
            <p:nvPr/>
          </p:nvSpPr>
          <p:spPr>
            <a:xfrm>
              <a:off x="0" y="-38100"/>
              <a:ext cx="812800" cy="265190"/>
            </a:xfrm>
            <a:prstGeom prst="rect">
              <a:avLst/>
            </a:prstGeom>
          </p:spPr>
          <p:txBody>
            <a:bodyPr lIns="50800" tIns="50800" rIns="50800" bIns="50800" rtlCol="0" anchor="ctr"/>
            <a:lstStyle/>
            <a:p>
              <a:pPr algn="ctr">
                <a:lnSpc>
                  <a:spcPts val="1679"/>
                </a:lnSpc>
              </a:pPr>
              <a:r>
                <a:rPr lang="en-US" sz="1199" b="1">
                  <a:solidFill>
                    <a:srgbClr val="000000"/>
                  </a:solidFill>
                  <a:latin typeface="Arial Bold"/>
                  <a:ea typeface="Arial Bold"/>
                  <a:cs typeface="Arial Bold"/>
                  <a:sym typeface="Arial Bold"/>
                </a:rPr>
                <a:t>RAG 1 Service</a:t>
              </a:r>
            </a:p>
            <a:p>
              <a:pPr algn="ctr">
                <a:lnSpc>
                  <a:spcPts val="1399"/>
                </a:lnSpc>
              </a:pPr>
              <a:r>
                <a:rPr lang="en-US" sz="999" b="1">
                  <a:solidFill>
                    <a:srgbClr val="000000"/>
                  </a:solidFill>
                  <a:latin typeface="Arial Bold"/>
                  <a:ea typeface="Arial Bold"/>
                  <a:cs typeface="Arial Bold"/>
                  <a:sym typeface="Arial Bold"/>
                </a:rPr>
                <a:t>(</a:t>
              </a:r>
              <a:r>
                <a:rPr lang="en-US" sz="999">
                  <a:solidFill>
                    <a:srgbClr val="000000"/>
                  </a:solidFill>
                  <a:latin typeface="Arial"/>
                  <a:ea typeface="Arial"/>
                  <a:cs typeface="Arial"/>
                  <a:sym typeface="Arial"/>
                </a:rPr>
                <a:t>domain knowledge retrieval)</a:t>
              </a:r>
            </a:p>
          </p:txBody>
        </p:sp>
      </p:grpSp>
      <p:grpSp>
        <p:nvGrpSpPr>
          <p:cNvPr id="90" name="Group 90"/>
          <p:cNvGrpSpPr/>
          <p:nvPr/>
        </p:nvGrpSpPr>
        <p:grpSpPr>
          <a:xfrm>
            <a:off x="7454219" y="5877930"/>
            <a:ext cx="1851108" cy="621504"/>
            <a:chOff x="0" y="0"/>
            <a:chExt cx="812800" cy="272895"/>
          </a:xfrm>
        </p:grpSpPr>
        <p:sp>
          <p:nvSpPr>
            <p:cNvPr id="91" name="Freeform 91"/>
            <p:cNvSpPr/>
            <p:nvPr/>
          </p:nvSpPr>
          <p:spPr>
            <a:xfrm>
              <a:off x="0" y="0"/>
              <a:ext cx="812800" cy="272895"/>
            </a:xfrm>
            <a:custGeom>
              <a:avLst/>
              <a:gdLst/>
              <a:ahLst/>
              <a:cxnLst/>
              <a:rect l="l" t="t" r="r" b="b"/>
              <a:pathLst>
                <a:path w="812800" h="272895">
                  <a:moveTo>
                    <a:pt x="88493" y="0"/>
                  </a:moveTo>
                  <a:lnTo>
                    <a:pt x="724307" y="0"/>
                  </a:lnTo>
                  <a:cubicBezTo>
                    <a:pt x="747777" y="0"/>
                    <a:pt x="770285" y="9323"/>
                    <a:pt x="786881" y="25919"/>
                  </a:cubicBezTo>
                  <a:cubicBezTo>
                    <a:pt x="803477" y="42515"/>
                    <a:pt x="812800" y="65023"/>
                    <a:pt x="812800" y="88493"/>
                  </a:cubicBezTo>
                  <a:lnTo>
                    <a:pt x="812800" y="184402"/>
                  </a:lnTo>
                  <a:cubicBezTo>
                    <a:pt x="812800" y="207872"/>
                    <a:pt x="803477" y="230381"/>
                    <a:pt x="786881" y="246976"/>
                  </a:cubicBezTo>
                  <a:cubicBezTo>
                    <a:pt x="770285" y="263572"/>
                    <a:pt x="747777" y="272895"/>
                    <a:pt x="724307" y="272895"/>
                  </a:cubicBezTo>
                  <a:lnTo>
                    <a:pt x="88493" y="272895"/>
                  </a:lnTo>
                  <a:cubicBezTo>
                    <a:pt x="65023" y="272895"/>
                    <a:pt x="42515" y="263572"/>
                    <a:pt x="25919" y="246976"/>
                  </a:cubicBezTo>
                  <a:cubicBezTo>
                    <a:pt x="9323" y="230381"/>
                    <a:pt x="0" y="207872"/>
                    <a:pt x="0" y="184402"/>
                  </a:cubicBezTo>
                  <a:lnTo>
                    <a:pt x="0" y="88493"/>
                  </a:lnTo>
                  <a:cubicBezTo>
                    <a:pt x="0" y="65023"/>
                    <a:pt x="9323" y="42515"/>
                    <a:pt x="25919" y="25919"/>
                  </a:cubicBezTo>
                  <a:cubicBezTo>
                    <a:pt x="42515" y="9323"/>
                    <a:pt x="65023" y="0"/>
                    <a:pt x="88493" y="0"/>
                  </a:cubicBezTo>
                  <a:close/>
                </a:path>
              </a:pathLst>
            </a:custGeom>
            <a:solidFill>
              <a:srgbClr val="99ACFF"/>
            </a:solidFill>
          </p:spPr>
        </p:sp>
        <p:sp>
          <p:nvSpPr>
            <p:cNvPr id="92" name="TextBox 92"/>
            <p:cNvSpPr txBox="1"/>
            <p:nvPr/>
          </p:nvSpPr>
          <p:spPr>
            <a:xfrm>
              <a:off x="0" y="-38100"/>
              <a:ext cx="812800" cy="310995"/>
            </a:xfrm>
            <a:prstGeom prst="rect">
              <a:avLst/>
            </a:prstGeom>
          </p:spPr>
          <p:txBody>
            <a:bodyPr lIns="50800" tIns="50800" rIns="50800" bIns="50800" rtlCol="0" anchor="ctr"/>
            <a:lstStyle/>
            <a:p>
              <a:pPr algn="ctr">
                <a:lnSpc>
                  <a:spcPts val="1679"/>
                </a:lnSpc>
              </a:pPr>
              <a:r>
                <a:rPr lang="en-US" sz="1199" b="1">
                  <a:solidFill>
                    <a:srgbClr val="000000"/>
                  </a:solidFill>
                  <a:latin typeface="Arial Bold"/>
                  <a:ea typeface="Arial Bold"/>
                  <a:cs typeface="Arial Bold"/>
                  <a:sym typeface="Arial Bold"/>
                </a:rPr>
                <a:t>RAG 2 Service</a:t>
              </a:r>
            </a:p>
            <a:p>
              <a:pPr algn="ctr">
                <a:lnSpc>
                  <a:spcPts val="1260"/>
                </a:lnSpc>
              </a:pPr>
              <a:r>
                <a:rPr lang="en-US" sz="900">
                  <a:solidFill>
                    <a:srgbClr val="000000"/>
                  </a:solidFill>
                  <a:latin typeface="Arial"/>
                  <a:ea typeface="Arial"/>
                  <a:cs typeface="Arial"/>
                  <a:sym typeface="Arial"/>
                </a:rPr>
                <a:t>(legal &amp; regulatory retrieval logic, versioning + conflict detection</a:t>
              </a:r>
            </a:p>
          </p:txBody>
        </p:sp>
      </p:grpSp>
      <p:grpSp>
        <p:nvGrpSpPr>
          <p:cNvPr id="93" name="Group 93"/>
          <p:cNvGrpSpPr/>
          <p:nvPr/>
        </p:nvGrpSpPr>
        <p:grpSpPr>
          <a:xfrm>
            <a:off x="7438712" y="6665922"/>
            <a:ext cx="1851108" cy="853052"/>
            <a:chOff x="0" y="0"/>
            <a:chExt cx="812800" cy="374565"/>
          </a:xfrm>
        </p:grpSpPr>
        <p:sp>
          <p:nvSpPr>
            <p:cNvPr id="94" name="Freeform 94"/>
            <p:cNvSpPr/>
            <p:nvPr/>
          </p:nvSpPr>
          <p:spPr>
            <a:xfrm>
              <a:off x="0" y="0"/>
              <a:ext cx="812800" cy="374565"/>
            </a:xfrm>
            <a:custGeom>
              <a:avLst/>
              <a:gdLst/>
              <a:ahLst/>
              <a:cxnLst/>
              <a:rect l="l" t="t" r="r" b="b"/>
              <a:pathLst>
                <a:path w="812800" h="374565">
                  <a:moveTo>
                    <a:pt x="88493" y="0"/>
                  </a:moveTo>
                  <a:lnTo>
                    <a:pt x="724307" y="0"/>
                  </a:lnTo>
                  <a:cubicBezTo>
                    <a:pt x="747777" y="0"/>
                    <a:pt x="770285" y="9323"/>
                    <a:pt x="786881" y="25919"/>
                  </a:cubicBezTo>
                  <a:cubicBezTo>
                    <a:pt x="803477" y="42515"/>
                    <a:pt x="812800" y="65023"/>
                    <a:pt x="812800" y="88493"/>
                  </a:cubicBezTo>
                  <a:lnTo>
                    <a:pt x="812800" y="286072"/>
                  </a:lnTo>
                  <a:cubicBezTo>
                    <a:pt x="812800" y="309542"/>
                    <a:pt x="803477" y="332051"/>
                    <a:pt x="786881" y="348646"/>
                  </a:cubicBezTo>
                  <a:cubicBezTo>
                    <a:pt x="770285" y="365242"/>
                    <a:pt x="747777" y="374565"/>
                    <a:pt x="724307" y="374565"/>
                  </a:cubicBezTo>
                  <a:lnTo>
                    <a:pt x="88493" y="374565"/>
                  </a:lnTo>
                  <a:cubicBezTo>
                    <a:pt x="65023" y="374565"/>
                    <a:pt x="42515" y="365242"/>
                    <a:pt x="25919" y="348646"/>
                  </a:cubicBezTo>
                  <a:cubicBezTo>
                    <a:pt x="9323" y="332051"/>
                    <a:pt x="0" y="309542"/>
                    <a:pt x="0" y="286072"/>
                  </a:cubicBezTo>
                  <a:lnTo>
                    <a:pt x="0" y="88493"/>
                  </a:lnTo>
                  <a:cubicBezTo>
                    <a:pt x="0" y="65023"/>
                    <a:pt x="9323" y="42515"/>
                    <a:pt x="25919" y="25919"/>
                  </a:cubicBezTo>
                  <a:cubicBezTo>
                    <a:pt x="42515" y="9323"/>
                    <a:pt x="65023" y="0"/>
                    <a:pt x="88493" y="0"/>
                  </a:cubicBezTo>
                  <a:close/>
                </a:path>
              </a:pathLst>
            </a:custGeom>
            <a:solidFill>
              <a:srgbClr val="99ACFF"/>
            </a:solidFill>
          </p:spPr>
        </p:sp>
        <p:sp>
          <p:nvSpPr>
            <p:cNvPr id="95" name="TextBox 95"/>
            <p:cNvSpPr txBox="1"/>
            <p:nvPr/>
          </p:nvSpPr>
          <p:spPr>
            <a:xfrm>
              <a:off x="0" y="-47625"/>
              <a:ext cx="812800" cy="422190"/>
            </a:xfrm>
            <a:prstGeom prst="rect">
              <a:avLst/>
            </a:prstGeom>
          </p:spPr>
          <p:txBody>
            <a:bodyPr lIns="50800" tIns="50800" rIns="50800" bIns="50800" rtlCol="0" anchor="ctr"/>
            <a:lstStyle/>
            <a:p>
              <a:pPr algn="ctr">
                <a:lnSpc>
                  <a:spcPts val="1819"/>
                </a:lnSpc>
              </a:pPr>
              <a:r>
                <a:rPr lang="en-US" sz="1299" b="1">
                  <a:solidFill>
                    <a:srgbClr val="000000"/>
                  </a:solidFill>
                  <a:latin typeface="Arial Bold"/>
                  <a:ea typeface="Arial Bold"/>
                  <a:cs typeface="Arial Bold"/>
                  <a:sym typeface="Arial Bold"/>
                </a:rPr>
                <a:t>RAG Registry</a:t>
              </a:r>
            </a:p>
            <a:p>
              <a:pPr algn="ctr">
                <a:lnSpc>
                  <a:spcPts val="1399"/>
                </a:lnSpc>
              </a:pPr>
              <a:r>
                <a:rPr lang="en-US" sz="999">
                  <a:solidFill>
                    <a:srgbClr val="000000"/>
                  </a:solidFill>
                  <a:latin typeface="Arial"/>
                  <a:ea typeface="Arial"/>
                  <a:cs typeface="Arial"/>
                  <a:sym typeface="Arial"/>
                </a:rPr>
                <a:t>(dynamically connects additional RAG microservices at runtime)</a:t>
              </a:r>
            </a:p>
          </p:txBody>
        </p:sp>
      </p:grpSp>
      <p:grpSp>
        <p:nvGrpSpPr>
          <p:cNvPr id="96" name="Group 96"/>
          <p:cNvGrpSpPr/>
          <p:nvPr/>
        </p:nvGrpSpPr>
        <p:grpSpPr>
          <a:xfrm>
            <a:off x="10010861" y="2024988"/>
            <a:ext cx="3566495" cy="6269382"/>
            <a:chOff x="0" y="0"/>
            <a:chExt cx="654518" cy="1150547"/>
          </a:xfrm>
        </p:grpSpPr>
        <p:sp>
          <p:nvSpPr>
            <p:cNvPr id="97" name="Freeform 97"/>
            <p:cNvSpPr/>
            <p:nvPr/>
          </p:nvSpPr>
          <p:spPr>
            <a:xfrm>
              <a:off x="0" y="0"/>
              <a:ext cx="654518" cy="1150547"/>
            </a:xfrm>
            <a:custGeom>
              <a:avLst/>
              <a:gdLst/>
              <a:ahLst/>
              <a:cxnLst/>
              <a:rect l="l" t="t" r="r" b="b"/>
              <a:pathLst>
                <a:path w="654518" h="1150547">
                  <a:moveTo>
                    <a:pt x="0" y="0"/>
                  </a:moveTo>
                  <a:lnTo>
                    <a:pt x="654518" y="0"/>
                  </a:lnTo>
                  <a:lnTo>
                    <a:pt x="654518" y="1150547"/>
                  </a:lnTo>
                  <a:lnTo>
                    <a:pt x="0" y="1150547"/>
                  </a:lnTo>
                  <a:close/>
                </a:path>
              </a:pathLst>
            </a:custGeom>
            <a:solidFill>
              <a:srgbClr val="FFE66C"/>
            </a:solidFill>
          </p:spPr>
        </p:sp>
        <p:sp>
          <p:nvSpPr>
            <p:cNvPr id="98" name="TextBox 98"/>
            <p:cNvSpPr txBox="1"/>
            <p:nvPr/>
          </p:nvSpPr>
          <p:spPr>
            <a:xfrm>
              <a:off x="0" y="-47625"/>
              <a:ext cx="654518" cy="1198172"/>
            </a:xfrm>
            <a:prstGeom prst="rect">
              <a:avLst/>
            </a:prstGeom>
          </p:spPr>
          <p:txBody>
            <a:bodyPr lIns="50800" tIns="50800" rIns="50800" bIns="50800" rtlCol="0" anchor="ctr"/>
            <a:lstStyle/>
            <a:p>
              <a:pPr algn="ctr">
                <a:lnSpc>
                  <a:spcPts val="3131"/>
                </a:lnSpc>
              </a:pPr>
              <a:endParaRPr/>
            </a:p>
          </p:txBody>
        </p:sp>
      </p:grpSp>
      <p:grpSp>
        <p:nvGrpSpPr>
          <p:cNvPr id="99" name="Group 99"/>
          <p:cNvGrpSpPr/>
          <p:nvPr/>
        </p:nvGrpSpPr>
        <p:grpSpPr>
          <a:xfrm>
            <a:off x="10010861" y="1257791"/>
            <a:ext cx="3566495" cy="797358"/>
            <a:chOff x="0" y="0"/>
            <a:chExt cx="654518" cy="146330"/>
          </a:xfrm>
        </p:grpSpPr>
        <p:sp>
          <p:nvSpPr>
            <p:cNvPr id="100" name="Freeform 100"/>
            <p:cNvSpPr/>
            <p:nvPr/>
          </p:nvSpPr>
          <p:spPr>
            <a:xfrm>
              <a:off x="0" y="0"/>
              <a:ext cx="654518" cy="146330"/>
            </a:xfrm>
            <a:custGeom>
              <a:avLst/>
              <a:gdLst/>
              <a:ahLst/>
              <a:cxnLst/>
              <a:rect l="l" t="t" r="r" b="b"/>
              <a:pathLst>
                <a:path w="654518" h="146330">
                  <a:moveTo>
                    <a:pt x="0" y="0"/>
                  </a:moveTo>
                  <a:lnTo>
                    <a:pt x="654518" y="0"/>
                  </a:lnTo>
                  <a:lnTo>
                    <a:pt x="654518" y="146330"/>
                  </a:lnTo>
                  <a:lnTo>
                    <a:pt x="0" y="146330"/>
                  </a:lnTo>
                  <a:close/>
                </a:path>
              </a:pathLst>
            </a:custGeom>
            <a:solidFill>
              <a:srgbClr val="F5BD31"/>
            </a:solidFill>
          </p:spPr>
        </p:sp>
        <p:sp>
          <p:nvSpPr>
            <p:cNvPr id="101" name="TextBox 101"/>
            <p:cNvSpPr txBox="1"/>
            <p:nvPr/>
          </p:nvSpPr>
          <p:spPr>
            <a:xfrm>
              <a:off x="0" y="-47625"/>
              <a:ext cx="654518" cy="193955"/>
            </a:xfrm>
            <a:prstGeom prst="rect">
              <a:avLst/>
            </a:prstGeom>
          </p:spPr>
          <p:txBody>
            <a:bodyPr lIns="50800" tIns="50800" rIns="50800" bIns="50800" rtlCol="0" anchor="ctr"/>
            <a:lstStyle/>
            <a:p>
              <a:pPr algn="ctr">
                <a:lnSpc>
                  <a:spcPts val="3131"/>
                </a:lnSpc>
              </a:pPr>
              <a:endParaRPr/>
            </a:p>
          </p:txBody>
        </p:sp>
      </p:grpSp>
      <p:grpSp>
        <p:nvGrpSpPr>
          <p:cNvPr id="102" name="Group 102"/>
          <p:cNvGrpSpPr/>
          <p:nvPr/>
        </p:nvGrpSpPr>
        <p:grpSpPr>
          <a:xfrm>
            <a:off x="10209274" y="2540657"/>
            <a:ext cx="2694002" cy="4749061"/>
            <a:chOff x="0" y="0"/>
            <a:chExt cx="465955" cy="821399"/>
          </a:xfrm>
        </p:grpSpPr>
        <p:sp>
          <p:nvSpPr>
            <p:cNvPr id="103" name="Freeform 103"/>
            <p:cNvSpPr/>
            <p:nvPr/>
          </p:nvSpPr>
          <p:spPr>
            <a:xfrm>
              <a:off x="0" y="0"/>
              <a:ext cx="465955" cy="821399"/>
            </a:xfrm>
            <a:custGeom>
              <a:avLst/>
              <a:gdLst/>
              <a:ahLst/>
              <a:cxnLst/>
              <a:rect l="l" t="t" r="r" b="b"/>
              <a:pathLst>
                <a:path w="465955" h="821399">
                  <a:moveTo>
                    <a:pt x="146562" y="0"/>
                  </a:moveTo>
                  <a:lnTo>
                    <a:pt x="319393" y="0"/>
                  </a:lnTo>
                  <a:cubicBezTo>
                    <a:pt x="358264" y="0"/>
                    <a:pt x="395543" y="15441"/>
                    <a:pt x="423028" y="42927"/>
                  </a:cubicBezTo>
                  <a:cubicBezTo>
                    <a:pt x="450514" y="70413"/>
                    <a:pt x="465955" y="107691"/>
                    <a:pt x="465955" y="146562"/>
                  </a:cubicBezTo>
                  <a:lnTo>
                    <a:pt x="465955" y="674837"/>
                  </a:lnTo>
                  <a:cubicBezTo>
                    <a:pt x="465955" y="713708"/>
                    <a:pt x="450514" y="750986"/>
                    <a:pt x="423028" y="778472"/>
                  </a:cubicBezTo>
                  <a:cubicBezTo>
                    <a:pt x="395543" y="805957"/>
                    <a:pt x="358264" y="821399"/>
                    <a:pt x="319393" y="821399"/>
                  </a:cubicBezTo>
                  <a:lnTo>
                    <a:pt x="146562" y="821399"/>
                  </a:lnTo>
                  <a:cubicBezTo>
                    <a:pt x="107691" y="821399"/>
                    <a:pt x="70413" y="805957"/>
                    <a:pt x="42927" y="778472"/>
                  </a:cubicBezTo>
                  <a:cubicBezTo>
                    <a:pt x="15441" y="750986"/>
                    <a:pt x="0" y="713708"/>
                    <a:pt x="0" y="674837"/>
                  </a:cubicBezTo>
                  <a:lnTo>
                    <a:pt x="0" y="146562"/>
                  </a:lnTo>
                  <a:cubicBezTo>
                    <a:pt x="0" y="107691"/>
                    <a:pt x="15441" y="70413"/>
                    <a:pt x="42927" y="42927"/>
                  </a:cubicBezTo>
                  <a:cubicBezTo>
                    <a:pt x="70413" y="15441"/>
                    <a:pt x="107691" y="0"/>
                    <a:pt x="146562" y="0"/>
                  </a:cubicBezTo>
                  <a:close/>
                </a:path>
              </a:pathLst>
            </a:custGeom>
            <a:solidFill>
              <a:srgbClr val="CCA300"/>
            </a:solidFill>
            <a:ln w="19050" cap="rnd">
              <a:solidFill>
                <a:srgbClr val="000000"/>
              </a:solidFill>
              <a:prstDash val="sysDot"/>
              <a:round/>
            </a:ln>
          </p:spPr>
        </p:sp>
        <p:sp>
          <p:nvSpPr>
            <p:cNvPr id="104" name="TextBox 104"/>
            <p:cNvSpPr txBox="1"/>
            <p:nvPr/>
          </p:nvSpPr>
          <p:spPr>
            <a:xfrm>
              <a:off x="0" y="-47625"/>
              <a:ext cx="465955" cy="869024"/>
            </a:xfrm>
            <a:prstGeom prst="rect">
              <a:avLst/>
            </a:prstGeom>
          </p:spPr>
          <p:txBody>
            <a:bodyPr lIns="50800" tIns="50800" rIns="50800" bIns="50800" rtlCol="0" anchor="ctr"/>
            <a:lstStyle/>
            <a:p>
              <a:pPr algn="ctr">
                <a:lnSpc>
                  <a:spcPts val="3131"/>
                </a:lnSpc>
              </a:pPr>
              <a:endParaRPr/>
            </a:p>
          </p:txBody>
        </p:sp>
      </p:grpSp>
      <p:sp>
        <p:nvSpPr>
          <p:cNvPr id="105" name="Freeform 105"/>
          <p:cNvSpPr/>
          <p:nvPr/>
        </p:nvSpPr>
        <p:spPr>
          <a:xfrm>
            <a:off x="11246690" y="2646376"/>
            <a:ext cx="714455" cy="760058"/>
          </a:xfrm>
          <a:custGeom>
            <a:avLst/>
            <a:gdLst/>
            <a:ahLst/>
            <a:cxnLst/>
            <a:rect l="l" t="t" r="r" b="b"/>
            <a:pathLst>
              <a:path w="714455" h="760058">
                <a:moveTo>
                  <a:pt x="0" y="0"/>
                </a:moveTo>
                <a:lnTo>
                  <a:pt x="714454" y="0"/>
                </a:lnTo>
                <a:lnTo>
                  <a:pt x="714454" y="760058"/>
                </a:lnTo>
                <a:lnTo>
                  <a:pt x="0" y="760058"/>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106" name="Group 106"/>
          <p:cNvGrpSpPr/>
          <p:nvPr/>
        </p:nvGrpSpPr>
        <p:grpSpPr>
          <a:xfrm>
            <a:off x="10406086" y="4096797"/>
            <a:ext cx="2395663" cy="719662"/>
            <a:chOff x="0" y="0"/>
            <a:chExt cx="1055509" cy="317077"/>
          </a:xfrm>
        </p:grpSpPr>
        <p:sp>
          <p:nvSpPr>
            <p:cNvPr id="107" name="Freeform 107"/>
            <p:cNvSpPr/>
            <p:nvPr/>
          </p:nvSpPr>
          <p:spPr>
            <a:xfrm>
              <a:off x="0" y="0"/>
              <a:ext cx="1055509" cy="317077"/>
            </a:xfrm>
            <a:custGeom>
              <a:avLst/>
              <a:gdLst/>
              <a:ahLst/>
              <a:cxnLst/>
              <a:rect l="l" t="t" r="r" b="b"/>
              <a:pathLst>
                <a:path w="1055509" h="317077">
                  <a:moveTo>
                    <a:pt x="55544" y="0"/>
                  </a:moveTo>
                  <a:lnTo>
                    <a:pt x="999965" y="0"/>
                  </a:lnTo>
                  <a:cubicBezTo>
                    <a:pt x="1014696" y="0"/>
                    <a:pt x="1028824" y="5852"/>
                    <a:pt x="1039240" y="16268"/>
                  </a:cubicBezTo>
                  <a:cubicBezTo>
                    <a:pt x="1049657" y="26685"/>
                    <a:pt x="1055509" y="40813"/>
                    <a:pt x="1055509" y="55544"/>
                  </a:cubicBezTo>
                  <a:lnTo>
                    <a:pt x="1055509" y="261533"/>
                  </a:lnTo>
                  <a:cubicBezTo>
                    <a:pt x="1055509" y="276264"/>
                    <a:pt x="1049657" y="290392"/>
                    <a:pt x="1039240" y="300808"/>
                  </a:cubicBezTo>
                  <a:cubicBezTo>
                    <a:pt x="1028824" y="311225"/>
                    <a:pt x="1014696" y="317077"/>
                    <a:pt x="999965" y="317077"/>
                  </a:cubicBezTo>
                  <a:lnTo>
                    <a:pt x="55544" y="317077"/>
                  </a:lnTo>
                  <a:cubicBezTo>
                    <a:pt x="40813" y="317077"/>
                    <a:pt x="26685" y="311225"/>
                    <a:pt x="16268" y="300808"/>
                  </a:cubicBezTo>
                  <a:cubicBezTo>
                    <a:pt x="5852" y="290392"/>
                    <a:pt x="0" y="276264"/>
                    <a:pt x="0" y="261533"/>
                  </a:cubicBezTo>
                  <a:lnTo>
                    <a:pt x="0" y="55544"/>
                  </a:lnTo>
                  <a:cubicBezTo>
                    <a:pt x="0" y="40813"/>
                    <a:pt x="5852" y="26685"/>
                    <a:pt x="16268" y="16268"/>
                  </a:cubicBezTo>
                  <a:cubicBezTo>
                    <a:pt x="26685" y="5852"/>
                    <a:pt x="40813" y="0"/>
                    <a:pt x="55544" y="0"/>
                  </a:cubicBezTo>
                  <a:close/>
                </a:path>
              </a:pathLst>
            </a:custGeom>
            <a:solidFill>
              <a:srgbClr val="FFE66C"/>
            </a:solidFill>
          </p:spPr>
        </p:sp>
        <p:sp>
          <p:nvSpPr>
            <p:cNvPr id="108" name="TextBox 108"/>
            <p:cNvSpPr txBox="1"/>
            <p:nvPr/>
          </p:nvSpPr>
          <p:spPr>
            <a:xfrm>
              <a:off x="0" y="-28575"/>
              <a:ext cx="1055509" cy="345652"/>
            </a:xfrm>
            <a:prstGeom prst="rect">
              <a:avLst/>
            </a:prstGeom>
          </p:spPr>
          <p:txBody>
            <a:bodyPr lIns="50800" tIns="50800" rIns="50800" bIns="50800" rtlCol="0" anchor="ctr"/>
            <a:lstStyle/>
            <a:p>
              <a:pPr algn="ctr">
                <a:lnSpc>
                  <a:spcPts val="1469"/>
                </a:lnSpc>
              </a:pPr>
              <a:r>
                <a:rPr lang="en-US" sz="1049" b="1" spc="24">
                  <a:solidFill>
                    <a:srgbClr val="3D1700"/>
                  </a:solidFill>
                  <a:latin typeface="Caladea Bold"/>
                  <a:ea typeface="Caladea Bold"/>
                  <a:cs typeface="Caladea Bold"/>
                  <a:sym typeface="Caladea Bold"/>
                </a:rPr>
                <a:t>vector.db / vector_rag2.db </a:t>
              </a:r>
            </a:p>
            <a:p>
              <a:pPr algn="ctr">
                <a:lnSpc>
                  <a:spcPts val="1469"/>
                </a:lnSpc>
              </a:pPr>
              <a:r>
                <a:rPr lang="en-US" sz="1049" spc="24">
                  <a:solidFill>
                    <a:srgbClr val="3D1700"/>
                  </a:solidFill>
                  <a:latin typeface="Caladea"/>
                  <a:ea typeface="Caladea"/>
                  <a:cs typeface="Caladea"/>
                  <a:sym typeface="Caladea"/>
                </a:rPr>
                <a:t>SQLite-backed chunk + vector storage for RAG 1 and RAG 2 respectively</a:t>
              </a:r>
            </a:p>
          </p:txBody>
        </p:sp>
      </p:grpSp>
      <p:grpSp>
        <p:nvGrpSpPr>
          <p:cNvPr id="109" name="Group 109"/>
          <p:cNvGrpSpPr/>
          <p:nvPr/>
        </p:nvGrpSpPr>
        <p:grpSpPr>
          <a:xfrm>
            <a:off x="10406086" y="4992674"/>
            <a:ext cx="2395663" cy="749300"/>
            <a:chOff x="0" y="0"/>
            <a:chExt cx="1055509" cy="330135"/>
          </a:xfrm>
        </p:grpSpPr>
        <p:sp>
          <p:nvSpPr>
            <p:cNvPr id="110" name="Freeform 110"/>
            <p:cNvSpPr/>
            <p:nvPr/>
          </p:nvSpPr>
          <p:spPr>
            <a:xfrm>
              <a:off x="0" y="0"/>
              <a:ext cx="1055509" cy="330135"/>
            </a:xfrm>
            <a:custGeom>
              <a:avLst/>
              <a:gdLst/>
              <a:ahLst/>
              <a:cxnLst/>
              <a:rect l="l" t="t" r="r" b="b"/>
              <a:pathLst>
                <a:path w="1055509" h="330135">
                  <a:moveTo>
                    <a:pt x="55544" y="0"/>
                  </a:moveTo>
                  <a:lnTo>
                    <a:pt x="999965" y="0"/>
                  </a:lnTo>
                  <a:cubicBezTo>
                    <a:pt x="1014696" y="0"/>
                    <a:pt x="1028824" y="5852"/>
                    <a:pt x="1039240" y="16268"/>
                  </a:cubicBezTo>
                  <a:cubicBezTo>
                    <a:pt x="1049657" y="26685"/>
                    <a:pt x="1055509" y="40813"/>
                    <a:pt x="1055509" y="55544"/>
                  </a:cubicBezTo>
                  <a:lnTo>
                    <a:pt x="1055509" y="274591"/>
                  </a:lnTo>
                  <a:cubicBezTo>
                    <a:pt x="1055509" y="289322"/>
                    <a:pt x="1049657" y="303450"/>
                    <a:pt x="1039240" y="313867"/>
                  </a:cubicBezTo>
                  <a:cubicBezTo>
                    <a:pt x="1028824" y="324283"/>
                    <a:pt x="1014696" y="330135"/>
                    <a:pt x="999965" y="330135"/>
                  </a:cubicBezTo>
                  <a:lnTo>
                    <a:pt x="55544" y="330135"/>
                  </a:lnTo>
                  <a:cubicBezTo>
                    <a:pt x="40813" y="330135"/>
                    <a:pt x="26685" y="324283"/>
                    <a:pt x="16268" y="313867"/>
                  </a:cubicBezTo>
                  <a:cubicBezTo>
                    <a:pt x="5852" y="303450"/>
                    <a:pt x="0" y="289322"/>
                    <a:pt x="0" y="274591"/>
                  </a:cubicBezTo>
                  <a:lnTo>
                    <a:pt x="0" y="55544"/>
                  </a:lnTo>
                  <a:cubicBezTo>
                    <a:pt x="0" y="40813"/>
                    <a:pt x="5852" y="26685"/>
                    <a:pt x="16268" y="16268"/>
                  </a:cubicBezTo>
                  <a:cubicBezTo>
                    <a:pt x="26685" y="5852"/>
                    <a:pt x="40813" y="0"/>
                    <a:pt x="55544" y="0"/>
                  </a:cubicBezTo>
                  <a:close/>
                </a:path>
              </a:pathLst>
            </a:custGeom>
            <a:solidFill>
              <a:srgbClr val="FFE66C"/>
            </a:solidFill>
          </p:spPr>
        </p:sp>
        <p:sp>
          <p:nvSpPr>
            <p:cNvPr id="111" name="TextBox 111"/>
            <p:cNvSpPr txBox="1"/>
            <p:nvPr/>
          </p:nvSpPr>
          <p:spPr>
            <a:xfrm>
              <a:off x="0" y="-28575"/>
              <a:ext cx="1055509" cy="358710"/>
            </a:xfrm>
            <a:prstGeom prst="rect">
              <a:avLst/>
            </a:prstGeom>
          </p:spPr>
          <p:txBody>
            <a:bodyPr lIns="50800" tIns="50800" rIns="50800" bIns="50800" rtlCol="0" anchor="ctr"/>
            <a:lstStyle/>
            <a:p>
              <a:pPr algn="ctr">
                <a:lnSpc>
                  <a:spcPts val="1749"/>
                </a:lnSpc>
              </a:pPr>
              <a:r>
                <a:rPr lang="en-US" sz="1249" b="1" spc="28">
                  <a:solidFill>
                    <a:srgbClr val="3D1700"/>
                  </a:solidFill>
                  <a:latin typeface="Caladea Bold"/>
                  <a:ea typeface="Caladea Bold"/>
                  <a:cs typeface="Caladea Bold"/>
                  <a:sym typeface="Caladea Bold"/>
                </a:rPr>
                <a:t>Citation Ranking Engine</a:t>
              </a:r>
            </a:p>
            <a:p>
              <a:pPr algn="ctr">
                <a:lnSpc>
                  <a:spcPts val="1749"/>
                </a:lnSpc>
              </a:pPr>
              <a:r>
                <a:rPr lang="en-US" sz="1249" spc="28">
                  <a:solidFill>
                    <a:srgbClr val="3D1700"/>
                  </a:solidFill>
                  <a:latin typeface="Caladea"/>
                  <a:ea typeface="Caladea"/>
                  <a:cs typeface="Caladea"/>
                  <a:sym typeface="Caladea"/>
                </a:rPr>
                <a:t>deduplicates evidence, sorts by authority tier</a:t>
              </a:r>
            </a:p>
          </p:txBody>
        </p:sp>
      </p:grpSp>
      <p:grpSp>
        <p:nvGrpSpPr>
          <p:cNvPr id="112" name="Group 112"/>
          <p:cNvGrpSpPr/>
          <p:nvPr/>
        </p:nvGrpSpPr>
        <p:grpSpPr>
          <a:xfrm>
            <a:off x="10406086" y="5890042"/>
            <a:ext cx="2395663" cy="739986"/>
            <a:chOff x="0" y="0"/>
            <a:chExt cx="1055509" cy="326032"/>
          </a:xfrm>
        </p:grpSpPr>
        <p:sp>
          <p:nvSpPr>
            <p:cNvPr id="113" name="Freeform 113"/>
            <p:cNvSpPr/>
            <p:nvPr/>
          </p:nvSpPr>
          <p:spPr>
            <a:xfrm>
              <a:off x="0" y="0"/>
              <a:ext cx="1055509" cy="326032"/>
            </a:xfrm>
            <a:custGeom>
              <a:avLst/>
              <a:gdLst/>
              <a:ahLst/>
              <a:cxnLst/>
              <a:rect l="l" t="t" r="r" b="b"/>
              <a:pathLst>
                <a:path w="1055509" h="326032">
                  <a:moveTo>
                    <a:pt x="55544" y="0"/>
                  </a:moveTo>
                  <a:lnTo>
                    <a:pt x="999965" y="0"/>
                  </a:lnTo>
                  <a:cubicBezTo>
                    <a:pt x="1014696" y="0"/>
                    <a:pt x="1028824" y="5852"/>
                    <a:pt x="1039240" y="16268"/>
                  </a:cubicBezTo>
                  <a:cubicBezTo>
                    <a:pt x="1049657" y="26685"/>
                    <a:pt x="1055509" y="40813"/>
                    <a:pt x="1055509" y="55544"/>
                  </a:cubicBezTo>
                  <a:lnTo>
                    <a:pt x="1055509" y="270488"/>
                  </a:lnTo>
                  <a:cubicBezTo>
                    <a:pt x="1055509" y="285219"/>
                    <a:pt x="1049657" y="299347"/>
                    <a:pt x="1039240" y="309763"/>
                  </a:cubicBezTo>
                  <a:cubicBezTo>
                    <a:pt x="1028824" y="320180"/>
                    <a:pt x="1014696" y="326032"/>
                    <a:pt x="999965" y="326032"/>
                  </a:cubicBezTo>
                  <a:lnTo>
                    <a:pt x="55544" y="326032"/>
                  </a:lnTo>
                  <a:cubicBezTo>
                    <a:pt x="40813" y="326032"/>
                    <a:pt x="26685" y="320180"/>
                    <a:pt x="16268" y="309763"/>
                  </a:cubicBezTo>
                  <a:cubicBezTo>
                    <a:pt x="5852" y="299347"/>
                    <a:pt x="0" y="285219"/>
                    <a:pt x="0" y="270488"/>
                  </a:cubicBezTo>
                  <a:lnTo>
                    <a:pt x="0" y="55544"/>
                  </a:lnTo>
                  <a:cubicBezTo>
                    <a:pt x="0" y="40813"/>
                    <a:pt x="5852" y="26685"/>
                    <a:pt x="16268" y="16268"/>
                  </a:cubicBezTo>
                  <a:cubicBezTo>
                    <a:pt x="26685" y="5852"/>
                    <a:pt x="40813" y="0"/>
                    <a:pt x="55544" y="0"/>
                  </a:cubicBezTo>
                  <a:close/>
                </a:path>
              </a:pathLst>
            </a:custGeom>
            <a:solidFill>
              <a:srgbClr val="FFE66C"/>
            </a:solidFill>
          </p:spPr>
        </p:sp>
        <p:sp>
          <p:nvSpPr>
            <p:cNvPr id="114" name="TextBox 114"/>
            <p:cNvSpPr txBox="1"/>
            <p:nvPr/>
          </p:nvSpPr>
          <p:spPr>
            <a:xfrm>
              <a:off x="0" y="-38100"/>
              <a:ext cx="1055509" cy="364132"/>
            </a:xfrm>
            <a:prstGeom prst="rect">
              <a:avLst/>
            </a:prstGeom>
          </p:spPr>
          <p:txBody>
            <a:bodyPr lIns="50800" tIns="50800" rIns="50800" bIns="50800" rtlCol="0" anchor="ctr"/>
            <a:lstStyle/>
            <a:p>
              <a:pPr algn="ctr">
                <a:lnSpc>
                  <a:spcPts val="1609"/>
                </a:lnSpc>
              </a:pPr>
              <a:r>
                <a:rPr lang="en-US" sz="1149" b="1" spc="26">
                  <a:solidFill>
                    <a:srgbClr val="3D1700"/>
                  </a:solidFill>
                  <a:latin typeface="Caladea Bold"/>
                  <a:ea typeface="Caladea Bold"/>
                  <a:cs typeface="Caladea Bold"/>
                  <a:sym typeface="Caladea Bold"/>
                </a:rPr>
                <a:t>LLM Synthesis (Groq)</a:t>
              </a:r>
            </a:p>
            <a:p>
              <a:pPr algn="ctr">
                <a:lnSpc>
                  <a:spcPts val="1609"/>
                </a:lnSpc>
              </a:pPr>
              <a:r>
                <a:rPr lang="en-US" sz="1149" b="1" spc="26">
                  <a:solidFill>
                    <a:srgbClr val="3D1700"/>
                  </a:solidFill>
                  <a:latin typeface="Caladea Bold"/>
                  <a:ea typeface="Caladea Bold"/>
                  <a:cs typeface="Caladea Bold"/>
                  <a:sym typeface="Caladea Bold"/>
                </a:rPr>
                <a:t>(</a:t>
              </a:r>
              <a:r>
                <a:rPr lang="en-US" sz="1149" spc="26">
                  <a:solidFill>
                    <a:srgbClr val="3D1700"/>
                  </a:solidFill>
                  <a:latin typeface="Caladea"/>
                  <a:ea typeface="Caladea"/>
                  <a:cs typeface="Caladea"/>
                  <a:sym typeface="Caladea"/>
                </a:rPr>
                <a:t>generates the final structured, citation-bound answer)</a:t>
              </a:r>
            </a:p>
          </p:txBody>
        </p:sp>
      </p:grpSp>
      <p:sp>
        <p:nvSpPr>
          <p:cNvPr id="115" name="Freeform 115"/>
          <p:cNvSpPr/>
          <p:nvPr/>
        </p:nvSpPr>
        <p:spPr>
          <a:xfrm>
            <a:off x="12998543" y="4534498"/>
            <a:ext cx="504937" cy="573792"/>
          </a:xfrm>
          <a:custGeom>
            <a:avLst/>
            <a:gdLst/>
            <a:ahLst/>
            <a:cxnLst/>
            <a:rect l="l" t="t" r="r" b="b"/>
            <a:pathLst>
              <a:path w="504937" h="573792">
                <a:moveTo>
                  <a:pt x="0" y="0"/>
                </a:moveTo>
                <a:lnTo>
                  <a:pt x="504937" y="0"/>
                </a:lnTo>
                <a:lnTo>
                  <a:pt x="504937" y="573792"/>
                </a:lnTo>
                <a:lnTo>
                  <a:pt x="0" y="573792"/>
                </a:lnTo>
                <a:lnTo>
                  <a:pt x="0" y="0"/>
                </a:lnTo>
                <a:close/>
              </a:path>
            </a:pathLst>
          </a:custGeom>
          <a:blipFill>
            <a:blip r:embed="rId10"/>
            <a:stretch>
              <a:fillRect/>
            </a:stretch>
          </a:blipFill>
        </p:spPr>
      </p:sp>
      <p:grpSp>
        <p:nvGrpSpPr>
          <p:cNvPr id="116" name="Group 116"/>
          <p:cNvGrpSpPr/>
          <p:nvPr/>
        </p:nvGrpSpPr>
        <p:grpSpPr>
          <a:xfrm>
            <a:off x="14960874" y="1970976"/>
            <a:ext cx="1059438" cy="1059438"/>
            <a:chOff x="0" y="0"/>
            <a:chExt cx="812800" cy="812800"/>
          </a:xfrm>
        </p:grpSpPr>
        <p:sp>
          <p:nvSpPr>
            <p:cNvPr id="117" name="Freeform 1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18" name="TextBox 118"/>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grpSp>
        <p:nvGrpSpPr>
          <p:cNvPr id="119" name="Group 119"/>
          <p:cNvGrpSpPr/>
          <p:nvPr/>
        </p:nvGrpSpPr>
        <p:grpSpPr>
          <a:xfrm>
            <a:off x="16142629" y="3114872"/>
            <a:ext cx="1059438" cy="1059438"/>
            <a:chOff x="0" y="0"/>
            <a:chExt cx="812800" cy="812800"/>
          </a:xfrm>
        </p:grpSpPr>
        <p:sp>
          <p:nvSpPr>
            <p:cNvPr id="120" name="Freeform 1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21" name="TextBox 121"/>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grpSp>
        <p:nvGrpSpPr>
          <p:cNvPr id="122" name="Group 122"/>
          <p:cNvGrpSpPr/>
          <p:nvPr/>
        </p:nvGrpSpPr>
        <p:grpSpPr>
          <a:xfrm>
            <a:off x="14956674" y="4307886"/>
            <a:ext cx="1059438" cy="1059438"/>
            <a:chOff x="0" y="0"/>
            <a:chExt cx="812800" cy="812800"/>
          </a:xfrm>
        </p:grpSpPr>
        <p:sp>
          <p:nvSpPr>
            <p:cNvPr id="123" name="Freeform 1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24" name="TextBox 124"/>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grpSp>
        <p:nvGrpSpPr>
          <p:cNvPr id="125" name="Group 125"/>
          <p:cNvGrpSpPr/>
          <p:nvPr/>
        </p:nvGrpSpPr>
        <p:grpSpPr>
          <a:xfrm>
            <a:off x="16123579" y="5525738"/>
            <a:ext cx="1059438" cy="1059438"/>
            <a:chOff x="0" y="0"/>
            <a:chExt cx="812800" cy="812800"/>
          </a:xfrm>
        </p:grpSpPr>
        <p:sp>
          <p:nvSpPr>
            <p:cNvPr id="126" name="Freeform 1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27" name="TextBox 127"/>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grpSp>
        <p:nvGrpSpPr>
          <p:cNvPr id="128" name="Group 128"/>
          <p:cNvGrpSpPr/>
          <p:nvPr/>
        </p:nvGrpSpPr>
        <p:grpSpPr>
          <a:xfrm>
            <a:off x="14960874" y="6728529"/>
            <a:ext cx="1059438" cy="1059438"/>
            <a:chOff x="0" y="0"/>
            <a:chExt cx="812800" cy="812800"/>
          </a:xfrm>
        </p:grpSpPr>
        <p:sp>
          <p:nvSpPr>
            <p:cNvPr id="129" name="Freeform 1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30" name="TextBox 130"/>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grpSp>
        <p:nvGrpSpPr>
          <p:cNvPr id="131" name="Group 131"/>
          <p:cNvGrpSpPr/>
          <p:nvPr/>
        </p:nvGrpSpPr>
        <p:grpSpPr>
          <a:xfrm>
            <a:off x="16133104" y="7914317"/>
            <a:ext cx="1059438" cy="1059438"/>
            <a:chOff x="0" y="0"/>
            <a:chExt cx="812800" cy="812800"/>
          </a:xfrm>
        </p:grpSpPr>
        <p:sp>
          <p:nvSpPr>
            <p:cNvPr id="132" name="Freeform 1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FEFE"/>
            </a:solidFill>
          </p:spPr>
        </p:sp>
        <p:sp>
          <p:nvSpPr>
            <p:cNvPr id="133" name="TextBox 133"/>
            <p:cNvSpPr txBox="1"/>
            <p:nvPr/>
          </p:nvSpPr>
          <p:spPr>
            <a:xfrm>
              <a:off x="76200" y="28575"/>
              <a:ext cx="660400" cy="708025"/>
            </a:xfrm>
            <a:prstGeom prst="rect">
              <a:avLst/>
            </a:prstGeom>
          </p:spPr>
          <p:txBody>
            <a:bodyPr lIns="50800" tIns="50800" rIns="50800" bIns="50800" rtlCol="0" anchor="ctr"/>
            <a:lstStyle/>
            <a:p>
              <a:pPr algn="ctr">
                <a:lnSpc>
                  <a:spcPts val="3131"/>
                </a:lnSpc>
              </a:pPr>
              <a:endParaRPr/>
            </a:p>
          </p:txBody>
        </p:sp>
      </p:grpSp>
      <p:sp>
        <p:nvSpPr>
          <p:cNvPr id="134" name="Freeform 134"/>
          <p:cNvSpPr/>
          <p:nvPr/>
        </p:nvSpPr>
        <p:spPr>
          <a:xfrm>
            <a:off x="15082306" y="2055149"/>
            <a:ext cx="827723" cy="853323"/>
          </a:xfrm>
          <a:custGeom>
            <a:avLst/>
            <a:gdLst/>
            <a:ahLst/>
            <a:cxnLst/>
            <a:rect l="l" t="t" r="r" b="b"/>
            <a:pathLst>
              <a:path w="827723" h="853323">
                <a:moveTo>
                  <a:pt x="0" y="0"/>
                </a:moveTo>
                <a:lnTo>
                  <a:pt x="827724" y="0"/>
                </a:lnTo>
                <a:lnTo>
                  <a:pt x="827724" y="853323"/>
                </a:lnTo>
                <a:lnTo>
                  <a:pt x="0" y="853323"/>
                </a:lnTo>
                <a:lnTo>
                  <a:pt x="0" y="0"/>
                </a:lnTo>
                <a:close/>
              </a:path>
            </a:pathLst>
          </a:custGeom>
          <a:blipFill>
            <a:blip r:embed="rId11"/>
            <a:stretch>
              <a:fillRect/>
            </a:stretch>
          </a:blipFill>
        </p:spPr>
      </p:sp>
      <p:sp>
        <p:nvSpPr>
          <p:cNvPr id="135" name="Freeform 135"/>
          <p:cNvSpPr/>
          <p:nvPr/>
        </p:nvSpPr>
        <p:spPr>
          <a:xfrm>
            <a:off x="16240093" y="3244045"/>
            <a:ext cx="845461" cy="769369"/>
          </a:xfrm>
          <a:custGeom>
            <a:avLst/>
            <a:gdLst/>
            <a:ahLst/>
            <a:cxnLst/>
            <a:rect l="l" t="t" r="r" b="b"/>
            <a:pathLst>
              <a:path w="845461" h="769369">
                <a:moveTo>
                  <a:pt x="0" y="0"/>
                </a:moveTo>
                <a:lnTo>
                  <a:pt x="845461" y="0"/>
                </a:lnTo>
                <a:lnTo>
                  <a:pt x="845461" y="769370"/>
                </a:lnTo>
                <a:lnTo>
                  <a:pt x="0" y="769370"/>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136" name="Freeform 136"/>
          <p:cNvSpPr/>
          <p:nvPr/>
        </p:nvSpPr>
        <p:spPr>
          <a:xfrm>
            <a:off x="14999398" y="4452642"/>
            <a:ext cx="973990" cy="837631"/>
          </a:xfrm>
          <a:custGeom>
            <a:avLst/>
            <a:gdLst/>
            <a:ahLst/>
            <a:cxnLst/>
            <a:rect l="l" t="t" r="r" b="b"/>
            <a:pathLst>
              <a:path w="973990" h="837631">
                <a:moveTo>
                  <a:pt x="0" y="0"/>
                </a:moveTo>
                <a:lnTo>
                  <a:pt x="973990" y="0"/>
                </a:lnTo>
                <a:lnTo>
                  <a:pt x="973990" y="837631"/>
                </a:lnTo>
                <a:lnTo>
                  <a:pt x="0" y="837631"/>
                </a:lnTo>
                <a:lnTo>
                  <a:pt x="0" y="0"/>
                </a:lnTo>
                <a:close/>
              </a:path>
            </a:pathLst>
          </a:custGeom>
          <a:blipFill>
            <a:blip>
              <a:extLst>
                <a:ext uri="{96DAC541-7B7A-43D3-8B79-37D633B846F1}">
                  <asvg:svgBlip xmlns:asvg="http://schemas.microsoft.com/office/drawing/2016/SVG/main" r:embed="rId13"/>
                </a:ext>
              </a:extLst>
            </a:blip>
            <a:stretch>
              <a:fillRect/>
            </a:stretch>
          </a:blipFill>
        </p:spPr>
      </p:sp>
      <p:sp>
        <p:nvSpPr>
          <p:cNvPr id="137" name="Freeform 137"/>
          <p:cNvSpPr/>
          <p:nvPr/>
        </p:nvSpPr>
        <p:spPr>
          <a:xfrm>
            <a:off x="15722594" y="4812133"/>
            <a:ext cx="132941" cy="206110"/>
          </a:xfrm>
          <a:custGeom>
            <a:avLst/>
            <a:gdLst/>
            <a:ahLst/>
            <a:cxnLst/>
            <a:rect l="l" t="t" r="r" b="b"/>
            <a:pathLst>
              <a:path w="132941" h="206110">
                <a:moveTo>
                  <a:pt x="0" y="0"/>
                </a:moveTo>
                <a:lnTo>
                  <a:pt x="132941" y="0"/>
                </a:lnTo>
                <a:lnTo>
                  <a:pt x="132941" y="206110"/>
                </a:lnTo>
                <a:lnTo>
                  <a:pt x="0" y="206110"/>
                </a:lnTo>
                <a:lnTo>
                  <a:pt x="0" y="0"/>
                </a:lnTo>
                <a:close/>
              </a:path>
            </a:pathLst>
          </a:custGeom>
          <a:blipFill>
            <a:blip>
              <a:extLst>
                <a:ext uri="{96DAC541-7B7A-43D3-8B79-37D633B846F1}">
                  <asvg:svgBlip xmlns:asvg="http://schemas.microsoft.com/office/drawing/2016/SVG/main" r:embed="rId14"/>
                </a:ext>
              </a:extLst>
            </a:blip>
            <a:stretch>
              <a:fillRect/>
            </a:stretch>
          </a:blipFill>
        </p:spPr>
      </p:sp>
      <p:sp>
        <p:nvSpPr>
          <p:cNvPr id="138" name="Freeform 138"/>
          <p:cNvSpPr/>
          <p:nvPr/>
        </p:nvSpPr>
        <p:spPr>
          <a:xfrm>
            <a:off x="15101356" y="4704089"/>
            <a:ext cx="148319" cy="148319"/>
          </a:xfrm>
          <a:custGeom>
            <a:avLst/>
            <a:gdLst/>
            <a:ahLst/>
            <a:cxnLst/>
            <a:rect l="l" t="t" r="r" b="b"/>
            <a:pathLst>
              <a:path w="148319" h="148319">
                <a:moveTo>
                  <a:pt x="0" y="0"/>
                </a:moveTo>
                <a:lnTo>
                  <a:pt x="148319" y="0"/>
                </a:lnTo>
                <a:lnTo>
                  <a:pt x="148319" y="148319"/>
                </a:lnTo>
                <a:lnTo>
                  <a:pt x="0" y="148319"/>
                </a:lnTo>
                <a:lnTo>
                  <a:pt x="0" y="0"/>
                </a:lnTo>
                <a:close/>
              </a:path>
            </a:pathLst>
          </a:custGeom>
          <a:blipFill>
            <a:blip>
              <a:extLst>
                <a:ext uri="{96DAC541-7B7A-43D3-8B79-37D633B846F1}">
                  <asvg:svgBlip xmlns:asvg="http://schemas.microsoft.com/office/drawing/2016/SVG/main" r:embed="rId15"/>
                </a:ext>
              </a:extLst>
            </a:blip>
            <a:stretch>
              <a:fillRect/>
            </a:stretch>
          </a:blipFill>
        </p:spPr>
      </p:sp>
      <p:sp>
        <p:nvSpPr>
          <p:cNvPr id="139" name="Freeform 139"/>
          <p:cNvSpPr/>
          <p:nvPr/>
        </p:nvSpPr>
        <p:spPr>
          <a:xfrm>
            <a:off x="16313757" y="5646342"/>
            <a:ext cx="679083" cy="838374"/>
          </a:xfrm>
          <a:custGeom>
            <a:avLst/>
            <a:gdLst/>
            <a:ahLst/>
            <a:cxnLst/>
            <a:rect l="l" t="t" r="r" b="b"/>
            <a:pathLst>
              <a:path w="679083" h="838374">
                <a:moveTo>
                  <a:pt x="0" y="0"/>
                </a:moveTo>
                <a:lnTo>
                  <a:pt x="679083" y="0"/>
                </a:lnTo>
                <a:lnTo>
                  <a:pt x="679083" y="838374"/>
                </a:lnTo>
                <a:lnTo>
                  <a:pt x="0" y="838374"/>
                </a:lnTo>
                <a:lnTo>
                  <a:pt x="0" y="0"/>
                </a:lnTo>
                <a:close/>
              </a:path>
            </a:pathLst>
          </a:custGeom>
          <a:blipFill>
            <a:blip>
              <a:extLst>
                <a:ext uri="{96DAC541-7B7A-43D3-8B79-37D633B846F1}">
                  <asvg:svgBlip xmlns:asvg="http://schemas.microsoft.com/office/drawing/2016/SVG/main" r:embed="rId16"/>
                </a:ext>
              </a:extLst>
            </a:blip>
            <a:stretch>
              <a:fillRect/>
            </a:stretch>
          </a:blipFill>
        </p:spPr>
      </p:sp>
      <p:sp>
        <p:nvSpPr>
          <p:cNvPr id="140" name="Freeform 140"/>
          <p:cNvSpPr/>
          <p:nvPr/>
        </p:nvSpPr>
        <p:spPr>
          <a:xfrm>
            <a:off x="15108003" y="6834889"/>
            <a:ext cx="756780" cy="776185"/>
          </a:xfrm>
          <a:custGeom>
            <a:avLst/>
            <a:gdLst/>
            <a:ahLst/>
            <a:cxnLst/>
            <a:rect l="l" t="t" r="r" b="b"/>
            <a:pathLst>
              <a:path w="756780" h="776185">
                <a:moveTo>
                  <a:pt x="0" y="0"/>
                </a:moveTo>
                <a:lnTo>
                  <a:pt x="756780" y="0"/>
                </a:lnTo>
                <a:lnTo>
                  <a:pt x="756780" y="776185"/>
                </a:lnTo>
                <a:lnTo>
                  <a:pt x="0" y="776185"/>
                </a:lnTo>
                <a:lnTo>
                  <a:pt x="0" y="0"/>
                </a:lnTo>
                <a:close/>
              </a:path>
            </a:pathLst>
          </a:custGeom>
          <a:blipFill>
            <a:blip>
              <a:extLst>
                <a:ext uri="{96DAC541-7B7A-43D3-8B79-37D633B846F1}">
                  <asvg:svgBlip xmlns:asvg="http://schemas.microsoft.com/office/drawing/2016/SVG/main" r:embed="rId17"/>
                </a:ext>
              </a:extLst>
            </a:blip>
            <a:stretch>
              <a:fillRect/>
            </a:stretch>
          </a:blipFill>
        </p:spPr>
      </p:sp>
      <p:sp>
        <p:nvSpPr>
          <p:cNvPr id="141" name="Freeform 141"/>
          <p:cNvSpPr/>
          <p:nvPr/>
        </p:nvSpPr>
        <p:spPr>
          <a:xfrm>
            <a:off x="16240093" y="7996275"/>
            <a:ext cx="845461" cy="845461"/>
          </a:xfrm>
          <a:custGeom>
            <a:avLst/>
            <a:gdLst/>
            <a:ahLst/>
            <a:cxnLst/>
            <a:rect l="l" t="t" r="r" b="b"/>
            <a:pathLst>
              <a:path w="845461" h="845461">
                <a:moveTo>
                  <a:pt x="0" y="0"/>
                </a:moveTo>
                <a:lnTo>
                  <a:pt x="845461" y="0"/>
                </a:lnTo>
                <a:lnTo>
                  <a:pt x="845461" y="845461"/>
                </a:lnTo>
                <a:lnTo>
                  <a:pt x="0" y="845461"/>
                </a:lnTo>
                <a:lnTo>
                  <a:pt x="0" y="0"/>
                </a:lnTo>
                <a:close/>
              </a:path>
            </a:pathLst>
          </a:custGeom>
          <a:blipFill>
            <a:blip>
              <a:extLst>
                <a:ext uri="{96DAC541-7B7A-43D3-8B79-37D633B846F1}">
                  <asvg:svgBlip xmlns:asvg="http://schemas.microsoft.com/office/drawing/2016/SVG/main" r:embed="rId18"/>
                </a:ext>
              </a:extLst>
            </a:blip>
            <a:stretch>
              <a:fillRect/>
            </a:stretch>
          </a:blipFill>
        </p:spPr>
      </p:sp>
      <p:sp>
        <p:nvSpPr>
          <p:cNvPr id="142" name="TextBox 142"/>
          <p:cNvSpPr txBox="1"/>
          <p:nvPr/>
        </p:nvSpPr>
        <p:spPr>
          <a:xfrm>
            <a:off x="5874391" y="165922"/>
            <a:ext cx="6680035" cy="687191"/>
          </a:xfrm>
          <a:prstGeom prst="rect">
            <a:avLst/>
          </a:prstGeom>
        </p:spPr>
        <p:txBody>
          <a:bodyPr lIns="0" tIns="0" rIns="0" bIns="0" rtlCol="0" anchor="t">
            <a:spAutoFit/>
          </a:bodyPr>
          <a:lstStyle/>
          <a:p>
            <a:pPr algn="l">
              <a:lnSpc>
                <a:spcPts val="5599"/>
              </a:lnSpc>
            </a:pPr>
            <a:r>
              <a:rPr lang="en-US" sz="3999" b="1">
                <a:solidFill>
                  <a:srgbClr val="000000"/>
                </a:solidFill>
                <a:latin typeface="Georgia Pro Bold"/>
                <a:ea typeface="Georgia Pro Bold"/>
                <a:cs typeface="Georgia Pro Bold"/>
                <a:sym typeface="Georgia Pro Bold"/>
              </a:rPr>
              <a:t>TECHNICAL APPROACH</a:t>
            </a:r>
          </a:p>
        </p:txBody>
      </p:sp>
      <p:sp>
        <p:nvSpPr>
          <p:cNvPr id="143" name="TextBox 143"/>
          <p:cNvSpPr txBox="1"/>
          <p:nvPr/>
        </p:nvSpPr>
        <p:spPr>
          <a:xfrm>
            <a:off x="7431214" y="9832934"/>
            <a:ext cx="3929896" cy="306705"/>
          </a:xfrm>
          <a:prstGeom prst="rect">
            <a:avLst/>
          </a:prstGeom>
        </p:spPr>
        <p:txBody>
          <a:bodyPr lIns="0" tIns="0" rIns="0" bIns="0" rtlCol="0" anchor="t">
            <a:spAutoFit/>
          </a:bodyPr>
          <a:lstStyle/>
          <a:p>
            <a:pPr algn="l">
              <a:lnSpc>
                <a:spcPts val="2520"/>
              </a:lnSpc>
            </a:pPr>
            <a:r>
              <a:rPr lang="en-US" sz="1800" spc="127">
                <a:solidFill>
                  <a:srgbClr val="FFFFFF"/>
                </a:solidFill>
                <a:latin typeface="Calistoga"/>
                <a:ea typeface="Calistoga"/>
                <a:cs typeface="Calistoga"/>
                <a:sym typeface="Calistoga"/>
              </a:rPr>
              <a:t>SMART INDIA HACKATHON 2026</a:t>
            </a:r>
          </a:p>
        </p:txBody>
      </p:sp>
      <p:sp>
        <p:nvSpPr>
          <p:cNvPr id="144" name="TextBox 144"/>
          <p:cNvSpPr txBox="1"/>
          <p:nvPr/>
        </p:nvSpPr>
        <p:spPr>
          <a:xfrm>
            <a:off x="17230744" y="9838887"/>
            <a:ext cx="145504" cy="318135"/>
          </a:xfrm>
          <a:prstGeom prst="rect">
            <a:avLst/>
          </a:prstGeom>
        </p:spPr>
        <p:txBody>
          <a:bodyPr lIns="0" tIns="0" rIns="0" bIns="0" rtlCol="0" anchor="t">
            <a:spAutoFit/>
          </a:bodyPr>
          <a:lstStyle/>
          <a:p>
            <a:pPr algn="l">
              <a:lnSpc>
                <a:spcPts val="2520"/>
              </a:lnSpc>
            </a:pPr>
            <a:r>
              <a:rPr lang="en-US" sz="1800">
                <a:solidFill>
                  <a:srgbClr val="FFFFFF"/>
                </a:solidFill>
                <a:latin typeface="Calistoga"/>
                <a:ea typeface="Calistoga"/>
                <a:cs typeface="Calistoga"/>
                <a:sym typeface="Calistoga"/>
              </a:rPr>
              <a:t>3</a:t>
            </a:r>
          </a:p>
        </p:txBody>
      </p:sp>
      <p:sp>
        <p:nvSpPr>
          <p:cNvPr id="145" name="TextBox 145"/>
          <p:cNvSpPr txBox="1"/>
          <p:nvPr/>
        </p:nvSpPr>
        <p:spPr>
          <a:xfrm>
            <a:off x="793680" y="8724214"/>
            <a:ext cx="1881511" cy="768267"/>
          </a:xfrm>
          <a:prstGeom prst="rect">
            <a:avLst/>
          </a:prstGeom>
        </p:spPr>
        <p:txBody>
          <a:bodyPr lIns="0" tIns="0" rIns="0" bIns="0" rtlCol="0" anchor="t">
            <a:spAutoFit/>
          </a:bodyPr>
          <a:lstStyle/>
          <a:p>
            <a:pPr algn="ctr">
              <a:lnSpc>
                <a:spcPts val="1949"/>
              </a:lnSpc>
            </a:pPr>
            <a:r>
              <a:rPr lang="en-US" sz="1999" spc="19">
                <a:solidFill>
                  <a:srgbClr val="1800AD"/>
                </a:solidFill>
                <a:latin typeface="Calistoga"/>
                <a:ea typeface="Calistoga"/>
                <a:cs typeface="Calistoga"/>
                <a:sym typeface="Calistoga"/>
              </a:rPr>
              <a:t>Components / Technology stack to be used</a:t>
            </a:r>
          </a:p>
        </p:txBody>
      </p:sp>
      <p:sp>
        <p:nvSpPr>
          <p:cNvPr id="146" name="TextBox 146"/>
          <p:cNvSpPr txBox="1"/>
          <p:nvPr/>
        </p:nvSpPr>
        <p:spPr>
          <a:xfrm>
            <a:off x="14427356" y="1063600"/>
            <a:ext cx="3690337" cy="434426"/>
          </a:xfrm>
          <a:prstGeom prst="rect">
            <a:avLst/>
          </a:prstGeom>
        </p:spPr>
        <p:txBody>
          <a:bodyPr lIns="0" tIns="0" rIns="0" bIns="0" rtlCol="0" anchor="t">
            <a:spAutoFit/>
          </a:bodyPr>
          <a:lstStyle/>
          <a:p>
            <a:pPr algn="l">
              <a:lnSpc>
                <a:spcPts val="3499"/>
              </a:lnSpc>
            </a:pPr>
            <a:r>
              <a:rPr lang="en-US" sz="2499" b="1">
                <a:solidFill>
                  <a:srgbClr val="C00000"/>
                </a:solidFill>
                <a:latin typeface="Comic Sans Bold"/>
                <a:ea typeface="Comic Sans Bold"/>
                <a:cs typeface="Comic Sans Bold"/>
                <a:sym typeface="Comic Sans Bold"/>
              </a:rPr>
              <a:t>Implementation Process</a:t>
            </a:r>
          </a:p>
        </p:txBody>
      </p:sp>
      <p:sp>
        <p:nvSpPr>
          <p:cNvPr id="147" name="TextBox 147"/>
          <p:cNvSpPr txBox="1"/>
          <p:nvPr/>
        </p:nvSpPr>
        <p:spPr>
          <a:xfrm>
            <a:off x="14157512" y="5535263"/>
            <a:ext cx="1515704" cy="422832"/>
          </a:xfrm>
          <a:prstGeom prst="rect">
            <a:avLst/>
          </a:prstGeom>
        </p:spPr>
        <p:txBody>
          <a:bodyPr lIns="0" tIns="0" rIns="0" bIns="0" rtlCol="0" anchor="t">
            <a:spAutoFit/>
          </a:bodyPr>
          <a:lstStyle/>
          <a:p>
            <a:pPr algn="r">
              <a:lnSpc>
                <a:spcPts val="1650"/>
              </a:lnSpc>
            </a:pPr>
            <a:r>
              <a:rPr lang="en-US" sz="1399" spc="34">
                <a:solidFill>
                  <a:srgbClr val="000000"/>
                </a:solidFill>
                <a:latin typeface="Calistoga"/>
                <a:ea typeface="Calistoga"/>
                <a:cs typeface="Calistoga"/>
                <a:sym typeface="Calistoga"/>
              </a:rPr>
              <a:t>Evidence Fusion &amp; Ranking</a:t>
            </a:r>
          </a:p>
        </p:txBody>
      </p:sp>
      <p:sp>
        <p:nvSpPr>
          <p:cNvPr id="148" name="TextBox 148"/>
          <p:cNvSpPr txBox="1"/>
          <p:nvPr/>
        </p:nvSpPr>
        <p:spPr>
          <a:xfrm>
            <a:off x="15031307" y="5925598"/>
            <a:ext cx="35614" cy="217018"/>
          </a:xfrm>
          <a:prstGeom prst="rect">
            <a:avLst/>
          </a:prstGeom>
        </p:spPr>
        <p:txBody>
          <a:bodyPr lIns="0" tIns="0" rIns="0" bIns="0" rtlCol="0" anchor="t">
            <a:spAutoFit/>
          </a:bodyPr>
          <a:lstStyle/>
          <a:p>
            <a:pPr algn="l">
              <a:lnSpc>
                <a:spcPts val="1749"/>
              </a:lnSpc>
            </a:pPr>
            <a:r>
              <a:rPr lang="en-US" sz="1249">
                <a:solidFill>
                  <a:srgbClr val="000000"/>
                </a:solidFill>
                <a:latin typeface="Caladea"/>
                <a:ea typeface="Caladea"/>
                <a:cs typeface="Caladea"/>
                <a:sym typeface="Caladea"/>
              </a:rPr>
              <a:t> </a:t>
            </a:r>
          </a:p>
        </p:txBody>
      </p:sp>
      <p:sp>
        <p:nvSpPr>
          <p:cNvPr id="149" name="TextBox 149"/>
          <p:cNvSpPr txBox="1"/>
          <p:nvPr/>
        </p:nvSpPr>
        <p:spPr>
          <a:xfrm>
            <a:off x="13948831" y="3201407"/>
            <a:ext cx="1822323" cy="723900"/>
          </a:xfrm>
          <a:prstGeom prst="rect">
            <a:avLst/>
          </a:prstGeom>
        </p:spPr>
        <p:txBody>
          <a:bodyPr lIns="0" tIns="0" rIns="0" bIns="0" rtlCol="0" anchor="t">
            <a:spAutoFit/>
          </a:bodyPr>
          <a:lstStyle/>
          <a:p>
            <a:pPr algn="r">
              <a:lnSpc>
                <a:spcPts val="1499"/>
              </a:lnSpc>
            </a:pPr>
            <a:r>
              <a:rPr lang="en-US" sz="1249" b="1">
                <a:solidFill>
                  <a:srgbClr val="000000"/>
                </a:solidFill>
                <a:latin typeface="Caladea Bold"/>
                <a:ea typeface="Caladea Bold"/>
                <a:cs typeface="Caladea Bold"/>
                <a:sym typeface="Caladea Bold"/>
              </a:rPr>
              <a:t>Intent &amp; Language Detection </a:t>
            </a:r>
            <a:r>
              <a:rPr lang="en-US" sz="1249">
                <a:solidFill>
                  <a:srgbClr val="000000"/>
                </a:solidFill>
                <a:latin typeface="Caladea"/>
                <a:ea typeface="Caladea"/>
                <a:cs typeface="Caladea"/>
                <a:sym typeface="Caladea"/>
              </a:rPr>
              <a:t> Router classifies the query as conceptual, legal, or hybride.</a:t>
            </a:r>
          </a:p>
        </p:txBody>
      </p:sp>
      <p:sp>
        <p:nvSpPr>
          <p:cNvPr id="150" name="TextBox 150"/>
          <p:cNvSpPr txBox="1"/>
          <p:nvPr/>
        </p:nvSpPr>
        <p:spPr>
          <a:xfrm>
            <a:off x="14376597" y="3373536"/>
            <a:ext cx="35614" cy="217018"/>
          </a:xfrm>
          <a:prstGeom prst="rect">
            <a:avLst/>
          </a:prstGeom>
        </p:spPr>
        <p:txBody>
          <a:bodyPr lIns="0" tIns="0" rIns="0" bIns="0" rtlCol="0" anchor="t">
            <a:spAutoFit/>
          </a:bodyPr>
          <a:lstStyle/>
          <a:p>
            <a:pPr algn="l">
              <a:lnSpc>
                <a:spcPts val="1749"/>
              </a:lnSpc>
            </a:pPr>
            <a:r>
              <a:rPr lang="en-US" sz="1249">
                <a:solidFill>
                  <a:srgbClr val="000000"/>
                </a:solidFill>
                <a:latin typeface="Caladea"/>
                <a:ea typeface="Caladea"/>
                <a:cs typeface="Caladea"/>
                <a:sym typeface="Caladea"/>
              </a:rPr>
              <a:t> </a:t>
            </a:r>
          </a:p>
        </p:txBody>
      </p:sp>
      <p:sp>
        <p:nvSpPr>
          <p:cNvPr id="151" name="TextBox 151"/>
          <p:cNvSpPr txBox="1"/>
          <p:nvPr/>
        </p:nvSpPr>
        <p:spPr>
          <a:xfrm>
            <a:off x="16524027" y="6650946"/>
            <a:ext cx="1481357" cy="490176"/>
          </a:xfrm>
          <a:prstGeom prst="rect">
            <a:avLst/>
          </a:prstGeom>
        </p:spPr>
        <p:txBody>
          <a:bodyPr lIns="0" tIns="0" rIns="0" bIns="0" rtlCol="0" anchor="t">
            <a:spAutoFit/>
          </a:bodyPr>
          <a:lstStyle/>
          <a:p>
            <a:pPr algn="l">
              <a:lnSpc>
                <a:spcPts val="1945"/>
              </a:lnSpc>
            </a:pPr>
            <a:r>
              <a:rPr lang="en-US" sz="1649" b="1" spc="41">
                <a:solidFill>
                  <a:srgbClr val="000000"/>
                </a:solidFill>
                <a:latin typeface="Caladea Bold"/>
                <a:ea typeface="Caladea Bold"/>
                <a:cs typeface="Caladea Bold"/>
                <a:sym typeface="Caladea Bold"/>
              </a:rPr>
              <a:t>Guardrailed Synthesis</a:t>
            </a:r>
          </a:p>
        </p:txBody>
      </p:sp>
      <p:sp>
        <p:nvSpPr>
          <p:cNvPr id="152" name="TextBox 152"/>
          <p:cNvSpPr txBox="1"/>
          <p:nvPr/>
        </p:nvSpPr>
        <p:spPr>
          <a:xfrm>
            <a:off x="17549746" y="7063873"/>
            <a:ext cx="29928" cy="186928"/>
          </a:xfrm>
          <a:prstGeom prst="rect">
            <a:avLst/>
          </a:prstGeom>
        </p:spPr>
        <p:txBody>
          <a:bodyPr lIns="0" tIns="0" rIns="0" bIns="0" rtlCol="0" anchor="t">
            <a:spAutoFit/>
          </a:bodyPr>
          <a:lstStyle/>
          <a:p>
            <a:pPr algn="l">
              <a:lnSpc>
                <a:spcPts val="1470"/>
              </a:lnSpc>
            </a:pPr>
            <a:r>
              <a:rPr lang="en-US" sz="1050" spc="26">
                <a:solidFill>
                  <a:srgbClr val="000000"/>
                </a:solidFill>
                <a:latin typeface="Caladea"/>
                <a:ea typeface="Caladea"/>
                <a:cs typeface="Caladea"/>
                <a:sym typeface="Caladea"/>
              </a:rPr>
              <a:t> </a:t>
            </a:r>
          </a:p>
        </p:txBody>
      </p:sp>
      <p:sp>
        <p:nvSpPr>
          <p:cNvPr id="153" name="TextBox 153"/>
          <p:cNvSpPr txBox="1"/>
          <p:nvPr/>
        </p:nvSpPr>
        <p:spPr>
          <a:xfrm>
            <a:off x="16298466" y="1962950"/>
            <a:ext cx="1544389" cy="240678"/>
          </a:xfrm>
          <a:prstGeom prst="rect">
            <a:avLst/>
          </a:prstGeom>
        </p:spPr>
        <p:txBody>
          <a:bodyPr lIns="0" tIns="0" rIns="0" bIns="0" rtlCol="0" anchor="t">
            <a:spAutoFit/>
          </a:bodyPr>
          <a:lstStyle/>
          <a:p>
            <a:pPr algn="l">
              <a:lnSpc>
                <a:spcPts val="1959"/>
              </a:lnSpc>
            </a:pPr>
            <a:r>
              <a:rPr lang="en-US" sz="1399" spc="34">
                <a:solidFill>
                  <a:srgbClr val="000000"/>
                </a:solidFill>
                <a:latin typeface="Calistoga"/>
                <a:ea typeface="Calistoga"/>
                <a:cs typeface="Calistoga"/>
                <a:sym typeface="Calistoga"/>
              </a:rPr>
              <a:t>Query Submission</a:t>
            </a:r>
          </a:p>
        </p:txBody>
      </p:sp>
      <p:sp>
        <p:nvSpPr>
          <p:cNvPr id="154" name="TextBox 154"/>
          <p:cNvSpPr txBox="1"/>
          <p:nvPr/>
        </p:nvSpPr>
        <p:spPr>
          <a:xfrm>
            <a:off x="14128190" y="5925598"/>
            <a:ext cx="1441180" cy="654063"/>
          </a:xfrm>
          <a:prstGeom prst="rect">
            <a:avLst/>
          </a:prstGeom>
        </p:spPr>
        <p:txBody>
          <a:bodyPr lIns="0" tIns="0" rIns="0" bIns="0" rtlCol="0" anchor="t">
            <a:spAutoFit/>
          </a:bodyPr>
          <a:lstStyle/>
          <a:p>
            <a:pPr algn="l">
              <a:lnSpc>
                <a:spcPts val="1749"/>
              </a:lnSpc>
            </a:pPr>
            <a:r>
              <a:rPr lang="en-US" sz="1249">
                <a:solidFill>
                  <a:srgbClr val="000000"/>
                </a:solidFill>
                <a:latin typeface="Caladea"/>
                <a:ea typeface="Caladea"/>
                <a:cs typeface="Caladea"/>
                <a:sym typeface="Caladea"/>
              </a:rPr>
              <a:t>Results deduplicated and sorted with statutory sources first</a:t>
            </a:r>
          </a:p>
        </p:txBody>
      </p:sp>
      <p:sp>
        <p:nvSpPr>
          <p:cNvPr id="155" name="TextBox 155"/>
          <p:cNvSpPr txBox="1"/>
          <p:nvPr/>
        </p:nvSpPr>
        <p:spPr>
          <a:xfrm>
            <a:off x="14830320" y="8186861"/>
            <a:ext cx="36919" cy="261937"/>
          </a:xfrm>
          <a:prstGeom prst="rect">
            <a:avLst/>
          </a:prstGeom>
        </p:spPr>
        <p:txBody>
          <a:bodyPr lIns="0" tIns="0" rIns="0" bIns="0" rtlCol="0" anchor="t">
            <a:spAutoFit/>
          </a:bodyPr>
          <a:lstStyle/>
          <a:p>
            <a:pPr algn="l">
              <a:lnSpc>
                <a:spcPts val="2100"/>
              </a:lnSpc>
            </a:pPr>
            <a:r>
              <a:rPr lang="en-US" sz="1500">
                <a:solidFill>
                  <a:srgbClr val="000000"/>
                </a:solidFill>
                <a:latin typeface="Calistoga"/>
                <a:ea typeface="Calistoga"/>
                <a:cs typeface="Calistoga"/>
                <a:sym typeface="Calistoga"/>
              </a:rPr>
              <a:t> </a:t>
            </a:r>
          </a:p>
        </p:txBody>
      </p:sp>
      <p:sp>
        <p:nvSpPr>
          <p:cNvPr id="156" name="TextBox 156"/>
          <p:cNvSpPr txBox="1"/>
          <p:nvPr/>
        </p:nvSpPr>
        <p:spPr>
          <a:xfrm>
            <a:off x="14073483" y="8458324"/>
            <a:ext cx="1649111" cy="904875"/>
          </a:xfrm>
          <a:prstGeom prst="rect">
            <a:avLst/>
          </a:prstGeom>
        </p:spPr>
        <p:txBody>
          <a:bodyPr lIns="0" tIns="0" rIns="0" bIns="0" rtlCol="0" anchor="t">
            <a:spAutoFit/>
          </a:bodyPr>
          <a:lstStyle/>
          <a:p>
            <a:pPr algn="r">
              <a:lnSpc>
                <a:spcPts val="1499"/>
              </a:lnSpc>
            </a:pPr>
            <a:r>
              <a:rPr lang="en-US" sz="1249" spc="31">
                <a:solidFill>
                  <a:srgbClr val="000000"/>
                </a:solidFill>
                <a:latin typeface="Caladea"/>
                <a:ea typeface="Caladea"/>
                <a:cs typeface="Caladea"/>
                <a:sym typeface="Caladea"/>
              </a:rPr>
              <a:t>Final answer + disclaimer delivered; low-confidence cases can route to a human IP facilitator</a:t>
            </a:r>
          </a:p>
        </p:txBody>
      </p:sp>
      <p:sp>
        <p:nvSpPr>
          <p:cNvPr id="157" name="TextBox 157"/>
          <p:cNvSpPr txBox="1"/>
          <p:nvPr/>
        </p:nvSpPr>
        <p:spPr>
          <a:xfrm>
            <a:off x="16323326" y="2207362"/>
            <a:ext cx="1351064" cy="542925"/>
          </a:xfrm>
          <a:prstGeom prst="rect">
            <a:avLst/>
          </a:prstGeom>
        </p:spPr>
        <p:txBody>
          <a:bodyPr lIns="0" tIns="0" rIns="0" bIns="0" rtlCol="0" anchor="t">
            <a:spAutoFit/>
          </a:bodyPr>
          <a:lstStyle/>
          <a:p>
            <a:pPr algn="l">
              <a:lnSpc>
                <a:spcPts val="1499"/>
              </a:lnSpc>
            </a:pPr>
            <a:r>
              <a:rPr lang="en-US" sz="1249">
                <a:solidFill>
                  <a:srgbClr val="000000"/>
                </a:solidFill>
                <a:latin typeface="Caladea"/>
                <a:ea typeface="Caladea"/>
                <a:cs typeface="Caladea"/>
                <a:sym typeface="Caladea"/>
              </a:rPr>
              <a:t>User asks a question via the multilingual chat interface</a:t>
            </a:r>
          </a:p>
        </p:txBody>
      </p:sp>
      <p:sp>
        <p:nvSpPr>
          <p:cNvPr id="158" name="TextBox 158"/>
          <p:cNvSpPr txBox="1"/>
          <p:nvPr/>
        </p:nvSpPr>
        <p:spPr>
          <a:xfrm>
            <a:off x="16983132" y="4309767"/>
            <a:ext cx="36919" cy="261937"/>
          </a:xfrm>
          <a:prstGeom prst="rect">
            <a:avLst/>
          </a:prstGeom>
        </p:spPr>
        <p:txBody>
          <a:bodyPr lIns="0" tIns="0" rIns="0" bIns="0" rtlCol="0" anchor="t">
            <a:spAutoFit/>
          </a:bodyPr>
          <a:lstStyle/>
          <a:p>
            <a:pPr algn="l">
              <a:lnSpc>
                <a:spcPts val="2100"/>
              </a:lnSpc>
            </a:pPr>
            <a:r>
              <a:rPr lang="en-US" sz="1500">
                <a:solidFill>
                  <a:srgbClr val="000000"/>
                </a:solidFill>
                <a:latin typeface="Calistoga"/>
                <a:ea typeface="Calistoga"/>
                <a:cs typeface="Calistoga"/>
                <a:sym typeface="Calistoga"/>
              </a:rPr>
              <a:t> </a:t>
            </a:r>
          </a:p>
        </p:txBody>
      </p:sp>
      <p:sp>
        <p:nvSpPr>
          <p:cNvPr id="159" name="TextBox 159"/>
          <p:cNvSpPr txBox="1"/>
          <p:nvPr/>
        </p:nvSpPr>
        <p:spPr>
          <a:xfrm>
            <a:off x="16429901" y="4607381"/>
            <a:ext cx="1629889" cy="723900"/>
          </a:xfrm>
          <a:prstGeom prst="rect">
            <a:avLst/>
          </a:prstGeom>
        </p:spPr>
        <p:txBody>
          <a:bodyPr lIns="0" tIns="0" rIns="0" bIns="0" rtlCol="0" anchor="t">
            <a:spAutoFit/>
          </a:bodyPr>
          <a:lstStyle/>
          <a:p>
            <a:pPr algn="l">
              <a:lnSpc>
                <a:spcPts val="1499"/>
              </a:lnSpc>
            </a:pPr>
            <a:r>
              <a:rPr lang="en-US" sz="1249">
                <a:solidFill>
                  <a:srgbClr val="000000"/>
                </a:solidFill>
                <a:latin typeface="Caladea"/>
                <a:ea typeface="Caladea"/>
                <a:cs typeface="Caladea"/>
                <a:sym typeface="Caladea"/>
              </a:rPr>
              <a:t>Domain knowledge (RAG 1) and/or legal evidence (RAG 2) searched in parallel</a:t>
            </a:r>
          </a:p>
        </p:txBody>
      </p:sp>
      <p:sp>
        <p:nvSpPr>
          <p:cNvPr id="160" name="TextBox 160"/>
          <p:cNvSpPr txBox="1"/>
          <p:nvPr/>
        </p:nvSpPr>
        <p:spPr>
          <a:xfrm>
            <a:off x="14193107" y="7986836"/>
            <a:ext cx="1527134" cy="457200"/>
          </a:xfrm>
          <a:prstGeom prst="rect">
            <a:avLst/>
          </a:prstGeom>
        </p:spPr>
        <p:txBody>
          <a:bodyPr lIns="0" tIns="0" rIns="0" bIns="0" rtlCol="0" anchor="t">
            <a:spAutoFit/>
          </a:bodyPr>
          <a:lstStyle/>
          <a:p>
            <a:pPr algn="r">
              <a:lnSpc>
                <a:spcPts val="1800"/>
              </a:lnSpc>
            </a:pPr>
            <a:r>
              <a:rPr lang="en-US" sz="1500" spc="37">
                <a:solidFill>
                  <a:srgbClr val="000000"/>
                </a:solidFill>
                <a:latin typeface="Calistoga"/>
                <a:ea typeface="Calistoga"/>
                <a:cs typeface="Calistoga"/>
                <a:sym typeface="Calistoga"/>
              </a:rPr>
              <a:t>Cited Response &amp; Escalation</a:t>
            </a:r>
          </a:p>
        </p:txBody>
      </p:sp>
      <p:sp>
        <p:nvSpPr>
          <p:cNvPr id="161" name="TextBox 161"/>
          <p:cNvSpPr txBox="1"/>
          <p:nvPr/>
        </p:nvSpPr>
        <p:spPr>
          <a:xfrm>
            <a:off x="16353774" y="4309767"/>
            <a:ext cx="1734889" cy="257175"/>
          </a:xfrm>
          <a:prstGeom prst="rect">
            <a:avLst/>
          </a:prstGeom>
        </p:spPr>
        <p:txBody>
          <a:bodyPr lIns="0" tIns="0" rIns="0" bIns="0" rtlCol="0" anchor="t">
            <a:spAutoFit/>
          </a:bodyPr>
          <a:lstStyle/>
          <a:p>
            <a:pPr algn="l">
              <a:lnSpc>
                <a:spcPts val="2100"/>
              </a:lnSpc>
            </a:pPr>
            <a:r>
              <a:rPr lang="en-US" sz="1500" spc="37">
                <a:solidFill>
                  <a:srgbClr val="000000"/>
                </a:solidFill>
                <a:latin typeface="Calistoga"/>
                <a:ea typeface="Calistoga"/>
                <a:cs typeface="Calistoga"/>
                <a:sym typeface="Calistoga"/>
              </a:rPr>
              <a:t>Dual RAG Retrieval</a:t>
            </a:r>
          </a:p>
        </p:txBody>
      </p:sp>
      <p:sp>
        <p:nvSpPr>
          <p:cNvPr id="162" name="TextBox 162"/>
          <p:cNvSpPr txBox="1"/>
          <p:nvPr/>
        </p:nvSpPr>
        <p:spPr>
          <a:xfrm>
            <a:off x="16524027" y="7180234"/>
            <a:ext cx="1441637" cy="617258"/>
          </a:xfrm>
          <a:prstGeom prst="rect">
            <a:avLst/>
          </a:prstGeom>
        </p:spPr>
        <p:txBody>
          <a:bodyPr lIns="0" tIns="0" rIns="0" bIns="0" rtlCol="0" anchor="t">
            <a:spAutoFit/>
          </a:bodyPr>
          <a:lstStyle/>
          <a:p>
            <a:pPr algn="l">
              <a:lnSpc>
                <a:spcPts val="1274"/>
              </a:lnSpc>
            </a:pPr>
            <a:r>
              <a:rPr lang="en-US" sz="1050" spc="26">
                <a:solidFill>
                  <a:srgbClr val="000000"/>
                </a:solidFill>
                <a:latin typeface="Caladea"/>
                <a:ea typeface="Caladea"/>
                <a:cs typeface="Caladea"/>
                <a:sym typeface="Caladea"/>
              </a:rPr>
              <a:t>Groq LLM drafts a structured answer, barred from inventing citations</a:t>
            </a:r>
          </a:p>
        </p:txBody>
      </p:sp>
      <p:sp>
        <p:nvSpPr>
          <p:cNvPr id="163" name="TextBox 163"/>
          <p:cNvSpPr txBox="1"/>
          <p:nvPr/>
        </p:nvSpPr>
        <p:spPr>
          <a:xfrm>
            <a:off x="1859643" y="1284201"/>
            <a:ext cx="580891" cy="238177"/>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Zone 1</a:t>
            </a:r>
          </a:p>
        </p:txBody>
      </p:sp>
      <p:sp>
        <p:nvSpPr>
          <p:cNvPr id="164" name="TextBox 164"/>
          <p:cNvSpPr txBox="1"/>
          <p:nvPr/>
        </p:nvSpPr>
        <p:spPr>
          <a:xfrm>
            <a:off x="931285" y="1493803"/>
            <a:ext cx="2432423" cy="238177"/>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Users and external services</a:t>
            </a:r>
          </a:p>
        </p:txBody>
      </p:sp>
      <p:sp>
        <p:nvSpPr>
          <p:cNvPr id="165" name="TextBox 165"/>
          <p:cNvSpPr txBox="1"/>
          <p:nvPr/>
        </p:nvSpPr>
        <p:spPr>
          <a:xfrm>
            <a:off x="1426424" y="2399822"/>
            <a:ext cx="1442145" cy="207528"/>
          </a:xfrm>
          <a:prstGeom prst="rect">
            <a:avLst/>
          </a:prstGeom>
        </p:spPr>
        <p:txBody>
          <a:bodyPr lIns="0" tIns="0" rIns="0" bIns="0" rtlCol="0" anchor="t">
            <a:spAutoFit/>
          </a:bodyPr>
          <a:lstStyle/>
          <a:p>
            <a:pPr algn="ctr">
              <a:lnSpc>
                <a:spcPts val="1686"/>
              </a:lnSpc>
            </a:pPr>
            <a:r>
              <a:rPr lang="en-US" sz="1204">
                <a:solidFill>
                  <a:srgbClr val="000000"/>
                </a:solidFill>
                <a:latin typeface="DM Sans"/>
                <a:ea typeface="DM Sans"/>
                <a:cs typeface="DM Sans"/>
                <a:sym typeface="DM Sans"/>
              </a:rPr>
              <a:t>Third-party services</a:t>
            </a:r>
          </a:p>
        </p:txBody>
      </p:sp>
      <p:sp>
        <p:nvSpPr>
          <p:cNvPr id="166" name="TextBox 166"/>
          <p:cNvSpPr txBox="1"/>
          <p:nvPr/>
        </p:nvSpPr>
        <p:spPr>
          <a:xfrm>
            <a:off x="1516531" y="3458232"/>
            <a:ext cx="583432" cy="352808"/>
          </a:xfrm>
          <a:prstGeom prst="rect">
            <a:avLst/>
          </a:prstGeom>
        </p:spPr>
        <p:txBody>
          <a:bodyPr lIns="0" tIns="0" rIns="0" bIns="0" rtlCol="0" anchor="t">
            <a:spAutoFit/>
          </a:bodyPr>
          <a:lstStyle/>
          <a:p>
            <a:pPr algn="ctr">
              <a:lnSpc>
                <a:spcPts val="1406"/>
              </a:lnSpc>
            </a:pPr>
            <a:r>
              <a:rPr lang="en-US" sz="1004">
                <a:solidFill>
                  <a:srgbClr val="000000"/>
                </a:solidFill>
                <a:latin typeface="Garamond"/>
                <a:ea typeface="Garamond"/>
                <a:cs typeface="Garamond"/>
                <a:sym typeface="Garamond"/>
              </a:rPr>
              <a:t>ABS </a:t>
            </a:r>
          </a:p>
          <a:p>
            <a:pPr algn="ctr">
              <a:lnSpc>
                <a:spcPts val="1406"/>
              </a:lnSpc>
            </a:pPr>
            <a:r>
              <a:rPr lang="en-US" sz="1004">
                <a:solidFill>
                  <a:srgbClr val="000000"/>
                </a:solidFill>
                <a:latin typeface="Garamond"/>
                <a:ea typeface="Garamond"/>
                <a:cs typeface="Garamond"/>
                <a:sym typeface="Garamond"/>
              </a:rPr>
              <a:t>RECORDS</a:t>
            </a:r>
          </a:p>
        </p:txBody>
      </p:sp>
      <p:sp>
        <p:nvSpPr>
          <p:cNvPr id="167" name="TextBox 167"/>
          <p:cNvSpPr txBox="1"/>
          <p:nvPr/>
        </p:nvSpPr>
        <p:spPr>
          <a:xfrm>
            <a:off x="1236600" y="2752922"/>
            <a:ext cx="491579" cy="417078"/>
          </a:xfrm>
          <a:prstGeom prst="rect">
            <a:avLst/>
          </a:prstGeom>
        </p:spPr>
        <p:txBody>
          <a:bodyPr lIns="0" tIns="0" rIns="0" bIns="0" rtlCol="0" anchor="t">
            <a:spAutoFit/>
          </a:bodyPr>
          <a:lstStyle/>
          <a:p>
            <a:pPr algn="ctr">
              <a:lnSpc>
                <a:spcPts val="1686"/>
              </a:lnSpc>
            </a:pPr>
            <a:r>
              <a:rPr lang="en-US" sz="1204">
                <a:solidFill>
                  <a:srgbClr val="000000"/>
                </a:solidFill>
                <a:latin typeface="Canva Student Font"/>
                <a:ea typeface="Canva Student Font"/>
                <a:cs typeface="Canva Student Font"/>
                <a:sym typeface="Canva Student Font"/>
              </a:rPr>
              <a:t>Groq LLM</a:t>
            </a:r>
          </a:p>
          <a:p>
            <a:pPr algn="ctr">
              <a:lnSpc>
                <a:spcPts val="1686"/>
              </a:lnSpc>
            </a:pPr>
            <a:r>
              <a:rPr lang="en-US" sz="1204">
                <a:solidFill>
                  <a:srgbClr val="000000"/>
                </a:solidFill>
                <a:latin typeface="Canva Student Font"/>
                <a:ea typeface="Canva Student Font"/>
                <a:cs typeface="Canva Student Font"/>
                <a:sym typeface="Canva Student Font"/>
              </a:rPr>
              <a:t> API</a:t>
            </a:r>
          </a:p>
        </p:txBody>
      </p:sp>
      <p:sp>
        <p:nvSpPr>
          <p:cNvPr id="168" name="TextBox 168"/>
          <p:cNvSpPr txBox="1"/>
          <p:nvPr/>
        </p:nvSpPr>
        <p:spPr>
          <a:xfrm>
            <a:off x="2323779" y="2721674"/>
            <a:ext cx="564230" cy="279269"/>
          </a:xfrm>
          <a:prstGeom prst="rect">
            <a:avLst/>
          </a:prstGeom>
        </p:spPr>
        <p:txBody>
          <a:bodyPr lIns="0" tIns="0" rIns="0" bIns="0" rtlCol="0" anchor="t">
            <a:spAutoFit/>
          </a:bodyPr>
          <a:lstStyle/>
          <a:p>
            <a:pPr algn="ctr">
              <a:lnSpc>
                <a:spcPts val="1120"/>
              </a:lnSpc>
            </a:pPr>
            <a:r>
              <a:rPr lang="en-US" sz="800">
                <a:solidFill>
                  <a:srgbClr val="000000"/>
                </a:solidFill>
                <a:latin typeface="Garamond"/>
                <a:ea typeface="Garamond"/>
                <a:cs typeface="Garamond"/>
                <a:sym typeface="Garamond"/>
              </a:rPr>
              <a:t>TKDL /IP</a:t>
            </a:r>
          </a:p>
          <a:p>
            <a:pPr algn="ctr">
              <a:lnSpc>
                <a:spcPts val="1120"/>
              </a:lnSpc>
            </a:pPr>
            <a:r>
              <a:rPr lang="en-US" sz="800">
                <a:solidFill>
                  <a:srgbClr val="000000"/>
                </a:solidFill>
                <a:latin typeface="Garamond"/>
                <a:ea typeface="Garamond"/>
                <a:cs typeface="Garamond"/>
                <a:sym typeface="Garamond"/>
              </a:rPr>
              <a:t>india registries</a:t>
            </a:r>
          </a:p>
        </p:txBody>
      </p:sp>
      <p:sp>
        <p:nvSpPr>
          <p:cNvPr id="169" name="TextBox 169"/>
          <p:cNvSpPr txBox="1"/>
          <p:nvPr/>
        </p:nvSpPr>
        <p:spPr>
          <a:xfrm>
            <a:off x="2552178" y="3389007"/>
            <a:ext cx="531654" cy="154872"/>
          </a:xfrm>
          <a:prstGeom prst="rect">
            <a:avLst/>
          </a:prstGeom>
        </p:spPr>
        <p:txBody>
          <a:bodyPr lIns="0" tIns="0" rIns="0" bIns="0" rtlCol="0" anchor="t">
            <a:spAutoFit/>
          </a:bodyPr>
          <a:lstStyle/>
          <a:p>
            <a:pPr algn="ctr">
              <a:lnSpc>
                <a:spcPts val="1228"/>
              </a:lnSpc>
            </a:pPr>
            <a:r>
              <a:rPr lang="en-US" sz="877">
                <a:solidFill>
                  <a:srgbClr val="000000"/>
                </a:solidFill>
                <a:latin typeface="Garamond"/>
                <a:ea typeface="Garamond"/>
                <a:cs typeface="Garamond"/>
                <a:sym typeface="Garamond"/>
              </a:rPr>
              <a:t>BHASHINI</a:t>
            </a:r>
          </a:p>
        </p:txBody>
      </p:sp>
      <p:sp>
        <p:nvSpPr>
          <p:cNvPr id="170" name="TextBox 170"/>
          <p:cNvSpPr txBox="1"/>
          <p:nvPr/>
        </p:nvSpPr>
        <p:spPr>
          <a:xfrm>
            <a:off x="4925462" y="1291491"/>
            <a:ext cx="586373" cy="238177"/>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Zone 2</a:t>
            </a:r>
          </a:p>
        </p:txBody>
      </p:sp>
      <p:sp>
        <p:nvSpPr>
          <p:cNvPr id="171" name="TextBox 171"/>
          <p:cNvSpPr txBox="1"/>
          <p:nvPr/>
        </p:nvSpPr>
        <p:spPr>
          <a:xfrm>
            <a:off x="4513296" y="1501093"/>
            <a:ext cx="1410705" cy="433199"/>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Frontend </a:t>
            </a:r>
          </a:p>
          <a:p>
            <a:pPr algn="ctr">
              <a:lnSpc>
                <a:spcPts val="1607"/>
              </a:lnSpc>
            </a:pPr>
            <a:r>
              <a:rPr lang="en-US" sz="1148" b="1">
                <a:solidFill>
                  <a:srgbClr val="000000"/>
                </a:solidFill>
                <a:latin typeface="Canva Sans Bold"/>
                <a:ea typeface="Canva Sans Bold"/>
                <a:cs typeface="Canva Sans Bold"/>
                <a:sym typeface="Canva Sans Bold"/>
              </a:rPr>
              <a:t>(Presentation layer)</a:t>
            </a:r>
          </a:p>
        </p:txBody>
      </p:sp>
      <p:sp>
        <p:nvSpPr>
          <p:cNvPr id="172" name="TextBox 172"/>
          <p:cNvSpPr txBox="1"/>
          <p:nvPr/>
        </p:nvSpPr>
        <p:spPr>
          <a:xfrm>
            <a:off x="4390747" y="2783913"/>
            <a:ext cx="1601255" cy="401194"/>
          </a:xfrm>
          <a:prstGeom prst="rect">
            <a:avLst/>
          </a:prstGeom>
        </p:spPr>
        <p:txBody>
          <a:bodyPr lIns="0" tIns="0" rIns="0" bIns="0" rtlCol="0" anchor="t">
            <a:spAutoFit/>
          </a:bodyPr>
          <a:lstStyle/>
          <a:p>
            <a:pPr algn="ctr">
              <a:lnSpc>
                <a:spcPts val="1607"/>
              </a:lnSpc>
            </a:pPr>
            <a:r>
              <a:rPr lang="en-US" sz="1148" b="1">
                <a:solidFill>
                  <a:srgbClr val="000000"/>
                </a:solidFill>
                <a:latin typeface="Canva Sans Bold"/>
                <a:ea typeface="Canva Sans Bold"/>
                <a:cs typeface="Canva Sans Bold"/>
                <a:sym typeface="Canva Sans Bold"/>
              </a:rPr>
              <a:t>IP-SAKTI Sahayak App </a:t>
            </a:r>
          </a:p>
          <a:p>
            <a:pPr algn="ctr">
              <a:lnSpc>
                <a:spcPts val="1808"/>
              </a:lnSpc>
            </a:pPr>
            <a:r>
              <a:rPr lang="en-US" sz="1291">
                <a:solidFill>
                  <a:srgbClr val="000000"/>
                </a:solidFill>
                <a:latin typeface="Canva Sans"/>
                <a:ea typeface="Canva Sans"/>
                <a:cs typeface="Canva Sans"/>
                <a:sym typeface="Canva Sans"/>
              </a:rPr>
              <a:t>(React + Vite)</a:t>
            </a:r>
          </a:p>
        </p:txBody>
      </p:sp>
      <p:sp>
        <p:nvSpPr>
          <p:cNvPr id="173" name="TextBox 173"/>
          <p:cNvSpPr txBox="1"/>
          <p:nvPr/>
        </p:nvSpPr>
        <p:spPr>
          <a:xfrm>
            <a:off x="2688288" y="5360464"/>
            <a:ext cx="886271" cy="517467"/>
          </a:xfrm>
          <a:prstGeom prst="rect">
            <a:avLst/>
          </a:prstGeom>
        </p:spPr>
        <p:txBody>
          <a:bodyPr lIns="0" tIns="0" rIns="0" bIns="0" rtlCol="0" anchor="t">
            <a:spAutoFit/>
          </a:bodyPr>
          <a:lstStyle/>
          <a:p>
            <a:pPr algn="ctr">
              <a:lnSpc>
                <a:spcPts val="1403"/>
              </a:lnSpc>
            </a:pPr>
            <a:r>
              <a:rPr lang="en-US" sz="1002" b="1">
                <a:solidFill>
                  <a:srgbClr val="000000"/>
                </a:solidFill>
                <a:latin typeface="Canva Sans Bold"/>
                <a:ea typeface="Canva Sans Bold"/>
                <a:cs typeface="Canva Sans Bold"/>
                <a:sym typeface="Canva Sans Bold"/>
              </a:rPr>
              <a:t>interacts with </a:t>
            </a:r>
          </a:p>
          <a:p>
            <a:pPr algn="ctr">
              <a:lnSpc>
                <a:spcPts val="1403"/>
              </a:lnSpc>
            </a:pPr>
            <a:r>
              <a:rPr lang="en-US" sz="1002" b="1">
                <a:solidFill>
                  <a:srgbClr val="000000"/>
                </a:solidFill>
                <a:latin typeface="Canva Sans Bold"/>
                <a:ea typeface="Canva Sans Bold"/>
                <a:cs typeface="Canva Sans Bold"/>
                <a:sym typeface="Canva Sans Bold"/>
              </a:rPr>
              <a:t>personalised</a:t>
            </a:r>
          </a:p>
          <a:p>
            <a:pPr algn="ctr">
              <a:lnSpc>
                <a:spcPts val="1403"/>
              </a:lnSpc>
            </a:pPr>
            <a:r>
              <a:rPr lang="en-US" sz="1002" b="1">
                <a:solidFill>
                  <a:srgbClr val="000000"/>
                </a:solidFill>
                <a:latin typeface="Canva Sans Bold"/>
                <a:ea typeface="Canva Sans Bold"/>
                <a:cs typeface="Canva Sans Bold"/>
                <a:sym typeface="Canva Sans Bold"/>
              </a:rPr>
              <a:t>dashboard </a:t>
            </a:r>
          </a:p>
        </p:txBody>
      </p:sp>
      <p:sp>
        <p:nvSpPr>
          <p:cNvPr id="174" name="TextBox 174"/>
          <p:cNvSpPr txBox="1"/>
          <p:nvPr/>
        </p:nvSpPr>
        <p:spPr>
          <a:xfrm>
            <a:off x="7984042" y="1291491"/>
            <a:ext cx="592496" cy="238177"/>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Zone 3</a:t>
            </a:r>
          </a:p>
        </p:txBody>
      </p:sp>
      <p:sp>
        <p:nvSpPr>
          <p:cNvPr id="175" name="TextBox 175"/>
          <p:cNvSpPr txBox="1"/>
          <p:nvPr/>
        </p:nvSpPr>
        <p:spPr>
          <a:xfrm>
            <a:off x="7620029" y="1501093"/>
            <a:ext cx="1320522" cy="433199"/>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Backend </a:t>
            </a:r>
          </a:p>
          <a:p>
            <a:pPr algn="ctr">
              <a:lnSpc>
                <a:spcPts val="1607"/>
              </a:lnSpc>
            </a:pPr>
            <a:r>
              <a:rPr lang="en-US" sz="1148" b="1">
                <a:solidFill>
                  <a:srgbClr val="000000"/>
                </a:solidFill>
                <a:latin typeface="Canva Sans Bold"/>
                <a:ea typeface="Canva Sans Bold"/>
                <a:cs typeface="Canva Sans Bold"/>
                <a:sym typeface="Canva Sans Bold"/>
              </a:rPr>
              <a:t>(Application layer)</a:t>
            </a:r>
          </a:p>
        </p:txBody>
      </p:sp>
      <p:sp>
        <p:nvSpPr>
          <p:cNvPr id="176" name="TextBox 176"/>
          <p:cNvSpPr txBox="1"/>
          <p:nvPr/>
        </p:nvSpPr>
        <p:spPr>
          <a:xfrm>
            <a:off x="7733576" y="2662825"/>
            <a:ext cx="1242238" cy="378716"/>
          </a:xfrm>
          <a:prstGeom prst="rect">
            <a:avLst/>
          </a:prstGeom>
        </p:spPr>
        <p:txBody>
          <a:bodyPr lIns="0" tIns="0" rIns="0" bIns="0" rtlCol="0" anchor="t">
            <a:spAutoFit/>
          </a:bodyPr>
          <a:lstStyle/>
          <a:p>
            <a:pPr algn="ctr">
              <a:lnSpc>
                <a:spcPts val="1607"/>
              </a:lnSpc>
            </a:pPr>
            <a:r>
              <a:rPr lang="en-US" sz="1148" b="1">
                <a:solidFill>
                  <a:srgbClr val="000000"/>
                </a:solidFill>
                <a:latin typeface="Canva Sans Bold"/>
                <a:ea typeface="Canva Sans Bold"/>
                <a:cs typeface="Canva Sans Bold"/>
                <a:sym typeface="Canva Sans Bold"/>
              </a:rPr>
              <a:t>Backend server</a:t>
            </a:r>
          </a:p>
          <a:p>
            <a:pPr algn="ctr">
              <a:lnSpc>
                <a:spcPts val="1607"/>
              </a:lnSpc>
            </a:pPr>
            <a:r>
              <a:rPr lang="en-US" sz="1148">
                <a:solidFill>
                  <a:srgbClr val="000000"/>
                </a:solidFill>
                <a:latin typeface="Canva Sans"/>
                <a:ea typeface="Canva Sans"/>
                <a:cs typeface="Canva Sans"/>
                <a:sym typeface="Canva Sans"/>
              </a:rPr>
              <a:t>(Fast API ,Python)</a:t>
            </a:r>
          </a:p>
        </p:txBody>
      </p:sp>
      <p:sp>
        <p:nvSpPr>
          <p:cNvPr id="177" name="TextBox 177"/>
          <p:cNvSpPr txBox="1"/>
          <p:nvPr/>
        </p:nvSpPr>
        <p:spPr>
          <a:xfrm>
            <a:off x="7741876" y="3304758"/>
            <a:ext cx="1275793" cy="339833"/>
          </a:xfrm>
          <a:prstGeom prst="rect">
            <a:avLst/>
          </a:prstGeom>
        </p:spPr>
        <p:txBody>
          <a:bodyPr lIns="0" tIns="0" rIns="0" bIns="0" rtlCol="0" anchor="t">
            <a:spAutoFit/>
          </a:bodyPr>
          <a:lstStyle/>
          <a:p>
            <a:pPr algn="ctr">
              <a:lnSpc>
                <a:spcPts val="1607"/>
              </a:lnSpc>
            </a:pPr>
            <a:r>
              <a:rPr lang="en-US" sz="1148" b="1">
                <a:solidFill>
                  <a:srgbClr val="000000"/>
                </a:solidFill>
                <a:latin typeface="Canva Sans Bold"/>
                <a:ea typeface="Canva Sans Bold"/>
                <a:cs typeface="Canva Sans Bold"/>
                <a:sym typeface="Canva Sans Bold"/>
              </a:rPr>
              <a:t>API Gateway</a:t>
            </a:r>
          </a:p>
          <a:p>
            <a:pPr algn="ctr">
              <a:lnSpc>
                <a:spcPts val="1205"/>
              </a:lnSpc>
            </a:pPr>
            <a:r>
              <a:rPr lang="en-US" sz="861" b="1">
                <a:solidFill>
                  <a:srgbClr val="000000"/>
                </a:solidFill>
                <a:latin typeface="Canva Sans Bold"/>
                <a:ea typeface="Canva Sans Bold"/>
                <a:cs typeface="Canva Sans Bold"/>
                <a:sym typeface="Canva Sans Bold"/>
              </a:rPr>
              <a:t>(</a:t>
            </a:r>
            <a:r>
              <a:rPr lang="en-US" sz="861" i="1">
                <a:solidFill>
                  <a:srgbClr val="000000"/>
                </a:solidFill>
                <a:latin typeface="Canva Sans Italics"/>
                <a:ea typeface="Canva Sans Italics"/>
                <a:cs typeface="Canva Sans Italics"/>
                <a:sym typeface="Canva Sans Italics"/>
              </a:rPr>
              <a:t>FastAPI router + CORS)</a:t>
            </a:r>
            <a:r>
              <a:rPr lang="en-US" sz="861" b="1">
                <a:solidFill>
                  <a:srgbClr val="000000"/>
                </a:solidFill>
                <a:latin typeface="Canva Sans Bold"/>
                <a:ea typeface="Canva Sans Bold"/>
                <a:cs typeface="Canva Sans Bold"/>
                <a:sym typeface="Canva Sans Bold"/>
              </a:rPr>
              <a:t> </a:t>
            </a:r>
          </a:p>
        </p:txBody>
      </p:sp>
      <p:sp>
        <p:nvSpPr>
          <p:cNvPr id="178" name="TextBox 178"/>
          <p:cNvSpPr txBox="1"/>
          <p:nvPr/>
        </p:nvSpPr>
        <p:spPr>
          <a:xfrm>
            <a:off x="11494977" y="1284201"/>
            <a:ext cx="598263" cy="238177"/>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Zone 4</a:t>
            </a:r>
          </a:p>
        </p:txBody>
      </p:sp>
      <p:sp>
        <p:nvSpPr>
          <p:cNvPr id="179" name="TextBox 179"/>
          <p:cNvSpPr txBox="1"/>
          <p:nvPr/>
        </p:nvSpPr>
        <p:spPr>
          <a:xfrm>
            <a:off x="10705636" y="1542796"/>
            <a:ext cx="2216207" cy="235140"/>
          </a:xfrm>
          <a:prstGeom prst="rect">
            <a:avLst/>
          </a:prstGeom>
        </p:spPr>
        <p:txBody>
          <a:bodyPr lIns="0" tIns="0" rIns="0" bIns="0" rtlCol="0" anchor="t">
            <a:spAutoFit/>
          </a:bodyPr>
          <a:lstStyle/>
          <a:p>
            <a:pPr algn="ctr">
              <a:lnSpc>
                <a:spcPts val="2009"/>
              </a:lnSpc>
            </a:pPr>
            <a:r>
              <a:rPr lang="en-US" sz="1435" b="1">
                <a:solidFill>
                  <a:srgbClr val="000000"/>
                </a:solidFill>
                <a:latin typeface="Canva Sans Bold"/>
                <a:ea typeface="Canva Sans Bold"/>
                <a:cs typeface="Canva Sans Bold"/>
                <a:sym typeface="Canva Sans Bold"/>
              </a:rPr>
              <a:t>Data &amp; Intelligence Layer</a:t>
            </a:r>
          </a:p>
        </p:txBody>
      </p:sp>
      <p:sp>
        <p:nvSpPr>
          <p:cNvPr id="180" name="TextBox 180"/>
          <p:cNvSpPr txBox="1"/>
          <p:nvPr/>
        </p:nvSpPr>
        <p:spPr>
          <a:xfrm>
            <a:off x="10298033" y="3395981"/>
            <a:ext cx="2652747" cy="191912"/>
          </a:xfrm>
          <a:prstGeom prst="rect">
            <a:avLst/>
          </a:prstGeom>
        </p:spPr>
        <p:txBody>
          <a:bodyPr wrap="square" lIns="0" tIns="0" rIns="0" bIns="0" rtlCol="0" anchor="t">
            <a:spAutoFit/>
          </a:bodyPr>
          <a:lstStyle/>
          <a:p>
            <a:pPr algn="ctr">
              <a:lnSpc>
                <a:spcPts val="1607"/>
              </a:lnSpc>
            </a:pPr>
            <a:r>
              <a:rPr lang="en-US" sz="1148" b="1" dirty="0">
                <a:solidFill>
                  <a:srgbClr val="000000"/>
                </a:solidFill>
                <a:latin typeface="Canva Sans Bold"/>
                <a:ea typeface="Canva Sans Bold"/>
                <a:cs typeface="Canva Sans Bold"/>
                <a:sym typeface="Canva Sans Bold"/>
              </a:rPr>
              <a:t>AI/ML Retrieval &amp; Synthesis Engine</a:t>
            </a:r>
          </a:p>
        </p:txBody>
      </p:sp>
      <p:sp>
        <p:nvSpPr>
          <p:cNvPr id="181" name="TextBox 181"/>
          <p:cNvSpPr txBox="1"/>
          <p:nvPr/>
        </p:nvSpPr>
        <p:spPr>
          <a:xfrm>
            <a:off x="10571319" y="3663402"/>
            <a:ext cx="2022010" cy="378716"/>
          </a:xfrm>
          <a:prstGeom prst="rect">
            <a:avLst/>
          </a:prstGeom>
        </p:spPr>
        <p:txBody>
          <a:bodyPr lIns="0" tIns="0" rIns="0" bIns="0" rtlCol="0" anchor="t">
            <a:spAutoFit/>
          </a:bodyPr>
          <a:lstStyle/>
          <a:p>
            <a:pPr algn="ctr">
              <a:lnSpc>
                <a:spcPts val="1607"/>
              </a:lnSpc>
            </a:pPr>
            <a:r>
              <a:rPr lang="en-US" sz="1148" b="1">
                <a:solidFill>
                  <a:srgbClr val="000000"/>
                </a:solidFill>
                <a:latin typeface="Canva Sans Bold"/>
                <a:ea typeface="Canva Sans Bold"/>
                <a:cs typeface="Canva Sans Bold"/>
                <a:sym typeface="Canva Sans Bold"/>
              </a:rPr>
              <a:t>Tech: </a:t>
            </a:r>
            <a:r>
              <a:rPr lang="en-US" sz="1148">
                <a:solidFill>
                  <a:srgbClr val="000000"/>
                </a:solidFill>
                <a:latin typeface="Canva Sans"/>
                <a:ea typeface="Canva Sans"/>
                <a:cs typeface="Canva Sans"/>
                <a:sym typeface="Canva Sans"/>
              </a:rPr>
              <a:t>Python, scikit-learn, SQLite, Groq LLM</a:t>
            </a:r>
          </a:p>
        </p:txBody>
      </p:sp>
      <p:sp>
        <p:nvSpPr>
          <p:cNvPr id="182" name="Freeform 182"/>
          <p:cNvSpPr/>
          <p:nvPr/>
        </p:nvSpPr>
        <p:spPr>
          <a:xfrm>
            <a:off x="3250131" y="2307866"/>
            <a:ext cx="4292362" cy="962567"/>
          </a:xfrm>
          <a:custGeom>
            <a:avLst/>
            <a:gdLst/>
            <a:ahLst/>
            <a:cxnLst/>
            <a:rect l="l" t="t" r="r" b="b"/>
            <a:pathLst>
              <a:path w="4292362" h="962567">
                <a:moveTo>
                  <a:pt x="0" y="514147"/>
                </a:moveTo>
                <a:quadBezTo>
                  <a:pt x="2296809" y="-703492"/>
                  <a:pt x="4292361" y="962567"/>
                </a:quadBezTo>
              </a:path>
            </a:pathLst>
          </a:custGeom>
          <a:ln w="28575" cap="flat">
            <a:solidFill>
              <a:srgbClr val="000000"/>
            </a:solidFill>
            <a:prstDash val="solid"/>
            <a:headEnd type="triangle" w="lg" len="med"/>
            <a:tailEnd type="triangle" w="lg" len="med"/>
          </a:ln>
        </p:spPr>
      </p:sp>
      <p:sp>
        <p:nvSpPr>
          <p:cNvPr id="183" name="AutoShape 183"/>
          <p:cNvSpPr/>
          <p:nvPr/>
        </p:nvSpPr>
        <p:spPr>
          <a:xfrm flipV="1">
            <a:off x="6537997" y="3380906"/>
            <a:ext cx="913156" cy="17199"/>
          </a:xfrm>
          <a:prstGeom prst="line">
            <a:avLst/>
          </a:prstGeom>
          <a:ln w="19050" cap="flat">
            <a:solidFill>
              <a:srgbClr val="000000"/>
            </a:solidFill>
            <a:prstDash val="solid"/>
            <a:headEnd type="arrow" w="med" len="sm"/>
            <a:tailEnd type="arrow" w="med" len="sm"/>
          </a:ln>
        </p:spPr>
      </p:sp>
      <p:sp>
        <p:nvSpPr>
          <p:cNvPr id="184" name="Freeform 184"/>
          <p:cNvSpPr/>
          <p:nvPr/>
        </p:nvSpPr>
        <p:spPr>
          <a:xfrm>
            <a:off x="7137182" y="3507673"/>
            <a:ext cx="301530" cy="3584776"/>
          </a:xfrm>
          <a:custGeom>
            <a:avLst/>
            <a:gdLst/>
            <a:ahLst/>
            <a:cxnLst/>
            <a:rect l="l" t="t" r="r" b="b"/>
            <a:pathLst>
              <a:path w="301530" h="3584776">
                <a:moveTo>
                  <a:pt x="301530" y="0"/>
                </a:moveTo>
                <a:lnTo>
                  <a:pt x="150765" y="0"/>
                </a:lnTo>
                <a:cubicBezTo>
                  <a:pt x="110779" y="0"/>
                  <a:pt x="72432" y="15884"/>
                  <a:pt x="44158" y="44158"/>
                </a:cubicBezTo>
                <a:cubicBezTo>
                  <a:pt x="15884" y="72432"/>
                  <a:pt x="0" y="110779"/>
                  <a:pt x="0" y="150765"/>
                </a:cubicBezTo>
                <a:lnTo>
                  <a:pt x="0" y="3434011"/>
                </a:lnTo>
                <a:cubicBezTo>
                  <a:pt x="0" y="3517276"/>
                  <a:pt x="67500" y="3584775"/>
                  <a:pt x="150765" y="3584775"/>
                </a:cubicBezTo>
                <a:lnTo>
                  <a:pt x="301530" y="3584775"/>
                </a:lnTo>
              </a:path>
            </a:pathLst>
          </a:custGeom>
          <a:ln w="19050" cap="flat">
            <a:solidFill>
              <a:srgbClr val="000000"/>
            </a:solidFill>
            <a:prstDash val="solid"/>
            <a:headEnd type="arrow" w="med" len="sm"/>
            <a:tailEnd type="arrow" w="med" len="sm"/>
          </a:ln>
        </p:spPr>
      </p:sp>
      <p:sp>
        <p:nvSpPr>
          <p:cNvPr id="185" name="Freeform 185"/>
          <p:cNvSpPr/>
          <p:nvPr/>
        </p:nvSpPr>
        <p:spPr>
          <a:xfrm>
            <a:off x="7137182" y="3563357"/>
            <a:ext cx="259342" cy="2696678"/>
          </a:xfrm>
          <a:custGeom>
            <a:avLst/>
            <a:gdLst/>
            <a:ahLst/>
            <a:cxnLst/>
            <a:rect l="l" t="t" r="r" b="b"/>
            <a:pathLst>
              <a:path w="259342" h="2696678">
                <a:moveTo>
                  <a:pt x="259342" y="0"/>
                </a:moveTo>
                <a:lnTo>
                  <a:pt x="129671" y="0"/>
                </a:lnTo>
                <a:cubicBezTo>
                  <a:pt x="58056" y="0"/>
                  <a:pt x="0" y="58055"/>
                  <a:pt x="0" y="129671"/>
                </a:cubicBezTo>
                <a:lnTo>
                  <a:pt x="0" y="2579979"/>
                </a:lnTo>
                <a:cubicBezTo>
                  <a:pt x="0" y="2610930"/>
                  <a:pt x="12296" y="2640612"/>
                  <a:pt x="34180" y="2662498"/>
                </a:cubicBezTo>
                <a:cubicBezTo>
                  <a:pt x="56066" y="2684383"/>
                  <a:pt x="85748" y="2696678"/>
                  <a:pt x="116699" y="2696678"/>
                </a:cubicBezTo>
                <a:lnTo>
                  <a:pt x="233398" y="2696678"/>
                </a:lnTo>
              </a:path>
            </a:pathLst>
          </a:custGeom>
          <a:ln w="19050" cap="flat">
            <a:solidFill>
              <a:srgbClr val="000000"/>
            </a:solidFill>
            <a:prstDash val="solid"/>
            <a:headEnd type="arrow" w="med" len="sm"/>
            <a:tailEnd type="arrow" w="med" len="sm"/>
          </a:ln>
        </p:spPr>
      </p:sp>
      <p:sp>
        <p:nvSpPr>
          <p:cNvPr id="186" name="Freeform 186"/>
          <p:cNvSpPr/>
          <p:nvPr/>
        </p:nvSpPr>
        <p:spPr>
          <a:xfrm>
            <a:off x="7137182" y="3507673"/>
            <a:ext cx="301530" cy="2051091"/>
          </a:xfrm>
          <a:custGeom>
            <a:avLst/>
            <a:gdLst/>
            <a:ahLst/>
            <a:cxnLst/>
            <a:rect l="l" t="t" r="r" b="b"/>
            <a:pathLst>
              <a:path w="301530" h="2051091">
                <a:moveTo>
                  <a:pt x="301530" y="0"/>
                </a:moveTo>
                <a:lnTo>
                  <a:pt x="150765" y="0"/>
                </a:lnTo>
                <a:cubicBezTo>
                  <a:pt x="110779" y="0"/>
                  <a:pt x="72432" y="15884"/>
                  <a:pt x="44158" y="44158"/>
                </a:cubicBezTo>
                <a:cubicBezTo>
                  <a:pt x="15884" y="72432"/>
                  <a:pt x="0" y="110779"/>
                  <a:pt x="0" y="150765"/>
                </a:cubicBezTo>
                <a:lnTo>
                  <a:pt x="0" y="1929540"/>
                </a:lnTo>
                <a:cubicBezTo>
                  <a:pt x="0" y="1996670"/>
                  <a:pt x="54420" y="2051090"/>
                  <a:pt x="121550" y="2051090"/>
                </a:cubicBezTo>
                <a:lnTo>
                  <a:pt x="243100" y="2051090"/>
                </a:lnTo>
              </a:path>
            </a:pathLst>
          </a:custGeom>
          <a:ln w="19050" cap="flat">
            <a:solidFill>
              <a:srgbClr val="000000"/>
            </a:solidFill>
            <a:prstDash val="solid"/>
            <a:headEnd type="arrow" w="med" len="sm"/>
            <a:tailEnd type="arrow" w="med" len="sm"/>
          </a:ln>
        </p:spPr>
      </p:sp>
      <p:sp>
        <p:nvSpPr>
          <p:cNvPr id="187" name="Freeform 187"/>
          <p:cNvSpPr/>
          <p:nvPr/>
        </p:nvSpPr>
        <p:spPr>
          <a:xfrm>
            <a:off x="7155728" y="3517198"/>
            <a:ext cx="313996" cy="1330448"/>
          </a:xfrm>
          <a:custGeom>
            <a:avLst/>
            <a:gdLst/>
            <a:ahLst/>
            <a:cxnLst/>
            <a:rect l="l" t="t" r="r" b="b"/>
            <a:pathLst>
              <a:path w="313996" h="1330448">
                <a:moveTo>
                  <a:pt x="301530" y="0"/>
                </a:moveTo>
                <a:lnTo>
                  <a:pt x="150766" y="0"/>
                </a:lnTo>
                <a:cubicBezTo>
                  <a:pt x="67500" y="0"/>
                  <a:pt x="0" y="67499"/>
                  <a:pt x="0" y="150765"/>
                </a:cubicBezTo>
                <a:lnTo>
                  <a:pt x="0" y="1173449"/>
                </a:lnTo>
                <a:cubicBezTo>
                  <a:pt x="0" y="1260157"/>
                  <a:pt x="70291" y="1330448"/>
                  <a:pt x="156999" y="1330448"/>
                </a:cubicBezTo>
                <a:lnTo>
                  <a:pt x="313997" y="1330448"/>
                </a:lnTo>
              </a:path>
            </a:pathLst>
          </a:custGeom>
          <a:ln w="19050" cap="flat">
            <a:solidFill>
              <a:srgbClr val="000000"/>
            </a:solidFill>
            <a:prstDash val="solid"/>
            <a:headEnd type="arrow" w="med" len="sm"/>
            <a:tailEnd type="arrow" w="med" len="sm"/>
          </a:ln>
        </p:spPr>
      </p:sp>
      <p:sp>
        <p:nvSpPr>
          <p:cNvPr id="188" name="Freeform 188"/>
          <p:cNvSpPr/>
          <p:nvPr/>
        </p:nvSpPr>
        <p:spPr>
          <a:xfrm>
            <a:off x="7155728" y="3507673"/>
            <a:ext cx="282984" cy="726735"/>
          </a:xfrm>
          <a:custGeom>
            <a:avLst/>
            <a:gdLst/>
            <a:ahLst/>
            <a:cxnLst/>
            <a:rect l="l" t="t" r="r" b="b"/>
            <a:pathLst>
              <a:path w="282984" h="726735">
                <a:moveTo>
                  <a:pt x="282984" y="0"/>
                </a:moveTo>
                <a:lnTo>
                  <a:pt x="141492" y="0"/>
                </a:lnTo>
                <a:cubicBezTo>
                  <a:pt x="103966" y="0"/>
                  <a:pt x="67977" y="14907"/>
                  <a:pt x="41442" y="41442"/>
                </a:cubicBezTo>
                <a:cubicBezTo>
                  <a:pt x="14907" y="67977"/>
                  <a:pt x="0" y="103965"/>
                  <a:pt x="0" y="141491"/>
                </a:cubicBezTo>
                <a:lnTo>
                  <a:pt x="0" y="585243"/>
                </a:lnTo>
                <a:cubicBezTo>
                  <a:pt x="0" y="663386"/>
                  <a:pt x="63348" y="726734"/>
                  <a:pt x="141492" y="726734"/>
                </a:cubicBezTo>
                <a:lnTo>
                  <a:pt x="282984" y="726734"/>
                </a:lnTo>
              </a:path>
            </a:pathLst>
          </a:custGeom>
          <a:ln w="19050" cap="flat">
            <a:solidFill>
              <a:srgbClr val="000000"/>
            </a:solidFill>
            <a:prstDash val="solid"/>
            <a:headEnd type="arrow" w="med" len="sm"/>
            <a:tailEnd type="arrow" w="med" len="sm"/>
          </a:ln>
        </p:spPr>
      </p:sp>
      <p:sp>
        <p:nvSpPr>
          <p:cNvPr id="189" name="AutoShape 189"/>
          <p:cNvSpPr/>
          <p:nvPr/>
        </p:nvSpPr>
        <p:spPr>
          <a:xfrm flipH="1">
            <a:off x="8364266" y="3766265"/>
            <a:ext cx="0" cy="209550"/>
          </a:xfrm>
          <a:prstGeom prst="line">
            <a:avLst/>
          </a:prstGeom>
          <a:ln w="19050" cap="flat">
            <a:solidFill>
              <a:srgbClr val="000000"/>
            </a:solidFill>
            <a:prstDash val="solid"/>
            <a:headEnd type="none" w="sm" len="sm"/>
            <a:tailEnd type="arrow" w="med" len="sm"/>
          </a:ln>
        </p:spPr>
      </p:sp>
      <p:sp>
        <p:nvSpPr>
          <p:cNvPr id="190" name="Freeform 190"/>
          <p:cNvSpPr/>
          <p:nvPr/>
        </p:nvSpPr>
        <p:spPr>
          <a:xfrm>
            <a:off x="9289820" y="4234407"/>
            <a:ext cx="257885" cy="2858041"/>
          </a:xfrm>
          <a:custGeom>
            <a:avLst/>
            <a:gdLst/>
            <a:ahLst/>
            <a:cxnLst/>
            <a:rect l="l" t="t" r="r" b="b"/>
            <a:pathLst>
              <a:path w="257885" h="2858041">
                <a:moveTo>
                  <a:pt x="0" y="0"/>
                </a:moveTo>
                <a:lnTo>
                  <a:pt x="128942" y="0"/>
                </a:lnTo>
                <a:cubicBezTo>
                  <a:pt x="163140" y="0"/>
                  <a:pt x="195937" y="13585"/>
                  <a:pt x="220118" y="37767"/>
                </a:cubicBezTo>
                <a:cubicBezTo>
                  <a:pt x="244300" y="61948"/>
                  <a:pt x="257885" y="94745"/>
                  <a:pt x="257885" y="128943"/>
                </a:cubicBezTo>
                <a:lnTo>
                  <a:pt x="257885" y="2729099"/>
                </a:lnTo>
                <a:cubicBezTo>
                  <a:pt x="257885" y="2800312"/>
                  <a:pt x="200155" y="2858041"/>
                  <a:pt x="128942" y="2858041"/>
                </a:cubicBezTo>
                <a:lnTo>
                  <a:pt x="0" y="2858041"/>
                </a:lnTo>
              </a:path>
            </a:pathLst>
          </a:custGeom>
          <a:ln w="19050" cap="flat">
            <a:solidFill>
              <a:srgbClr val="000000"/>
            </a:solidFill>
            <a:prstDash val="solid"/>
            <a:headEnd type="arrow" w="med" len="sm"/>
            <a:tailEnd type="arrow" w="med" len="sm"/>
          </a:ln>
        </p:spPr>
      </p:sp>
      <p:sp>
        <p:nvSpPr>
          <p:cNvPr id="191" name="Freeform 191"/>
          <p:cNvSpPr/>
          <p:nvPr/>
        </p:nvSpPr>
        <p:spPr>
          <a:xfrm>
            <a:off x="9320833" y="4271414"/>
            <a:ext cx="226872" cy="1960887"/>
          </a:xfrm>
          <a:custGeom>
            <a:avLst/>
            <a:gdLst/>
            <a:ahLst/>
            <a:cxnLst/>
            <a:rect l="l" t="t" r="r" b="b"/>
            <a:pathLst>
              <a:path w="226872" h="1960887">
                <a:moveTo>
                  <a:pt x="37465" y="0"/>
                </a:moveTo>
                <a:lnTo>
                  <a:pt x="132168" y="0"/>
                </a:lnTo>
                <a:cubicBezTo>
                  <a:pt x="157285" y="0"/>
                  <a:pt x="181374" y="9978"/>
                  <a:pt x="199134" y="27738"/>
                </a:cubicBezTo>
                <a:cubicBezTo>
                  <a:pt x="216894" y="45498"/>
                  <a:pt x="226872" y="69587"/>
                  <a:pt x="226872" y="94704"/>
                </a:cubicBezTo>
                <a:lnTo>
                  <a:pt x="226872" y="1847451"/>
                </a:lnTo>
                <a:cubicBezTo>
                  <a:pt x="226872" y="1877536"/>
                  <a:pt x="214921" y="1906389"/>
                  <a:pt x="193647" y="1927662"/>
                </a:cubicBezTo>
                <a:cubicBezTo>
                  <a:pt x="172374" y="1948936"/>
                  <a:pt x="143521" y="1960887"/>
                  <a:pt x="113436" y="1960887"/>
                </a:cubicBezTo>
                <a:lnTo>
                  <a:pt x="0" y="1960887"/>
                </a:lnTo>
              </a:path>
            </a:pathLst>
          </a:custGeom>
          <a:ln w="19050" cap="flat">
            <a:solidFill>
              <a:srgbClr val="000000"/>
            </a:solidFill>
            <a:prstDash val="solid"/>
            <a:headEnd type="arrow" w="med" len="sm"/>
            <a:tailEnd type="arrow" w="med" len="sm"/>
          </a:ln>
        </p:spPr>
      </p:sp>
      <p:sp>
        <p:nvSpPr>
          <p:cNvPr id="192" name="Freeform 192"/>
          <p:cNvSpPr/>
          <p:nvPr/>
        </p:nvSpPr>
        <p:spPr>
          <a:xfrm>
            <a:off x="9305327" y="4234407"/>
            <a:ext cx="242378" cy="1248129"/>
          </a:xfrm>
          <a:custGeom>
            <a:avLst/>
            <a:gdLst/>
            <a:ahLst/>
            <a:cxnLst/>
            <a:rect l="l" t="t" r="r" b="b"/>
            <a:pathLst>
              <a:path w="242378" h="1248129">
                <a:moveTo>
                  <a:pt x="58507" y="0"/>
                </a:moveTo>
                <a:lnTo>
                  <a:pt x="150442" y="0"/>
                </a:lnTo>
                <a:cubicBezTo>
                  <a:pt x="174825" y="0"/>
                  <a:pt x="198209" y="9687"/>
                  <a:pt x="215451" y="26928"/>
                </a:cubicBezTo>
                <a:cubicBezTo>
                  <a:pt x="232692" y="44169"/>
                  <a:pt x="242378" y="67553"/>
                  <a:pt x="242378" y="91936"/>
                </a:cubicBezTo>
                <a:lnTo>
                  <a:pt x="242378" y="1126941"/>
                </a:lnTo>
                <a:cubicBezTo>
                  <a:pt x="242378" y="1159082"/>
                  <a:pt x="229610" y="1189907"/>
                  <a:pt x="206882" y="1212634"/>
                </a:cubicBezTo>
                <a:cubicBezTo>
                  <a:pt x="184155" y="1235361"/>
                  <a:pt x="153330" y="1248130"/>
                  <a:pt x="121189" y="1248130"/>
                </a:cubicBezTo>
                <a:lnTo>
                  <a:pt x="0" y="1248130"/>
                </a:lnTo>
              </a:path>
            </a:pathLst>
          </a:custGeom>
          <a:ln w="19050" cap="flat">
            <a:solidFill>
              <a:srgbClr val="000000"/>
            </a:solidFill>
            <a:prstDash val="solid"/>
            <a:headEnd type="arrow" w="med" len="sm"/>
            <a:tailEnd type="arrow" w="med" len="sm"/>
          </a:ln>
        </p:spPr>
      </p:sp>
      <p:sp>
        <p:nvSpPr>
          <p:cNvPr id="193" name="Freeform 193"/>
          <p:cNvSpPr/>
          <p:nvPr/>
        </p:nvSpPr>
        <p:spPr>
          <a:xfrm>
            <a:off x="9289820" y="4234407"/>
            <a:ext cx="257885" cy="680781"/>
          </a:xfrm>
          <a:custGeom>
            <a:avLst/>
            <a:gdLst/>
            <a:ahLst/>
            <a:cxnLst/>
            <a:rect l="l" t="t" r="r" b="b"/>
            <a:pathLst>
              <a:path w="257885" h="680781">
                <a:moveTo>
                  <a:pt x="0" y="0"/>
                </a:moveTo>
                <a:lnTo>
                  <a:pt x="128942" y="0"/>
                </a:lnTo>
                <a:cubicBezTo>
                  <a:pt x="163140" y="0"/>
                  <a:pt x="195937" y="13585"/>
                  <a:pt x="220118" y="37767"/>
                </a:cubicBezTo>
                <a:cubicBezTo>
                  <a:pt x="244300" y="61948"/>
                  <a:pt x="257885" y="94745"/>
                  <a:pt x="257885" y="128943"/>
                </a:cubicBezTo>
                <a:lnTo>
                  <a:pt x="257885" y="559592"/>
                </a:lnTo>
                <a:cubicBezTo>
                  <a:pt x="257885" y="591734"/>
                  <a:pt x="245117" y="622559"/>
                  <a:pt x="222389" y="645286"/>
                </a:cubicBezTo>
                <a:cubicBezTo>
                  <a:pt x="199662" y="668013"/>
                  <a:pt x="168837" y="680781"/>
                  <a:pt x="136696" y="680781"/>
                </a:cubicBezTo>
                <a:lnTo>
                  <a:pt x="15507" y="680781"/>
                </a:lnTo>
              </a:path>
            </a:pathLst>
          </a:custGeom>
          <a:ln w="19050" cap="flat">
            <a:solidFill>
              <a:srgbClr val="000000"/>
            </a:solidFill>
            <a:prstDash val="solid"/>
            <a:headEnd type="arrow" w="med" len="sm"/>
            <a:tailEnd type="arrow" w="med" len="sm"/>
          </a:ln>
        </p:spPr>
      </p:sp>
      <p:sp>
        <p:nvSpPr>
          <p:cNvPr id="194" name="AutoShape 194"/>
          <p:cNvSpPr/>
          <p:nvPr/>
        </p:nvSpPr>
        <p:spPr>
          <a:xfrm flipV="1">
            <a:off x="9783949" y="5073298"/>
            <a:ext cx="508125" cy="0"/>
          </a:xfrm>
          <a:prstGeom prst="line">
            <a:avLst/>
          </a:prstGeom>
          <a:ln w="19050" cap="flat">
            <a:solidFill>
              <a:srgbClr val="000000"/>
            </a:solidFill>
            <a:prstDash val="solid"/>
            <a:headEnd type="none" w="sm" len="sm"/>
            <a:tailEnd type="arrow" w="med" len="sm"/>
          </a:ln>
        </p:spPr>
      </p:sp>
      <p:sp>
        <p:nvSpPr>
          <p:cNvPr id="195" name="AutoShape 195"/>
          <p:cNvSpPr/>
          <p:nvPr/>
        </p:nvSpPr>
        <p:spPr>
          <a:xfrm flipH="1">
            <a:off x="9756799" y="5756204"/>
            <a:ext cx="508125" cy="0"/>
          </a:xfrm>
          <a:prstGeom prst="line">
            <a:avLst/>
          </a:prstGeom>
          <a:ln w="19050" cap="flat">
            <a:solidFill>
              <a:srgbClr val="000000"/>
            </a:solidFill>
            <a:prstDash val="solid"/>
            <a:headEnd type="none" w="sm" len="sm"/>
            <a:tailEnd type="arrow" w="med" len="sm"/>
          </a:ln>
        </p:spPr>
      </p:sp>
      <p:grpSp>
        <p:nvGrpSpPr>
          <p:cNvPr id="196" name="Group 196"/>
          <p:cNvGrpSpPr/>
          <p:nvPr/>
        </p:nvGrpSpPr>
        <p:grpSpPr>
          <a:xfrm>
            <a:off x="15569370" y="-14873"/>
            <a:ext cx="2712939" cy="1078472"/>
            <a:chOff x="0" y="0"/>
            <a:chExt cx="4499699" cy="1788761"/>
          </a:xfrm>
        </p:grpSpPr>
        <p:sp>
          <p:nvSpPr>
            <p:cNvPr id="197" name="Freeform 197"/>
            <p:cNvSpPr/>
            <p:nvPr/>
          </p:nvSpPr>
          <p:spPr>
            <a:xfrm>
              <a:off x="0" y="0"/>
              <a:ext cx="4499737" cy="1788799"/>
            </a:xfrm>
            <a:custGeom>
              <a:avLst/>
              <a:gdLst/>
              <a:ahLst/>
              <a:cxnLst/>
              <a:rect l="l" t="t" r="r" b="b"/>
              <a:pathLst>
                <a:path w="4499737" h="1788799">
                  <a:moveTo>
                    <a:pt x="0" y="0"/>
                  </a:moveTo>
                  <a:lnTo>
                    <a:pt x="4499737" y="0"/>
                  </a:lnTo>
                  <a:lnTo>
                    <a:pt x="4499737" y="1788799"/>
                  </a:lnTo>
                  <a:lnTo>
                    <a:pt x="0" y="1788799"/>
                  </a:lnTo>
                  <a:lnTo>
                    <a:pt x="0" y="0"/>
                  </a:lnTo>
                  <a:close/>
                </a:path>
              </a:pathLst>
            </a:custGeom>
            <a:blipFill>
              <a:blip r:embed="rId19"/>
              <a:stretch>
                <a:fillRect t="-9390" b="-9388"/>
              </a:stretch>
            </a:blipFill>
          </p:spPr>
        </p:sp>
      </p:grpSp>
      <p:sp>
        <p:nvSpPr>
          <p:cNvPr id="198" name="Freeform 198"/>
          <p:cNvSpPr/>
          <p:nvPr/>
        </p:nvSpPr>
        <p:spPr>
          <a:xfrm>
            <a:off x="581480" y="97150"/>
            <a:ext cx="562668" cy="716360"/>
          </a:xfrm>
          <a:custGeom>
            <a:avLst/>
            <a:gdLst/>
            <a:ahLst/>
            <a:cxnLst/>
            <a:rect l="l" t="t" r="r" b="b"/>
            <a:pathLst>
              <a:path w="562668" h="716360">
                <a:moveTo>
                  <a:pt x="0" y="0"/>
                </a:moveTo>
                <a:lnTo>
                  <a:pt x="562668" y="0"/>
                </a:lnTo>
                <a:lnTo>
                  <a:pt x="562668" y="716361"/>
                </a:lnTo>
                <a:lnTo>
                  <a:pt x="0" y="716361"/>
                </a:lnTo>
                <a:lnTo>
                  <a:pt x="0" y="0"/>
                </a:lnTo>
                <a:close/>
              </a:path>
            </a:pathLst>
          </a:custGeom>
          <a:blipFill>
            <a:blip r:embed="rId20"/>
            <a:stretch>
              <a:fillRect t="-837" r="-164092"/>
            </a:stretch>
          </a:blipFill>
        </p:spPr>
      </p:sp>
      <p:sp>
        <p:nvSpPr>
          <p:cNvPr id="199" name="TextBox 199"/>
          <p:cNvSpPr txBox="1"/>
          <p:nvPr/>
        </p:nvSpPr>
        <p:spPr>
          <a:xfrm>
            <a:off x="23125" y="754647"/>
            <a:ext cx="1958075" cy="250261"/>
          </a:xfrm>
          <a:prstGeom prst="rect">
            <a:avLst/>
          </a:prstGeom>
        </p:spPr>
        <p:txBody>
          <a:bodyPr wrap="square" lIns="0" tIns="0" rIns="0" bIns="0" rtlCol="0" anchor="t">
            <a:spAutoFit/>
          </a:bodyPr>
          <a:lstStyle/>
          <a:p>
            <a:pPr algn="ctr">
              <a:lnSpc>
                <a:spcPts val="2100"/>
              </a:lnSpc>
            </a:pPr>
            <a:r>
              <a:rPr lang="en-US" sz="1500" i="1" dirty="0">
                <a:solidFill>
                  <a:srgbClr val="000000"/>
                </a:solidFill>
                <a:latin typeface="Comic Sans Italics"/>
                <a:ea typeface="Comic Sans Italics"/>
                <a:cs typeface="Comic Sans Italics"/>
                <a:sym typeface="Comic Sans Italics"/>
              </a:rPr>
              <a:t>HALLUCINATORS</a:t>
            </a:r>
          </a:p>
        </p:txBody>
      </p:sp>
      <p:sp>
        <p:nvSpPr>
          <p:cNvPr id="200" name="TextBox 200"/>
          <p:cNvSpPr txBox="1"/>
          <p:nvPr/>
        </p:nvSpPr>
        <p:spPr>
          <a:xfrm>
            <a:off x="13054650" y="5124450"/>
            <a:ext cx="392724" cy="403271"/>
          </a:xfrm>
          <a:prstGeom prst="rect">
            <a:avLst/>
          </a:prstGeom>
        </p:spPr>
        <p:txBody>
          <a:bodyPr lIns="0" tIns="0" rIns="0" bIns="0" rtlCol="0" anchor="t">
            <a:spAutoFit/>
          </a:bodyPr>
          <a:lstStyle/>
          <a:p>
            <a:pPr algn="ctr">
              <a:lnSpc>
                <a:spcPts val="1642"/>
              </a:lnSpc>
            </a:pPr>
            <a:r>
              <a:rPr lang="en-US" sz="1172">
                <a:solidFill>
                  <a:srgbClr val="000000"/>
                </a:solidFill>
                <a:latin typeface="Canva Sans"/>
                <a:ea typeface="Canva Sans"/>
                <a:cs typeface="Canva Sans"/>
                <a:sym typeface="Canva Sans"/>
              </a:rPr>
              <a:t>DATABASE</a:t>
            </a:r>
          </a:p>
        </p:txBody>
      </p:sp>
      <p:pic>
        <p:nvPicPr>
          <p:cNvPr id="202" name="Picture 201">
            <a:extLst>
              <a:ext uri="{FF2B5EF4-FFF2-40B4-BE49-F238E27FC236}">
                <a16:creationId xmlns:a16="http://schemas.microsoft.com/office/drawing/2014/main" id="{F16E0335-86C5-0285-234F-046508C18400}"/>
              </a:ext>
            </a:extLst>
          </p:cNvPr>
          <p:cNvPicPr>
            <a:picLocks noChangeAspect="1"/>
          </p:cNvPicPr>
          <p:nvPr/>
        </p:nvPicPr>
        <p:blipFill>
          <a:blip r:embed="rId21" cstate="print">
            <a:extLst>
              <a:ext uri="{28A0092B-C50C-407E-A947-70E740481C1C}">
                <a14:useLocalDpi xmlns:a14="http://schemas.microsoft.com/office/drawing/2010/main" val="0"/>
              </a:ext>
              <a:ext uri="{837473B0-CC2E-450A-ABE3-18F120FF3D39}">
                <a1611:picAttrSrcUrl xmlns:a1611="http://schemas.microsoft.com/office/drawing/2016/11/main" r:id="rId22"/>
              </a:ext>
            </a:extLst>
          </a:blip>
          <a:stretch>
            <a:fillRect/>
          </a:stretch>
        </p:blipFill>
        <p:spPr>
          <a:xfrm>
            <a:off x="3486619" y="8702209"/>
            <a:ext cx="777694" cy="768267"/>
          </a:xfrm>
          <a:prstGeom prst="rect">
            <a:avLst/>
          </a:prstGeom>
        </p:spPr>
      </p:pic>
      <p:pic>
        <p:nvPicPr>
          <p:cNvPr id="211" name="Picture 210">
            <a:extLst>
              <a:ext uri="{FF2B5EF4-FFF2-40B4-BE49-F238E27FC236}">
                <a16:creationId xmlns:a16="http://schemas.microsoft.com/office/drawing/2014/main" id="{6961A4EF-97B5-1B3B-6D78-F9F6E9CCF6BC}"/>
              </a:ext>
            </a:extLst>
          </p:cNvPr>
          <p:cNvPicPr>
            <a:picLocks noChangeAspect="1"/>
          </p:cNvPicPr>
          <p:nvPr/>
        </p:nvPicPr>
        <p:blipFill>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tretch>
            <a:fillRect/>
          </a:stretch>
        </p:blipFill>
        <p:spPr>
          <a:xfrm>
            <a:off x="10630046" y="8698118"/>
            <a:ext cx="1575151" cy="749772"/>
          </a:xfrm>
          <a:prstGeom prst="rect">
            <a:avLst/>
          </a:prstGeom>
        </p:spPr>
      </p:pic>
      <p:pic>
        <p:nvPicPr>
          <p:cNvPr id="214" name="Picture 213">
            <a:extLst>
              <a:ext uri="{FF2B5EF4-FFF2-40B4-BE49-F238E27FC236}">
                <a16:creationId xmlns:a16="http://schemas.microsoft.com/office/drawing/2014/main" id="{F1AADA00-F609-9EB9-66E6-A709DE730F71}"/>
              </a:ext>
            </a:extLst>
          </p:cNvPr>
          <p:cNvPicPr>
            <a:picLocks noChangeAspect="1"/>
          </p:cNvPicPr>
          <p:nvPr/>
        </p:nvPicPr>
        <p:blipFill>
          <a:blip r:embed="rId25" cstate="print">
            <a:extLst>
              <a:ext uri="{BEBA8EAE-BF5A-486C-A8C5-ECC9F3942E4B}">
                <a14:imgProps xmlns:a14="http://schemas.microsoft.com/office/drawing/2010/main">
                  <a14:imgLayer r:embed="rId26">
                    <a14:imgEffect>
                      <a14:backgroundRemoval t="10000" b="90000" l="10000" r="90000">
                        <a14:foregroundMark x1="47987" y1="48470" x2="47987" y2="48470"/>
                        <a14:foregroundMark x1="47987" y1="48470" x2="49039" y2="42211"/>
                        <a14:foregroundMark x1="49039" y1="42211" x2="49268" y2="41864"/>
                        <a14:foregroundMark x1="57868" y1="44019" x2="57868" y2="44019"/>
                        <a14:foregroundMark x1="57868" y1="44019" x2="60476" y2="42420"/>
                        <a14:foregroundMark x1="72324" y1="44645" x2="73513" y2="40960"/>
                        <a14:foregroundMark x1="73513" y1="40960" x2="71546" y2="43880"/>
                        <a14:foregroundMark x1="18527" y1="50834" x2="21226" y2="52573"/>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27"/>
              </a:ext>
            </a:extLst>
          </a:blip>
          <a:stretch>
            <a:fillRect/>
          </a:stretch>
        </p:blipFill>
        <p:spPr>
          <a:xfrm>
            <a:off x="5748795" y="8381087"/>
            <a:ext cx="2143201" cy="14098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13119"/>
            <a:ext cx="18287914" cy="573881"/>
            <a:chOff x="0" y="0"/>
            <a:chExt cx="18287911" cy="573875"/>
          </a:xfrm>
        </p:grpSpPr>
        <p:sp>
          <p:nvSpPr>
            <p:cNvPr id="3" name="Freeform 3"/>
            <p:cNvSpPr/>
            <p:nvPr/>
          </p:nvSpPr>
          <p:spPr>
            <a:xfrm>
              <a:off x="0" y="0"/>
              <a:ext cx="18287874" cy="573909"/>
            </a:xfrm>
            <a:custGeom>
              <a:avLst/>
              <a:gdLst/>
              <a:ahLst/>
              <a:cxnLst/>
              <a:rect l="l" t="t" r="r" b="b"/>
              <a:pathLst>
                <a:path w="18287874" h="573909">
                  <a:moveTo>
                    <a:pt x="0" y="0"/>
                  </a:moveTo>
                  <a:lnTo>
                    <a:pt x="0" y="573909"/>
                  </a:lnTo>
                  <a:lnTo>
                    <a:pt x="18287874" y="573909"/>
                  </a:lnTo>
                  <a:lnTo>
                    <a:pt x="18287874" y="0"/>
                  </a:lnTo>
                  <a:close/>
                </a:path>
              </a:pathLst>
            </a:custGeom>
            <a:solidFill>
              <a:srgbClr val="0070C0"/>
            </a:solidFill>
          </p:spPr>
        </p:sp>
      </p:grpSp>
      <p:sp>
        <p:nvSpPr>
          <p:cNvPr id="4" name="Freeform 4"/>
          <p:cNvSpPr/>
          <p:nvPr/>
        </p:nvSpPr>
        <p:spPr>
          <a:xfrm>
            <a:off x="-45615" y="953710"/>
            <a:ext cx="18291848" cy="8693115"/>
          </a:xfrm>
          <a:custGeom>
            <a:avLst/>
            <a:gdLst/>
            <a:ahLst/>
            <a:cxnLst/>
            <a:rect l="l" t="t" r="r" b="b"/>
            <a:pathLst>
              <a:path w="18291848" h="8693115">
                <a:moveTo>
                  <a:pt x="0" y="0"/>
                </a:moveTo>
                <a:lnTo>
                  <a:pt x="18291848" y="0"/>
                </a:lnTo>
                <a:lnTo>
                  <a:pt x="18291848" y="8693115"/>
                </a:lnTo>
                <a:lnTo>
                  <a:pt x="0" y="8693115"/>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5" name="Group 5"/>
          <p:cNvGrpSpPr/>
          <p:nvPr/>
        </p:nvGrpSpPr>
        <p:grpSpPr>
          <a:xfrm>
            <a:off x="16378276" y="5850284"/>
            <a:ext cx="847725" cy="876300"/>
            <a:chOff x="0" y="0"/>
            <a:chExt cx="1130300" cy="1168400"/>
          </a:xfrm>
        </p:grpSpPr>
        <p:sp>
          <p:nvSpPr>
            <p:cNvPr id="6" name="Freeform 6"/>
            <p:cNvSpPr/>
            <p:nvPr/>
          </p:nvSpPr>
          <p:spPr>
            <a:xfrm>
              <a:off x="0" y="0"/>
              <a:ext cx="1130300" cy="1168400"/>
            </a:xfrm>
            <a:custGeom>
              <a:avLst/>
              <a:gdLst/>
              <a:ahLst/>
              <a:cxnLst/>
              <a:rect l="l" t="t" r="r" b="b"/>
              <a:pathLst>
                <a:path w="1130300" h="1168400">
                  <a:moveTo>
                    <a:pt x="0" y="0"/>
                  </a:moveTo>
                  <a:lnTo>
                    <a:pt x="1130300" y="0"/>
                  </a:lnTo>
                  <a:lnTo>
                    <a:pt x="1130300" y="1168400"/>
                  </a:lnTo>
                  <a:lnTo>
                    <a:pt x="0" y="1168400"/>
                  </a:lnTo>
                  <a:lnTo>
                    <a:pt x="0" y="0"/>
                  </a:lnTo>
                  <a:close/>
                </a:path>
              </a:pathLst>
            </a:custGeom>
            <a:blipFill>
              <a:blip r:embed="rId3"/>
              <a:stretch>
                <a:fillRect/>
              </a:stretch>
            </a:blipFill>
          </p:spPr>
        </p:sp>
      </p:grpSp>
      <p:grpSp>
        <p:nvGrpSpPr>
          <p:cNvPr id="7" name="Group 7"/>
          <p:cNvGrpSpPr/>
          <p:nvPr/>
        </p:nvGrpSpPr>
        <p:grpSpPr>
          <a:xfrm>
            <a:off x="0" y="9713119"/>
            <a:ext cx="18288000" cy="573881"/>
            <a:chOff x="0" y="0"/>
            <a:chExt cx="18288000" cy="573875"/>
          </a:xfrm>
        </p:grpSpPr>
        <p:sp>
          <p:nvSpPr>
            <p:cNvPr id="8" name="Freeform 8"/>
            <p:cNvSpPr/>
            <p:nvPr/>
          </p:nvSpPr>
          <p:spPr>
            <a:xfrm>
              <a:off x="0" y="0"/>
              <a:ext cx="18288002" cy="573909"/>
            </a:xfrm>
            <a:custGeom>
              <a:avLst/>
              <a:gdLst/>
              <a:ahLst/>
              <a:cxnLst/>
              <a:rect l="l" t="t" r="r" b="b"/>
              <a:pathLst>
                <a:path w="18288002" h="573909">
                  <a:moveTo>
                    <a:pt x="0" y="573909"/>
                  </a:moveTo>
                  <a:lnTo>
                    <a:pt x="18288002" y="573909"/>
                  </a:lnTo>
                  <a:lnTo>
                    <a:pt x="18288002" y="0"/>
                  </a:lnTo>
                  <a:lnTo>
                    <a:pt x="0" y="0"/>
                  </a:lnTo>
                  <a:close/>
                </a:path>
              </a:pathLst>
            </a:custGeom>
            <a:solidFill>
              <a:srgbClr val="3D2500"/>
            </a:solidFill>
          </p:spPr>
        </p:sp>
      </p:grpSp>
      <p:sp>
        <p:nvSpPr>
          <p:cNvPr id="9" name="Freeform 9"/>
          <p:cNvSpPr/>
          <p:nvPr/>
        </p:nvSpPr>
        <p:spPr>
          <a:xfrm>
            <a:off x="-45615" y="953710"/>
            <a:ext cx="18294563" cy="8693153"/>
          </a:xfrm>
          <a:custGeom>
            <a:avLst/>
            <a:gdLst/>
            <a:ahLst/>
            <a:cxnLst/>
            <a:rect l="l" t="t" r="r" b="b"/>
            <a:pathLst>
              <a:path w="18294563" h="8693153">
                <a:moveTo>
                  <a:pt x="0" y="0"/>
                </a:moveTo>
                <a:lnTo>
                  <a:pt x="18294563" y="0"/>
                </a:lnTo>
                <a:lnTo>
                  <a:pt x="18294563" y="8693153"/>
                </a:lnTo>
                <a:lnTo>
                  <a:pt x="0" y="869315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a:off x="118950" y="1542393"/>
            <a:ext cx="235828" cy="2242414"/>
            <a:chOff x="0" y="0"/>
            <a:chExt cx="62111" cy="590595"/>
          </a:xfrm>
        </p:grpSpPr>
        <p:sp>
          <p:nvSpPr>
            <p:cNvPr id="11" name="Freeform 11"/>
            <p:cNvSpPr/>
            <p:nvPr/>
          </p:nvSpPr>
          <p:spPr>
            <a:xfrm>
              <a:off x="0" y="0"/>
              <a:ext cx="62111" cy="590595"/>
            </a:xfrm>
            <a:custGeom>
              <a:avLst/>
              <a:gdLst/>
              <a:ahLst/>
              <a:cxnLst/>
              <a:rect l="l" t="t" r="r" b="b"/>
              <a:pathLst>
                <a:path w="62111" h="590595">
                  <a:moveTo>
                    <a:pt x="0" y="0"/>
                  </a:moveTo>
                  <a:lnTo>
                    <a:pt x="62111" y="0"/>
                  </a:lnTo>
                  <a:lnTo>
                    <a:pt x="62111" y="590595"/>
                  </a:lnTo>
                  <a:lnTo>
                    <a:pt x="0" y="590595"/>
                  </a:lnTo>
                  <a:close/>
                </a:path>
              </a:pathLst>
            </a:custGeom>
            <a:solidFill>
              <a:srgbClr val="006838"/>
            </a:solidFill>
          </p:spPr>
        </p:sp>
        <p:sp>
          <p:nvSpPr>
            <p:cNvPr id="12" name="TextBox 12"/>
            <p:cNvSpPr txBox="1"/>
            <p:nvPr/>
          </p:nvSpPr>
          <p:spPr>
            <a:xfrm>
              <a:off x="0" y="-47625"/>
              <a:ext cx="62111" cy="638220"/>
            </a:xfrm>
            <a:prstGeom prst="rect">
              <a:avLst/>
            </a:prstGeom>
          </p:spPr>
          <p:txBody>
            <a:bodyPr lIns="50800" tIns="50800" rIns="50800" bIns="50800" rtlCol="0" anchor="ctr"/>
            <a:lstStyle/>
            <a:p>
              <a:pPr algn="ctr">
                <a:lnSpc>
                  <a:spcPts val="3131"/>
                </a:lnSpc>
              </a:pPr>
              <a:endParaRPr/>
            </a:p>
          </p:txBody>
        </p:sp>
      </p:grpSp>
      <p:sp>
        <p:nvSpPr>
          <p:cNvPr id="13" name="TextBox 13"/>
          <p:cNvSpPr txBox="1"/>
          <p:nvPr/>
        </p:nvSpPr>
        <p:spPr>
          <a:xfrm>
            <a:off x="5169246" y="131245"/>
            <a:ext cx="8108375" cy="687191"/>
          </a:xfrm>
          <a:prstGeom prst="rect">
            <a:avLst/>
          </a:prstGeom>
        </p:spPr>
        <p:txBody>
          <a:bodyPr lIns="0" tIns="0" rIns="0" bIns="0" rtlCol="0" anchor="t">
            <a:spAutoFit/>
          </a:bodyPr>
          <a:lstStyle/>
          <a:p>
            <a:pPr algn="l">
              <a:lnSpc>
                <a:spcPts val="5599"/>
              </a:lnSpc>
            </a:pPr>
            <a:r>
              <a:rPr lang="en-US" sz="3999" b="1">
                <a:solidFill>
                  <a:srgbClr val="000000"/>
                </a:solidFill>
                <a:latin typeface="Georgia Pro Bold"/>
                <a:ea typeface="Georgia Pro Bold"/>
                <a:cs typeface="Georgia Pro Bold"/>
                <a:sym typeface="Georgia Pro Bold"/>
              </a:rPr>
              <a:t>FEASIBILITY AND VIABILITY</a:t>
            </a:r>
          </a:p>
        </p:txBody>
      </p:sp>
      <p:sp>
        <p:nvSpPr>
          <p:cNvPr id="14" name="TextBox 14"/>
          <p:cNvSpPr txBox="1"/>
          <p:nvPr/>
        </p:nvSpPr>
        <p:spPr>
          <a:xfrm>
            <a:off x="6227455" y="1038063"/>
            <a:ext cx="60855" cy="360159"/>
          </a:xfrm>
          <a:prstGeom prst="rect">
            <a:avLst/>
          </a:prstGeom>
        </p:spPr>
        <p:txBody>
          <a:bodyPr lIns="0" tIns="0" rIns="0" bIns="0" rtlCol="0" anchor="t">
            <a:spAutoFit/>
          </a:bodyPr>
          <a:lstStyle/>
          <a:p>
            <a:pPr algn="l">
              <a:lnSpc>
                <a:spcPts val="2989"/>
              </a:lnSpc>
            </a:pPr>
            <a:r>
              <a:rPr lang="en-US" sz="2135" b="1">
                <a:solidFill>
                  <a:srgbClr val="000000"/>
                </a:solidFill>
                <a:latin typeface="Caladea Bold"/>
                <a:ea typeface="Caladea Bold"/>
                <a:cs typeface="Caladea Bold"/>
                <a:sym typeface="Caladea Bold"/>
              </a:rPr>
              <a:t> </a:t>
            </a:r>
          </a:p>
        </p:txBody>
      </p:sp>
      <p:sp>
        <p:nvSpPr>
          <p:cNvPr id="15" name="TextBox 15"/>
          <p:cNvSpPr txBox="1"/>
          <p:nvPr/>
        </p:nvSpPr>
        <p:spPr>
          <a:xfrm>
            <a:off x="7431214" y="9832934"/>
            <a:ext cx="3929955" cy="306705"/>
          </a:xfrm>
          <a:prstGeom prst="rect">
            <a:avLst/>
          </a:prstGeom>
        </p:spPr>
        <p:txBody>
          <a:bodyPr lIns="0" tIns="0" rIns="0" bIns="0" rtlCol="0" anchor="t">
            <a:spAutoFit/>
          </a:bodyPr>
          <a:lstStyle/>
          <a:p>
            <a:pPr algn="l">
              <a:lnSpc>
                <a:spcPts val="2520"/>
              </a:lnSpc>
            </a:pPr>
            <a:r>
              <a:rPr lang="en-US" sz="1800" spc="127">
                <a:solidFill>
                  <a:srgbClr val="FFFFFF"/>
                </a:solidFill>
                <a:latin typeface="Calistoga"/>
                <a:ea typeface="Calistoga"/>
                <a:cs typeface="Calistoga"/>
                <a:sym typeface="Calistoga"/>
              </a:rPr>
              <a:t>SMART INDIA HACKATHON 2026</a:t>
            </a:r>
          </a:p>
        </p:txBody>
      </p:sp>
      <p:sp>
        <p:nvSpPr>
          <p:cNvPr id="16" name="TextBox 16"/>
          <p:cNvSpPr txBox="1"/>
          <p:nvPr/>
        </p:nvSpPr>
        <p:spPr>
          <a:xfrm>
            <a:off x="17221810" y="9838887"/>
            <a:ext cx="154591" cy="318135"/>
          </a:xfrm>
          <a:prstGeom prst="rect">
            <a:avLst/>
          </a:prstGeom>
        </p:spPr>
        <p:txBody>
          <a:bodyPr lIns="0" tIns="0" rIns="0" bIns="0" rtlCol="0" anchor="t">
            <a:spAutoFit/>
          </a:bodyPr>
          <a:lstStyle/>
          <a:p>
            <a:pPr algn="l">
              <a:lnSpc>
                <a:spcPts val="2520"/>
              </a:lnSpc>
            </a:pPr>
            <a:r>
              <a:rPr lang="en-US" sz="1800">
                <a:solidFill>
                  <a:srgbClr val="FFFFFF"/>
                </a:solidFill>
                <a:latin typeface="Calistoga"/>
                <a:ea typeface="Calistoga"/>
                <a:cs typeface="Calistoga"/>
                <a:sym typeface="Calistoga"/>
              </a:rPr>
              <a:t>4</a:t>
            </a:r>
          </a:p>
        </p:txBody>
      </p:sp>
      <p:sp>
        <p:nvSpPr>
          <p:cNvPr id="17" name="TextBox 17"/>
          <p:cNvSpPr txBox="1"/>
          <p:nvPr/>
        </p:nvSpPr>
        <p:spPr>
          <a:xfrm>
            <a:off x="38745" y="1601766"/>
            <a:ext cx="5787526" cy="2628191"/>
          </a:xfrm>
          <a:prstGeom prst="rect">
            <a:avLst/>
          </a:prstGeom>
        </p:spPr>
        <p:txBody>
          <a:bodyPr lIns="0" tIns="0" rIns="0" bIns="0" rtlCol="0" anchor="t">
            <a:spAutoFit/>
          </a:bodyPr>
          <a:lstStyle/>
          <a:p>
            <a:pPr marL="380344" lvl="1" indent="-190172" algn="just">
              <a:lnSpc>
                <a:spcPts val="2202"/>
              </a:lnSpc>
              <a:buFont typeface="Arial"/>
              <a:buChar char="•"/>
            </a:pPr>
            <a:r>
              <a:rPr lang="en-US" sz="1761" spc="59">
                <a:solidFill>
                  <a:srgbClr val="000000"/>
                </a:solidFill>
                <a:latin typeface="Caladea"/>
                <a:ea typeface="Caladea"/>
                <a:cs typeface="Caladea"/>
                <a:sym typeface="Caladea"/>
              </a:rPr>
              <a:t>A working RAG-based prototype already retrieves and synthesizes cited answers end-to-end </a:t>
            </a:r>
          </a:p>
          <a:p>
            <a:pPr marL="380344" lvl="1" indent="-190172" algn="just">
              <a:lnSpc>
                <a:spcPts val="2202"/>
              </a:lnSpc>
              <a:buFont typeface="Arial"/>
              <a:buChar char="•"/>
            </a:pPr>
            <a:r>
              <a:rPr lang="en-US" sz="1761" spc="59">
                <a:solidFill>
                  <a:srgbClr val="000000"/>
                </a:solidFill>
                <a:latin typeface="Caladea"/>
                <a:ea typeface="Caladea"/>
                <a:cs typeface="Caladea"/>
                <a:sym typeface="Caladea"/>
              </a:rPr>
              <a:t>Built on lightweight, proven tech (FastAPI, scikit-learn, hybrid BM25 + vector search) ,no GPU or heavy infra dependency for the core retrieval engine.</a:t>
            </a:r>
          </a:p>
          <a:p>
            <a:pPr marL="358755" lvl="1" indent="-179377" algn="just">
              <a:lnSpc>
                <a:spcPts val="2077"/>
              </a:lnSpc>
              <a:buFont typeface="Arial"/>
              <a:buChar char="•"/>
            </a:pPr>
            <a:r>
              <a:rPr lang="en-US" sz="1661" spc="56">
                <a:solidFill>
                  <a:srgbClr val="000000"/>
                </a:solidFill>
                <a:latin typeface="Caladea"/>
                <a:ea typeface="Caladea"/>
                <a:cs typeface="Caladea"/>
                <a:sym typeface="Caladea"/>
              </a:rPr>
              <a:t>The formulation-classification and jurisdiction-toggle logic maps directly onto existing free public sources (TKDL, India Code, IP India, NBA) </a:t>
            </a:r>
          </a:p>
          <a:p>
            <a:pPr algn="just">
              <a:lnSpc>
                <a:spcPts val="1827"/>
              </a:lnSpc>
            </a:pPr>
            <a:endParaRPr lang="en-US" sz="1661" spc="56">
              <a:solidFill>
                <a:srgbClr val="000000"/>
              </a:solidFill>
              <a:latin typeface="Caladea"/>
              <a:ea typeface="Caladea"/>
              <a:cs typeface="Caladea"/>
              <a:sym typeface="Caladea"/>
            </a:endParaRPr>
          </a:p>
          <a:p>
            <a:pPr algn="just">
              <a:lnSpc>
                <a:spcPts val="1827"/>
              </a:lnSpc>
            </a:pPr>
            <a:endParaRPr lang="en-US" sz="1661" spc="56">
              <a:solidFill>
                <a:srgbClr val="000000"/>
              </a:solidFill>
              <a:latin typeface="Caladea"/>
              <a:ea typeface="Caladea"/>
              <a:cs typeface="Caladea"/>
              <a:sym typeface="Caladea"/>
            </a:endParaRPr>
          </a:p>
        </p:txBody>
      </p:sp>
      <p:sp>
        <p:nvSpPr>
          <p:cNvPr id="18" name="TextBox 18"/>
          <p:cNvSpPr txBox="1"/>
          <p:nvPr/>
        </p:nvSpPr>
        <p:spPr>
          <a:xfrm>
            <a:off x="215503" y="1042664"/>
            <a:ext cx="1736636" cy="433054"/>
          </a:xfrm>
          <a:prstGeom prst="rect">
            <a:avLst/>
          </a:prstGeom>
        </p:spPr>
        <p:txBody>
          <a:bodyPr lIns="0" tIns="0" rIns="0" bIns="0" rtlCol="0" anchor="t">
            <a:spAutoFit/>
          </a:bodyPr>
          <a:lstStyle/>
          <a:p>
            <a:pPr algn="l">
              <a:lnSpc>
                <a:spcPts val="3499"/>
              </a:lnSpc>
            </a:pPr>
            <a:r>
              <a:rPr lang="en-US" sz="2499" b="1">
                <a:solidFill>
                  <a:srgbClr val="11863C"/>
                </a:solidFill>
                <a:latin typeface="Georgia Pro Bold"/>
                <a:ea typeface="Georgia Pro Bold"/>
                <a:cs typeface="Georgia Pro Bold"/>
                <a:sym typeface="Georgia Pro Bold"/>
              </a:rPr>
              <a:t>Feasibility</a:t>
            </a:r>
          </a:p>
        </p:txBody>
      </p:sp>
      <p:sp>
        <p:nvSpPr>
          <p:cNvPr id="19" name="TextBox 19"/>
          <p:cNvSpPr txBox="1"/>
          <p:nvPr/>
        </p:nvSpPr>
        <p:spPr>
          <a:xfrm>
            <a:off x="6335849" y="1042664"/>
            <a:ext cx="1414891" cy="433054"/>
          </a:xfrm>
          <a:prstGeom prst="rect">
            <a:avLst/>
          </a:prstGeom>
        </p:spPr>
        <p:txBody>
          <a:bodyPr lIns="0" tIns="0" rIns="0" bIns="0" rtlCol="0" anchor="t">
            <a:spAutoFit/>
          </a:bodyPr>
          <a:lstStyle/>
          <a:p>
            <a:pPr algn="l">
              <a:lnSpc>
                <a:spcPts val="3499"/>
              </a:lnSpc>
            </a:pPr>
            <a:r>
              <a:rPr lang="en-US" sz="2499" b="1">
                <a:solidFill>
                  <a:srgbClr val="006838"/>
                </a:solidFill>
                <a:latin typeface="Georgia Pro Bold"/>
                <a:ea typeface="Georgia Pro Bold"/>
                <a:cs typeface="Georgia Pro Bold"/>
                <a:sym typeface="Georgia Pro Bold"/>
              </a:rPr>
              <a:t>Viability</a:t>
            </a:r>
          </a:p>
        </p:txBody>
      </p:sp>
      <p:sp>
        <p:nvSpPr>
          <p:cNvPr id="20" name="TextBox 20"/>
          <p:cNvSpPr txBox="1"/>
          <p:nvPr/>
        </p:nvSpPr>
        <p:spPr>
          <a:xfrm>
            <a:off x="12462443" y="1042664"/>
            <a:ext cx="4276916" cy="433054"/>
          </a:xfrm>
          <a:prstGeom prst="rect">
            <a:avLst/>
          </a:prstGeom>
        </p:spPr>
        <p:txBody>
          <a:bodyPr lIns="0" tIns="0" rIns="0" bIns="0" rtlCol="0" anchor="t">
            <a:spAutoFit/>
          </a:bodyPr>
          <a:lstStyle/>
          <a:p>
            <a:pPr algn="l">
              <a:lnSpc>
                <a:spcPts val="3499"/>
              </a:lnSpc>
            </a:pPr>
            <a:r>
              <a:rPr lang="en-US" sz="2499" b="1">
                <a:solidFill>
                  <a:srgbClr val="006838"/>
                </a:solidFill>
                <a:latin typeface="Georgia Pro Bold"/>
                <a:ea typeface="Georgia Pro Bold"/>
                <a:cs typeface="Georgia Pro Bold"/>
                <a:sym typeface="Georgia Pro Bold"/>
              </a:rPr>
              <a:t>Practical Implementation</a:t>
            </a:r>
          </a:p>
        </p:txBody>
      </p:sp>
      <p:sp>
        <p:nvSpPr>
          <p:cNvPr id="21" name="TextBox 21"/>
          <p:cNvSpPr txBox="1"/>
          <p:nvPr/>
        </p:nvSpPr>
        <p:spPr>
          <a:xfrm>
            <a:off x="14788629" y="1385573"/>
            <a:ext cx="62694" cy="379371"/>
          </a:xfrm>
          <a:prstGeom prst="rect">
            <a:avLst/>
          </a:prstGeom>
        </p:spPr>
        <p:txBody>
          <a:bodyPr lIns="0" tIns="0" rIns="0" bIns="0" rtlCol="0" anchor="t">
            <a:spAutoFit/>
          </a:bodyPr>
          <a:lstStyle/>
          <a:p>
            <a:pPr algn="l">
              <a:lnSpc>
                <a:spcPts val="3079"/>
              </a:lnSpc>
            </a:pPr>
            <a:r>
              <a:rPr lang="en-US" sz="2199" b="1">
                <a:solidFill>
                  <a:srgbClr val="000000"/>
                </a:solidFill>
                <a:latin typeface="Caladea Bold"/>
                <a:ea typeface="Caladea Bold"/>
                <a:cs typeface="Caladea Bold"/>
                <a:sym typeface="Caladea Bold"/>
              </a:rPr>
              <a:t> </a:t>
            </a:r>
          </a:p>
        </p:txBody>
      </p:sp>
      <p:sp>
        <p:nvSpPr>
          <p:cNvPr id="22" name="TextBox 22"/>
          <p:cNvSpPr txBox="1"/>
          <p:nvPr/>
        </p:nvSpPr>
        <p:spPr>
          <a:xfrm>
            <a:off x="2126504" y="8697982"/>
            <a:ext cx="274777"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05</a:t>
            </a:r>
          </a:p>
        </p:txBody>
      </p:sp>
      <p:sp>
        <p:nvSpPr>
          <p:cNvPr id="23" name="TextBox 23"/>
          <p:cNvSpPr txBox="1"/>
          <p:nvPr/>
        </p:nvSpPr>
        <p:spPr>
          <a:xfrm>
            <a:off x="2137820" y="4427468"/>
            <a:ext cx="232296"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01</a:t>
            </a:r>
          </a:p>
        </p:txBody>
      </p:sp>
      <p:sp>
        <p:nvSpPr>
          <p:cNvPr id="24" name="TextBox 24"/>
          <p:cNvSpPr txBox="1"/>
          <p:nvPr/>
        </p:nvSpPr>
        <p:spPr>
          <a:xfrm>
            <a:off x="2921918" y="7659119"/>
            <a:ext cx="272910"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04</a:t>
            </a:r>
          </a:p>
        </p:txBody>
      </p:sp>
      <p:sp>
        <p:nvSpPr>
          <p:cNvPr id="25" name="TextBox 25"/>
          <p:cNvSpPr txBox="1"/>
          <p:nvPr/>
        </p:nvSpPr>
        <p:spPr>
          <a:xfrm>
            <a:off x="14918084" y="7710764"/>
            <a:ext cx="272910"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04</a:t>
            </a:r>
          </a:p>
        </p:txBody>
      </p:sp>
      <p:sp>
        <p:nvSpPr>
          <p:cNvPr id="26" name="TextBox 26"/>
          <p:cNvSpPr txBox="1"/>
          <p:nvPr/>
        </p:nvSpPr>
        <p:spPr>
          <a:xfrm>
            <a:off x="15125128" y="5483295"/>
            <a:ext cx="273120"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02</a:t>
            </a:r>
          </a:p>
        </p:txBody>
      </p:sp>
      <p:sp>
        <p:nvSpPr>
          <p:cNvPr id="27" name="TextBox 27"/>
          <p:cNvSpPr txBox="1"/>
          <p:nvPr/>
        </p:nvSpPr>
        <p:spPr>
          <a:xfrm>
            <a:off x="15949612" y="4427468"/>
            <a:ext cx="232296"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01</a:t>
            </a:r>
          </a:p>
        </p:txBody>
      </p:sp>
      <p:sp>
        <p:nvSpPr>
          <p:cNvPr id="28" name="TextBox 28"/>
          <p:cNvSpPr txBox="1"/>
          <p:nvPr/>
        </p:nvSpPr>
        <p:spPr>
          <a:xfrm>
            <a:off x="15987779" y="8697982"/>
            <a:ext cx="274777" cy="283778"/>
          </a:xfrm>
          <a:prstGeom prst="rect">
            <a:avLst/>
          </a:prstGeom>
        </p:spPr>
        <p:txBody>
          <a:bodyPr lIns="0" tIns="0" rIns="0" bIns="0" rtlCol="0" anchor="t">
            <a:spAutoFit/>
          </a:bodyPr>
          <a:lstStyle/>
          <a:p>
            <a:pPr algn="l">
              <a:lnSpc>
                <a:spcPts val="2239"/>
              </a:lnSpc>
            </a:pPr>
            <a:r>
              <a:rPr lang="en-US" sz="1599" b="1">
                <a:solidFill>
                  <a:srgbClr val="FFFFFF"/>
                </a:solidFill>
                <a:latin typeface="Open Sauce Bold"/>
                <a:ea typeface="Open Sauce Bold"/>
                <a:cs typeface="Open Sauce Bold"/>
                <a:sym typeface="Open Sauce Bold"/>
              </a:rPr>
              <a:t>05</a:t>
            </a:r>
          </a:p>
        </p:txBody>
      </p:sp>
      <p:sp>
        <p:nvSpPr>
          <p:cNvPr id="29" name="TextBox 29"/>
          <p:cNvSpPr txBox="1"/>
          <p:nvPr/>
        </p:nvSpPr>
        <p:spPr>
          <a:xfrm>
            <a:off x="582339" y="6727098"/>
            <a:ext cx="1828171" cy="917086"/>
          </a:xfrm>
          <a:prstGeom prst="rect">
            <a:avLst/>
          </a:prstGeom>
        </p:spPr>
        <p:txBody>
          <a:bodyPr lIns="0" tIns="0" rIns="0" bIns="0" rtlCol="0" anchor="t">
            <a:spAutoFit/>
          </a:bodyPr>
          <a:lstStyle/>
          <a:p>
            <a:pPr algn="ctr">
              <a:lnSpc>
                <a:spcPts val="2399"/>
              </a:lnSpc>
            </a:pPr>
            <a:r>
              <a:rPr lang="en-US" sz="1999" b="1">
                <a:solidFill>
                  <a:srgbClr val="000000"/>
                </a:solidFill>
                <a:latin typeface="Comic Sans Bold"/>
                <a:ea typeface="Comic Sans Bold"/>
                <a:cs typeface="Comic Sans Bold"/>
                <a:sym typeface="Comic Sans Bold"/>
              </a:rPr>
              <a:t>Potential Challenges and Risks</a:t>
            </a:r>
          </a:p>
        </p:txBody>
      </p:sp>
      <p:sp>
        <p:nvSpPr>
          <p:cNvPr id="30" name="TextBox 30"/>
          <p:cNvSpPr txBox="1"/>
          <p:nvPr/>
        </p:nvSpPr>
        <p:spPr>
          <a:xfrm>
            <a:off x="15897396" y="6727098"/>
            <a:ext cx="1847774" cy="917086"/>
          </a:xfrm>
          <a:prstGeom prst="rect">
            <a:avLst/>
          </a:prstGeom>
        </p:spPr>
        <p:txBody>
          <a:bodyPr lIns="0" tIns="0" rIns="0" bIns="0" rtlCol="0" anchor="t">
            <a:spAutoFit/>
          </a:bodyPr>
          <a:lstStyle/>
          <a:p>
            <a:pPr algn="ctr">
              <a:lnSpc>
                <a:spcPts val="2399"/>
              </a:lnSpc>
            </a:pPr>
            <a:r>
              <a:rPr lang="en-US" sz="1999" b="1">
                <a:solidFill>
                  <a:srgbClr val="000000"/>
                </a:solidFill>
                <a:latin typeface="Comic Sans Bold"/>
                <a:ea typeface="Comic Sans Bold"/>
                <a:cs typeface="Comic Sans Bold"/>
                <a:sym typeface="Comic Sans Bold"/>
              </a:rPr>
              <a:t>Strategies For Overcoming Challenges </a:t>
            </a:r>
          </a:p>
        </p:txBody>
      </p:sp>
      <p:sp>
        <p:nvSpPr>
          <p:cNvPr id="31" name="TextBox 31"/>
          <p:cNvSpPr txBox="1"/>
          <p:nvPr/>
        </p:nvSpPr>
        <p:spPr>
          <a:xfrm>
            <a:off x="2569321" y="8619720"/>
            <a:ext cx="6574679" cy="638942"/>
          </a:xfrm>
          <a:prstGeom prst="rect">
            <a:avLst/>
          </a:prstGeom>
        </p:spPr>
        <p:txBody>
          <a:bodyPr lIns="0" tIns="0" rIns="0" bIns="0" rtlCol="0" anchor="t">
            <a:spAutoFit/>
          </a:bodyPr>
          <a:lstStyle/>
          <a:p>
            <a:pPr algn="l">
              <a:lnSpc>
                <a:spcPts val="2543"/>
              </a:lnSpc>
            </a:pPr>
            <a:r>
              <a:rPr lang="en-US" sz="1999" b="1" spc="51">
                <a:solidFill>
                  <a:srgbClr val="000000"/>
                </a:solidFill>
                <a:latin typeface="Caladea Bold"/>
                <a:ea typeface="Caladea Bold"/>
                <a:cs typeface="Caladea Bold"/>
                <a:sym typeface="Caladea Bold"/>
              </a:rPr>
              <a:t>Multilingual legal accuracy</a:t>
            </a:r>
            <a:r>
              <a:rPr lang="en-US" sz="1999" spc="51">
                <a:solidFill>
                  <a:srgbClr val="000000"/>
                </a:solidFill>
                <a:latin typeface="Caladea"/>
                <a:ea typeface="Caladea"/>
                <a:cs typeface="Caladea"/>
                <a:sym typeface="Caladea"/>
              </a:rPr>
              <a:t>:extending beyond English while preserving legal terminology is technically difficult</a:t>
            </a:r>
          </a:p>
        </p:txBody>
      </p:sp>
      <p:sp>
        <p:nvSpPr>
          <p:cNvPr id="32" name="TextBox 32"/>
          <p:cNvSpPr txBox="1"/>
          <p:nvPr/>
        </p:nvSpPr>
        <p:spPr>
          <a:xfrm>
            <a:off x="2586266" y="4201382"/>
            <a:ext cx="6637168" cy="897197"/>
          </a:xfrm>
          <a:prstGeom prst="rect">
            <a:avLst/>
          </a:prstGeom>
        </p:spPr>
        <p:txBody>
          <a:bodyPr lIns="0" tIns="0" rIns="0" bIns="0" rtlCol="0" anchor="t">
            <a:spAutoFit/>
          </a:bodyPr>
          <a:lstStyle/>
          <a:p>
            <a:pPr algn="l">
              <a:lnSpc>
                <a:spcPts val="2393"/>
              </a:lnSpc>
            </a:pPr>
            <a:r>
              <a:rPr lang="en-US" sz="1881" b="1" spc="28">
                <a:solidFill>
                  <a:srgbClr val="000000"/>
                </a:solidFill>
                <a:latin typeface="Caladea Bold"/>
                <a:ea typeface="Caladea Bold"/>
                <a:cs typeface="Caladea Bold"/>
                <a:sym typeface="Caladea Bold"/>
              </a:rPr>
              <a:t>Corpus currency — </a:t>
            </a:r>
            <a:r>
              <a:rPr lang="en-US" sz="1881" spc="28">
                <a:solidFill>
                  <a:srgbClr val="000000"/>
                </a:solidFill>
                <a:latin typeface="Caladea"/>
                <a:ea typeface="Caladea"/>
                <a:cs typeface="Caladea"/>
                <a:sym typeface="Caladea"/>
              </a:rPr>
              <a:t>keeping a version-tracked corpus of statutes, treaties, and registry records up to date as law changes is ongoing effort</a:t>
            </a:r>
          </a:p>
        </p:txBody>
      </p:sp>
      <p:sp>
        <p:nvSpPr>
          <p:cNvPr id="33" name="TextBox 33"/>
          <p:cNvSpPr txBox="1"/>
          <p:nvPr/>
        </p:nvSpPr>
        <p:spPr>
          <a:xfrm>
            <a:off x="3425819" y="5255200"/>
            <a:ext cx="5145710" cy="803610"/>
          </a:xfrm>
          <a:prstGeom prst="rect">
            <a:avLst/>
          </a:prstGeom>
        </p:spPr>
        <p:txBody>
          <a:bodyPr lIns="0" tIns="0" rIns="0" bIns="0" rtlCol="0" anchor="t">
            <a:spAutoFit/>
          </a:bodyPr>
          <a:lstStyle/>
          <a:p>
            <a:pPr algn="l">
              <a:lnSpc>
                <a:spcPts val="2161"/>
              </a:lnSpc>
            </a:pPr>
            <a:r>
              <a:rPr lang="en-US" sz="1699" b="1" spc="40">
                <a:solidFill>
                  <a:srgbClr val="000000"/>
                </a:solidFill>
                <a:latin typeface="Caladea Bold"/>
                <a:ea typeface="Caladea Bold"/>
                <a:cs typeface="Caladea Bold"/>
                <a:sym typeface="Caladea Bold"/>
              </a:rPr>
              <a:t>Hallucination risk:</a:t>
            </a:r>
            <a:r>
              <a:rPr lang="en-US" sz="1699" spc="40">
                <a:solidFill>
                  <a:srgbClr val="000000"/>
                </a:solidFill>
                <a:latin typeface="Caladea"/>
                <a:ea typeface="Caladea"/>
                <a:cs typeface="Caladea"/>
                <a:sym typeface="Caladea"/>
              </a:rPr>
              <a:t>any LLM-generated legal-adjacent content carries risk if guardrails fail or retrieved evidence is thin</a:t>
            </a:r>
          </a:p>
        </p:txBody>
      </p:sp>
      <p:sp>
        <p:nvSpPr>
          <p:cNvPr id="34" name="TextBox 34"/>
          <p:cNvSpPr txBox="1"/>
          <p:nvPr/>
        </p:nvSpPr>
        <p:spPr>
          <a:xfrm>
            <a:off x="2963847" y="5302951"/>
            <a:ext cx="230981" cy="389262"/>
          </a:xfrm>
          <a:prstGeom prst="rect">
            <a:avLst/>
          </a:prstGeom>
        </p:spPr>
        <p:txBody>
          <a:bodyPr lIns="0" tIns="0" rIns="0" bIns="0" rtlCol="0" anchor="t">
            <a:spAutoFit/>
          </a:bodyPr>
          <a:lstStyle/>
          <a:p>
            <a:pPr algn="l">
              <a:lnSpc>
                <a:spcPts val="3219"/>
              </a:lnSpc>
            </a:pPr>
            <a:r>
              <a:rPr lang="en-US" sz="2299" b="1">
                <a:solidFill>
                  <a:srgbClr val="FFFFFF"/>
                </a:solidFill>
                <a:latin typeface="Open Sauce Bold"/>
                <a:ea typeface="Open Sauce Bold"/>
                <a:cs typeface="Open Sauce Bold"/>
                <a:sym typeface="Open Sauce Bold"/>
              </a:rPr>
              <a:t>02</a:t>
            </a:r>
          </a:p>
        </p:txBody>
      </p:sp>
      <p:sp>
        <p:nvSpPr>
          <p:cNvPr id="35" name="TextBox 35"/>
          <p:cNvSpPr txBox="1"/>
          <p:nvPr/>
        </p:nvSpPr>
        <p:spPr>
          <a:xfrm>
            <a:off x="3743982" y="6360919"/>
            <a:ext cx="5324170" cy="925606"/>
          </a:xfrm>
          <a:prstGeom prst="rect">
            <a:avLst/>
          </a:prstGeom>
        </p:spPr>
        <p:txBody>
          <a:bodyPr lIns="0" tIns="0" rIns="0" bIns="0" rtlCol="0" anchor="t">
            <a:spAutoFit/>
          </a:bodyPr>
          <a:lstStyle/>
          <a:p>
            <a:pPr algn="l">
              <a:lnSpc>
                <a:spcPts val="2416"/>
              </a:lnSpc>
            </a:pPr>
            <a:r>
              <a:rPr lang="en-US" sz="1899" b="1" spc="45">
                <a:solidFill>
                  <a:srgbClr val="000000"/>
                </a:solidFill>
                <a:latin typeface="Caladea Bold"/>
                <a:ea typeface="Caladea Bold"/>
                <a:cs typeface="Caladea Bold"/>
                <a:sym typeface="Caladea Bold"/>
              </a:rPr>
              <a:t>Paid-source access: </a:t>
            </a:r>
            <a:r>
              <a:rPr lang="en-US" sz="1899" spc="45">
                <a:solidFill>
                  <a:srgbClr val="000000"/>
                </a:solidFill>
                <a:latin typeface="Caladea"/>
                <a:ea typeface="Caladea"/>
                <a:cs typeface="Caladea"/>
                <a:sym typeface="Caladea"/>
              </a:rPr>
              <a:t>integrating subscription-based registries requires secure handling of user credentials and explicit consent</a:t>
            </a:r>
          </a:p>
        </p:txBody>
      </p:sp>
      <p:sp>
        <p:nvSpPr>
          <p:cNvPr id="36" name="TextBox 36"/>
          <p:cNvSpPr txBox="1"/>
          <p:nvPr/>
        </p:nvSpPr>
        <p:spPr>
          <a:xfrm>
            <a:off x="3283718" y="6447815"/>
            <a:ext cx="284202" cy="490862"/>
          </a:xfrm>
          <a:prstGeom prst="rect">
            <a:avLst/>
          </a:prstGeom>
        </p:spPr>
        <p:txBody>
          <a:bodyPr lIns="0" tIns="0" rIns="0" bIns="0" rtlCol="0" anchor="t">
            <a:spAutoFit/>
          </a:bodyPr>
          <a:lstStyle/>
          <a:p>
            <a:pPr algn="l">
              <a:lnSpc>
                <a:spcPts val="3919"/>
              </a:lnSpc>
            </a:pPr>
            <a:r>
              <a:rPr lang="en-US" sz="2799" b="1">
                <a:solidFill>
                  <a:srgbClr val="FFFFFF"/>
                </a:solidFill>
                <a:latin typeface="Open Sauce Bold"/>
                <a:ea typeface="Open Sauce Bold"/>
                <a:cs typeface="Open Sauce Bold"/>
                <a:sym typeface="Open Sauce Bold"/>
              </a:rPr>
              <a:t>03</a:t>
            </a:r>
          </a:p>
        </p:txBody>
      </p:sp>
      <p:sp>
        <p:nvSpPr>
          <p:cNvPr id="37" name="TextBox 37"/>
          <p:cNvSpPr txBox="1"/>
          <p:nvPr/>
        </p:nvSpPr>
        <p:spPr>
          <a:xfrm>
            <a:off x="10117764" y="4166569"/>
            <a:ext cx="6064145" cy="666602"/>
          </a:xfrm>
          <a:prstGeom prst="rect">
            <a:avLst/>
          </a:prstGeom>
        </p:spPr>
        <p:txBody>
          <a:bodyPr lIns="0" tIns="0" rIns="0" bIns="0" rtlCol="0" anchor="t">
            <a:spAutoFit/>
          </a:bodyPr>
          <a:lstStyle/>
          <a:p>
            <a:pPr algn="l">
              <a:lnSpc>
                <a:spcPts val="2670"/>
              </a:lnSpc>
            </a:pPr>
            <a:r>
              <a:rPr lang="en-US" sz="2099" spc="50">
                <a:solidFill>
                  <a:srgbClr val="000000"/>
                </a:solidFill>
                <a:latin typeface="Caladea"/>
                <a:ea typeface="Caladea"/>
                <a:cs typeface="Caladea"/>
                <a:sym typeface="Caladea"/>
              </a:rPr>
              <a:t>Maintain a version-tracked, human-curated corpus pipeline with scheduled legal-update reviews</a:t>
            </a:r>
          </a:p>
        </p:txBody>
      </p:sp>
      <p:sp>
        <p:nvSpPr>
          <p:cNvPr id="38" name="TextBox 38"/>
          <p:cNvSpPr txBox="1"/>
          <p:nvPr/>
        </p:nvSpPr>
        <p:spPr>
          <a:xfrm>
            <a:off x="10117764" y="5236150"/>
            <a:ext cx="5073230" cy="919789"/>
          </a:xfrm>
          <a:prstGeom prst="rect">
            <a:avLst/>
          </a:prstGeom>
        </p:spPr>
        <p:txBody>
          <a:bodyPr lIns="0" tIns="0" rIns="0" bIns="0" rtlCol="0" anchor="t">
            <a:spAutoFit/>
          </a:bodyPr>
          <a:lstStyle/>
          <a:p>
            <a:pPr algn="l">
              <a:lnSpc>
                <a:spcPts val="2400"/>
              </a:lnSpc>
            </a:pPr>
            <a:r>
              <a:rPr lang="en-US" sz="1887" spc="39">
                <a:solidFill>
                  <a:srgbClr val="000000"/>
                </a:solidFill>
                <a:latin typeface="Caladea"/>
                <a:ea typeface="Caladea"/>
                <a:cs typeface="Caladea"/>
                <a:sym typeface="Caladea"/>
              </a:rPr>
              <a:t>Enforce citation-grounded synthesis with explicit no-fabrication guardrails and confidence-based abstention</a:t>
            </a:r>
          </a:p>
        </p:txBody>
      </p:sp>
      <p:sp>
        <p:nvSpPr>
          <p:cNvPr id="39" name="TextBox 39"/>
          <p:cNvSpPr txBox="1"/>
          <p:nvPr/>
        </p:nvSpPr>
        <p:spPr>
          <a:xfrm>
            <a:off x="10056128" y="6413113"/>
            <a:ext cx="4604942" cy="906568"/>
          </a:xfrm>
          <a:prstGeom prst="rect">
            <a:avLst/>
          </a:prstGeom>
        </p:spPr>
        <p:txBody>
          <a:bodyPr lIns="0" tIns="0" rIns="0" bIns="0" rtlCol="0" anchor="t">
            <a:spAutoFit/>
          </a:bodyPr>
          <a:lstStyle/>
          <a:p>
            <a:pPr algn="l">
              <a:lnSpc>
                <a:spcPts val="2390"/>
              </a:lnSpc>
            </a:pPr>
            <a:r>
              <a:rPr lang="en-US" sz="1879">
                <a:solidFill>
                  <a:srgbClr val="000000"/>
                </a:solidFill>
                <a:latin typeface="Caladea"/>
                <a:ea typeface="Caladea"/>
                <a:cs typeface="Caladea"/>
                <a:sym typeface="Caladea"/>
              </a:rPr>
              <a:t>Access paid sources only with explicit, logged user permission; default to free official databases otherwise</a:t>
            </a:r>
          </a:p>
        </p:txBody>
      </p:sp>
      <p:sp>
        <p:nvSpPr>
          <p:cNvPr id="40" name="TextBox 40"/>
          <p:cNvSpPr txBox="1"/>
          <p:nvPr/>
        </p:nvSpPr>
        <p:spPr>
          <a:xfrm>
            <a:off x="14600901" y="6321494"/>
            <a:ext cx="314563" cy="530867"/>
          </a:xfrm>
          <a:prstGeom prst="rect">
            <a:avLst/>
          </a:prstGeom>
        </p:spPr>
        <p:txBody>
          <a:bodyPr lIns="0" tIns="0" rIns="0" bIns="0" rtlCol="0" anchor="t">
            <a:spAutoFit/>
          </a:bodyPr>
          <a:lstStyle/>
          <a:p>
            <a:pPr algn="l">
              <a:lnSpc>
                <a:spcPts val="4339"/>
              </a:lnSpc>
            </a:pPr>
            <a:r>
              <a:rPr lang="en-US" sz="3099" b="1">
                <a:solidFill>
                  <a:srgbClr val="FFFFFF"/>
                </a:solidFill>
                <a:latin typeface="Open Sauce Bold"/>
                <a:ea typeface="Open Sauce Bold"/>
                <a:cs typeface="Open Sauce Bold"/>
                <a:sym typeface="Open Sauce Bold"/>
              </a:rPr>
              <a:t>03</a:t>
            </a:r>
          </a:p>
        </p:txBody>
      </p:sp>
      <p:sp>
        <p:nvSpPr>
          <p:cNvPr id="41" name="TextBox 41"/>
          <p:cNvSpPr txBox="1"/>
          <p:nvPr/>
        </p:nvSpPr>
        <p:spPr>
          <a:xfrm>
            <a:off x="10262194" y="8528009"/>
            <a:ext cx="5862974" cy="868679"/>
          </a:xfrm>
          <a:prstGeom prst="rect">
            <a:avLst/>
          </a:prstGeom>
        </p:spPr>
        <p:txBody>
          <a:bodyPr lIns="0" tIns="0" rIns="0" bIns="0" rtlCol="0" anchor="t">
            <a:spAutoFit/>
          </a:bodyPr>
          <a:lstStyle/>
          <a:p>
            <a:pPr algn="l">
              <a:lnSpc>
                <a:spcPts val="2307"/>
              </a:lnSpc>
            </a:pPr>
            <a:r>
              <a:rPr lang="en-US" sz="1814" spc="72">
                <a:solidFill>
                  <a:srgbClr val="000000"/>
                </a:solidFill>
                <a:latin typeface="Caladea"/>
                <a:ea typeface="Caladea"/>
                <a:cs typeface="Caladea"/>
                <a:sym typeface="Caladea"/>
              </a:rPr>
              <a:t>Roll out multilingual support incrementally via Bhashini, validating legal-term accuracy per language before wider release</a:t>
            </a:r>
          </a:p>
        </p:txBody>
      </p:sp>
      <p:sp>
        <p:nvSpPr>
          <p:cNvPr id="42" name="TextBox 42"/>
          <p:cNvSpPr txBox="1"/>
          <p:nvPr/>
        </p:nvSpPr>
        <p:spPr>
          <a:xfrm>
            <a:off x="3353295" y="7520264"/>
            <a:ext cx="5706997" cy="1036320"/>
          </a:xfrm>
          <a:prstGeom prst="rect">
            <a:avLst/>
          </a:prstGeom>
        </p:spPr>
        <p:txBody>
          <a:bodyPr lIns="0" tIns="0" rIns="0" bIns="0" rtlCol="0" anchor="t">
            <a:spAutoFit/>
          </a:bodyPr>
          <a:lstStyle/>
          <a:p>
            <a:pPr algn="l">
              <a:lnSpc>
                <a:spcPts val="2730"/>
              </a:lnSpc>
            </a:pPr>
            <a:r>
              <a:rPr lang="en-US" sz="1950" b="1" spc="39">
                <a:solidFill>
                  <a:srgbClr val="000000"/>
                </a:solidFill>
                <a:latin typeface="Caladea Bold"/>
                <a:ea typeface="Caladea Bold"/>
                <a:cs typeface="Caladea Bold"/>
                <a:sym typeface="Caladea Bold"/>
              </a:rPr>
              <a:t>Trust &amp; adoption </a:t>
            </a:r>
            <a:r>
              <a:rPr lang="en-US" sz="1950" spc="39">
                <a:solidFill>
                  <a:srgbClr val="000000"/>
                </a:solidFill>
                <a:latin typeface="Caladea"/>
                <a:ea typeface="Caladea"/>
                <a:cs typeface="Caladea"/>
                <a:sym typeface="Caladea"/>
              </a:rPr>
              <a:t>AYUSH practitioners and MSMEs may be cautious about relying on AI for IP-sensitive decisions</a:t>
            </a:r>
          </a:p>
        </p:txBody>
      </p:sp>
      <p:sp>
        <p:nvSpPr>
          <p:cNvPr id="43" name="TextBox 43"/>
          <p:cNvSpPr txBox="1"/>
          <p:nvPr/>
        </p:nvSpPr>
        <p:spPr>
          <a:xfrm>
            <a:off x="9574642" y="7446050"/>
            <a:ext cx="5131112" cy="931368"/>
          </a:xfrm>
          <a:prstGeom prst="rect">
            <a:avLst/>
          </a:prstGeom>
        </p:spPr>
        <p:txBody>
          <a:bodyPr lIns="0" tIns="0" rIns="0" bIns="0" rtlCol="0" anchor="t">
            <a:spAutoFit/>
          </a:bodyPr>
          <a:lstStyle/>
          <a:p>
            <a:pPr algn="l">
              <a:lnSpc>
                <a:spcPts val="2406"/>
              </a:lnSpc>
            </a:pPr>
            <a:r>
              <a:rPr lang="en-US" sz="1850" spc="35">
                <a:solidFill>
                  <a:srgbClr val="000000"/>
                </a:solidFill>
                <a:latin typeface="Caladea"/>
                <a:ea typeface="Caladea"/>
                <a:cs typeface="Caladea"/>
                <a:sym typeface="Caladea"/>
              </a:rPr>
              <a:t>Position the tool as an assistant, not an authority standing "information, not legal advice" disclaimer plus human-facilitator escalation</a:t>
            </a:r>
          </a:p>
        </p:txBody>
      </p:sp>
      <p:grpSp>
        <p:nvGrpSpPr>
          <p:cNvPr id="44" name="Group 44"/>
          <p:cNvGrpSpPr/>
          <p:nvPr/>
        </p:nvGrpSpPr>
        <p:grpSpPr>
          <a:xfrm>
            <a:off x="6335849" y="1542393"/>
            <a:ext cx="235828" cy="2242414"/>
            <a:chOff x="0" y="0"/>
            <a:chExt cx="62111" cy="590595"/>
          </a:xfrm>
        </p:grpSpPr>
        <p:sp>
          <p:nvSpPr>
            <p:cNvPr id="45" name="Freeform 45"/>
            <p:cNvSpPr/>
            <p:nvPr/>
          </p:nvSpPr>
          <p:spPr>
            <a:xfrm>
              <a:off x="0" y="0"/>
              <a:ext cx="62111" cy="590595"/>
            </a:xfrm>
            <a:custGeom>
              <a:avLst/>
              <a:gdLst/>
              <a:ahLst/>
              <a:cxnLst/>
              <a:rect l="l" t="t" r="r" b="b"/>
              <a:pathLst>
                <a:path w="62111" h="590595">
                  <a:moveTo>
                    <a:pt x="0" y="0"/>
                  </a:moveTo>
                  <a:lnTo>
                    <a:pt x="62111" y="0"/>
                  </a:lnTo>
                  <a:lnTo>
                    <a:pt x="62111" y="590595"/>
                  </a:lnTo>
                  <a:lnTo>
                    <a:pt x="0" y="590595"/>
                  </a:lnTo>
                  <a:close/>
                </a:path>
              </a:pathLst>
            </a:custGeom>
            <a:solidFill>
              <a:srgbClr val="006838"/>
            </a:solidFill>
          </p:spPr>
        </p:sp>
        <p:sp>
          <p:nvSpPr>
            <p:cNvPr id="46" name="TextBox 46"/>
            <p:cNvSpPr txBox="1"/>
            <p:nvPr/>
          </p:nvSpPr>
          <p:spPr>
            <a:xfrm>
              <a:off x="0" y="-47625"/>
              <a:ext cx="62111" cy="638220"/>
            </a:xfrm>
            <a:prstGeom prst="rect">
              <a:avLst/>
            </a:prstGeom>
          </p:spPr>
          <p:txBody>
            <a:bodyPr lIns="50800" tIns="50800" rIns="50800" bIns="50800" rtlCol="0" anchor="ctr"/>
            <a:lstStyle/>
            <a:p>
              <a:pPr algn="ctr">
                <a:lnSpc>
                  <a:spcPts val="3131"/>
                </a:lnSpc>
              </a:pPr>
              <a:endParaRPr/>
            </a:p>
          </p:txBody>
        </p:sp>
      </p:grpSp>
      <p:sp>
        <p:nvSpPr>
          <p:cNvPr id="47" name="TextBox 47"/>
          <p:cNvSpPr txBox="1"/>
          <p:nvPr/>
        </p:nvSpPr>
        <p:spPr>
          <a:xfrm>
            <a:off x="6288310" y="1113005"/>
            <a:ext cx="5543965" cy="2948788"/>
          </a:xfrm>
          <a:prstGeom prst="rect">
            <a:avLst/>
          </a:prstGeom>
        </p:spPr>
        <p:txBody>
          <a:bodyPr lIns="0" tIns="0" rIns="0" bIns="0" rtlCol="0" anchor="t">
            <a:spAutoFit/>
          </a:bodyPr>
          <a:lstStyle/>
          <a:p>
            <a:pPr algn="l">
              <a:lnSpc>
                <a:spcPts val="2098"/>
              </a:lnSpc>
            </a:pPr>
            <a:endParaRPr/>
          </a:p>
          <a:p>
            <a:pPr algn="l">
              <a:lnSpc>
                <a:spcPts val="2098"/>
              </a:lnSpc>
            </a:pPr>
            <a:endParaRPr/>
          </a:p>
          <a:p>
            <a:pPr marL="323678" lvl="1" indent="-161839" algn="l">
              <a:lnSpc>
                <a:spcPts val="2098"/>
              </a:lnSpc>
              <a:buFont typeface="Arial"/>
              <a:buChar char="•"/>
            </a:pPr>
            <a:r>
              <a:rPr lang="en-US" sz="1499">
                <a:solidFill>
                  <a:srgbClr val="000000"/>
                </a:solidFill>
                <a:latin typeface="Canva Sans"/>
                <a:ea typeface="Canva Sans"/>
                <a:cs typeface="Canva Sans"/>
                <a:sym typeface="Canva Sans"/>
              </a:rPr>
              <a:t>A staged rollout (MVP → knowledge graph &amp; agentic reasoning → paid-source connectors → full multilingual/voice) keeps cost and complexity manageable at each phase, rather than requiring the full vision upfront.</a:t>
            </a:r>
          </a:p>
          <a:p>
            <a:pPr marL="323678" lvl="1" indent="-161839" algn="l">
              <a:lnSpc>
                <a:spcPts val="2098"/>
              </a:lnSpc>
              <a:buFont typeface="Arial"/>
              <a:buChar char="•"/>
            </a:pPr>
            <a:r>
              <a:rPr lang="en-US" sz="1499">
                <a:solidFill>
                  <a:srgbClr val="000000"/>
                </a:solidFill>
                <a:latin typeface="Canva Sans"/>
                <a:ea typeface="Canva Sans"/>
                <a:cs typeface="Canva Sans"/>
                <a:sym typeface="Canva Sans"/>
              </a:rPr>
              <a:t>Human-facilitator escalation on low-confidence queries builds trust incrementally , adoption doesn't depend on the AI being perfect from day one.</a:t>
            </a:r>
          </a:p>
          <a:p>
            <a:pPr algn="l">
              <a:lnSpc>
                <a:spcPts val="3086"/>
              </a:lnSpc>
            </a:pPr>
            <a:endParaRPr lang="en-US" sz="1499">
              <a:solidFill>
                <a:srgbClr val="000000"/>
              </a:solidFill>
              <a:latin typeface="Canva Sans"/>
              <a:ea typeface="Canva Sans"/>
              <a:cs typeface="Canva Sans"/>
              <a:sym typeface="Canva Sans"/>
            </a:endParaRPr>
          </a:p>
        </p:txBody>
      </p:sp>
      <p:grpSp>
        <p:nvGrpSpPr>
          <p:cNvPr id="48" name="Group 48"/>
          <p:cNvGrpSpPr/>
          <p:nvPr/>
        </p:nvGrpSpPr>
        <p:grpSpPr>
          <a:xfrm>
            <a:off x="12462443" y="1475718"/>
            <a:ext cx="235828" cy="2242414"/>
            <a:chOff x="0" y="0"/>
            <a:chExt cx="62111" cy="590595"/>
          </a:xfrm>
        </p:grpSpPr>
        <p:sp>
          <p:nvSpPr>
            <p:cNvPr id="49" name="Freeform 49"/>
            <p:cNvSpPr/>
            <p:nvPr/>
          </p:nvSpPr>
          <p:spPr>
            <a:xfrm>
              <a:off x="0" y="0"/>
              <a:ext cx="62111" cy="590595"/>
            </a:xfrm>
            <a:custGeom>
              <a:avLst/>
              <a:gdLst/>
              <a:ahLst/>
              <a:cxnLst/>
              <a:rect l="l" t="t" r="r" b="b"/>
              <a:pathLst>
                <a:path w="62111" h="590595">
                  <a:moveTo>
                    <a:pt x="0" y="0"/>
                  </a:moveTo>
                  <a:lnTo>
                    <a:pt x="62111" y="0"/>
                  </a:lnTo>
                  <a:lnTo>
                    <a:pt x="62111" y="590595"/>
                  </a:lnTo>
                  <a:lnTo>
                    <a:pt x="0" y="590595"/>
                  </a:lnTo>
                  <a:close/>
                </a:path>
              </a:pathLst>
            </a:custGeom>
            <a:solidFill>
              <a:srgbClr val="006838"/>
            </a:solidFill>
          </p:spPr>
        </p:sp>
        <p:sp>
          <p:nvSpPr>
            <p:cNvPr id="50" name="TextBox 50"/>
            <p:cNvSpPr txBox="1"/>
            <p:nvPr/>
          </p:nvSpPr>
          <p:spPr>
            <a:xfrm>
              <a:off x="0" y="-47625"/>
              <a:ext cx="62111" cy="638220"/>
            </a:xfrm>
            <a:prstGeom prst="rect">
              <a:avLst/>
            </a:prstGeom>
          </p:spPr>
          <p:txBody>
            <a:bodyPr lIns="50800" tIns="50800" rIns="50800" bIns="50800" rtlCol="0" anchor="ctr"/>
            <a:lstStyle/>
            <a:p>
              <a:pPr algn="ctr">
                <a:lnSpc>
                  <a:spcPts val="3131"/>
                </a:lnSpc>
              </a:pPr>
              <a:endParaRPr/>
            </a:p>
          </p:txBody>
        </p:sp>
      </p:grpSp>
      <p:sp>
        <p:nvSpPr>
          <p:cNvPr id="51" name="TextBox 51"/>
          <p:cNvSpPr txBox="1"/>
          <p:nvPr/>
        </p:nvSpPr>
        <p:spPr>
          <a:xfrm>
            <a:off x="12464444" y="1570496"/>
            <a:ext cx="5443783" cy="1973107"/>
          </a:xfrm>
          <a:prstGeom prst="rect">
            <a:avLst/>
          </a:prstGeom>
        </p:spPr>
        <p:txBody>
          <a:bodyPr lIns="0" tIns="0" rIns="0" bIns="0" rtlCol="0" anchor="t">
            <a:spAutoFit/>
          </a:bodyPr>
          <a:lstStyle/>
          <a:p>
            <a:pPr marL="311675" lvl="1" indent="-155837" algn="just">
              <a:lnSpc>
                <a:spcPts val="2021"/>
              </a:lnSpc>
              <a:buFont typeface="Arial"/>
              <a:buChar char="•"/>
            </a:pPr>
            <a:r>
              <a:rPr lang="en-US" sz="1443">
                <a:solidFill>
                  <a:srgbClr val="000000"/>
                </a:solidFill>
                <a:latin typeface="Canva Sans"/>
                <a:ea typeface="Canva Sans"/>
                <a:cs typeface="Canva Sans"/>
                <a:sym typeface="Canva Sans"/>
              </a:rPr>
              <a:t>Already deployable as a lightweight web app; ready for an institutional pilot (AIIA, AYUSH startups/MSMEs) without major re-architecture.</a:t>
            </a:r>
          </a:p>
          <a:p>
            <a:pPr marL="311675" lvl="1" indent="-155837" algn="just">
              <a:lnSpc>
                <a:spcPts val="2021"/>
              </a:lnSpc>
              <a:buFont typeface="Arial"/>
              <a:buChar char="•"/>
            </a:pPr>
            <a:r>
              <a:rPr lang="en-US" sz="1443">
                <a:solidFill>
                  <a:srgbClr val="000000"/>
                </a:solidFill>
                <a:latin typeface="Canva Sans"/>
                <a:ea typeface="Canva Sans"/>
                <a:cs typeface="Canva Sans"/>
                <a:sym typeface="Canva Sans"/>
              </a:rPr>
              <a:t>Runs on modest infrastructure (SQLite-backed retrieval, no specialized hardware)  low barrier to hosting even for a government/institutional deployment.</a:t>
            </a:r>
          </a:p>
          <a:p>
            <a:pPr marL="311675" lvl="1" indent="-155837" algn="just">
              <a:lnSpc>
                <a:spcPts val="2021"/>
              </a:lnSpc>
              <a:buFont typeface="Arial"/>
              <a:buChar char="•"/>
            </a:pPr>
            <a:r>
              <a:rPr lang="en-US" sz="1443">
                <a:solidFill>
                  <a:srgbClr val="000000"/>
                </a:solidFill>
                <a:latin typeface="Canva Sans"/>
                <a:ea typeface="Canva Sans"/>
                <a:cs typeface="Canva Sans"/>
                <a:sym typeface="Canva Sans"/>
              </a:rPr>
              <a:t>Multilingual delivery via Bhashini is a defined next milestone in the roadmap, not a ground-up redesign</a:t>
            </a:r>
          </a:p>
        </p:txBody>
      </p:sp>
      <p:grpSp>
        <p:nvGrpSpPr>
          <p:cNvPr id="52" name="Group 52"/>
          <p:cNvGrpSpPr/>
          <p:nvPr/>
        </p:nvGrpSpPr>
        <p:grpSpPr>
          <a:xfrm>
            <a:off x="15569370" y="-14873"/>
            <a:ext cx="2712939" cy="1078472"/>
            <a:chOff x="0" y="0"/>
            <a:chExt cx="4499699" cy="1788761"/>
          </a:xfrm>
        </p:grpSpPr>
        <p:sp>
          <p:nvSpPr>
            <p:cNvPr id="53" name="Freeform 53"/>
            <p:cNvSpPr/>
            <p:nvPr/>
          </p:nvSpPr>
          <p:spPr>
            <a:xfrm>
              <a:off x="0" y="0"/>
              <a:ext cx="4499737" cy="1788799"/>
            </a:xfrm>
            <a:custGeom>
              <a:avLst/>
              <a:gdLst/>
              <a:ahLst/>
              <a:cxnLst/>
              <a:rect l="l" t="t" r="r" b="b"/>
              <a:pathLst>
                <a:path w="4499737" h="1788799">
                  <a:moveTo>
                    <a:pt x="0" y="0"/>
                  </a:moveTo>
                  <a:lnTo>
                    <a:pt x="4499737" y="0"/>
                  </a:lnTo>
                  <a:lnTo>
                    <a:pt x="4499737" y="1788799"/>
                  </a:lnTo>
                  <a:lnTo>
                    <a:pt x="0" y="1788799"/>
                  </a:lnTo>
                  <a:lnTo>
                    <a:pt x="0" y="0"/>
                  </a:lnTo>
                  <a:close/>
                </a:path>
              </a:pathLst>
            </a:custGeom>
            <a:blipFill>
              <a:blip r:embed="rId5"/>
              <a:stretch>
                <a:fillRect t="-9390" b="-9388"/>
              </a:stretch>
            </a:blipFill>
          </p:spPr>
        </p:sp>
      </p:grpSp>
      <p:sp>
        <p:nvSpPr>
          <p:cNvPr id="54" name="Freeform 54"/>
          <p:cNvSpPr/>
          <p:nvPr/>
        </p:nvSpPr>
        <p:spPr>
          <a:xfrm>
            <a:off x="581480" y="97150"/>
            <a:ext cx="562668" cy="716360"/>
          </a:xfrm>
          <a:custGeom>
            <a:avLst/>
            <a:gdLst/>
            <a:ahLst/>
            <a:cxnLst/>
            <a:rect l="l" t="t" r="r" b="b"/>
            <a:pathLst>
              <a:path w="562668" h="716360">
                <a:moveTo>
                  <a:pt x="0" y="0"/>
                </a:moveTo>
                <a:lnTo>
                  <a:pt x="562668" y="0"/>
                </a:lnTo>
                <a:lnTo>
                  <a:pt x="562668" y="716361"/>
                </a:lnTo>
                <a:lnTo>
                  <a:pt x="0" y="716361"/>
                </a:lnTo>
                <a:lnTo>
                  <a:pt x="0" y="0"/>
                </a:lnTo>
                <a:close/>
              </a:path>
            </a:pathLst>
          </a:custGeom>
          <a:blipFill>
            <a:blip r:embed="rId6"/>
            <a:stretch>
              <a:fillRect t="-837" r="-164092"/>
            </a:stretch>
          </a:blipFill>
        </p:spPr>
      </p:sp>
      <p:sp>
        <p:nvSpPr>
          <p:cNvPr id="55" name="TextBox 55"/>
          <p:cNvSpPr txBox="1"/>
          <p:nvPr/>
        </p:nvSpPr>
        <p:spPr>
          <a:xfrm>
            <a:off x="23125" y="754647"/>
            <a:ext cx="2103379" cy="250261"/>
          </a:xfrm>
          <a:prstGeom prst="rect">
            <a:avLst/>
          </a:prstGeom>
        </p:spPr>
        <p:txBody>
          <a:bodyPr wrap="square" lIns="0" tIns="0" rIns="0" bIns="0" rtlCol="0" anchor="t">
            <a:spAutoFit/>
          </a:bodyPr>
          <a:lstStyle/>
          <a:p>
            <a:pPr algn="ctr">
              <a:lnSpc>
                <a:spcPts val="2100"/>
              </a:lnSpc>
            </a:pPr>
            <a:r>
              <a:rPr lang="en-US" sz="1500" i="1" dirty="0">
                <a:solidFill>
                  <a:srgbClr val="000000"/>
                </a:solidFill>
                <a:latin typeface="Comic Sans Italics"/>
                <a:ea typeface="Comic Sans Italics"/>
                <a:cs typeface="Comic Sans Italics"/>
                <a:sym typeface="Comic Sans Italics"/>
              </a:rPr>
              <a:t>HALLUCINATORS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13119"/>
            <a:ext cx="18287914" cy="573881"/>
            <a:chOff x="0" y="0"/>
            <a:chExt cx="18287911" cy="573875"/>
          </a:xfrm>
        </p:grpSpPr>
        <p:sp>
          <p:nvSpPr>
            <p:cNvPr id="3" name="Freeform 3"/>
            <p:cNvSpPr/>
            <p:nvPr/>
          </p:nvSpPr>
          <p:spPr>
            <a:xfrm>
              <a:off x="0" y="0"/>
              <a:ext cx="18287874" cy="573909"/>
            </a:xfrm>
            <a:custGeom>
              <a:avLst/>
              <a:gdLst/>
              <a:ahLst/>
              <a:cxnLst/>
              <a:rect l="l" t="t" r="r" b="b"/>
              <a:pathLst>
                <a:path w="18287874" h="573909">
                  <a:moveTo>
                    <a:pt x="0" y="0"/>
                  </a:moveTo>
                  <a:lnTo>
                    <a:pt x="0" y="573909"/>
                  </a:lnTo>
                  <a:lnTo>
                    <a:pt x="18287874" y="573909"/>
                  </a:lnTo>
                  <a:lnTo>
                    <a:pt x="18287874" y="0"/>
                  </a:lnTo>
                  <a:close/>
                </a:path>
              </a:pathLst>
            </a:custGeom>
            <a:solidFill>
              <a:srgbClr val="0070C0"/>
            </a:solidFill>
          </p:spPr>
        </p:sp>
      </p:grpSp>
      <p:sp>
        <p:nvSpPr>
          <p:cNvPr id="4" name="Freeform 4"/>
          <p:cNvSpPr/>
          <p:nvPr/>
        </p:nvSpPr>
        <p:spPr>
          <a:xfrm>
            <a:off x="12303281" y="1273569"/>
            <a:ext cx="361845" cy="355387"/>
          </a:xfrm>
          <a:custGeom>
            <a:avLst/>
            <a:gdLst/>
            <a:ahLst/>
            <a:cxnLst/>
            <a:rect l="l" t="t" r="r" b="b"/>
            <a:pathLst>
              <a:path w="361845" h="355387">
                <a:moveTo>
                  <a:pt x="0" y="0"/>
                </a:moveTo>
                <a:lnTo>
                  <a:pt x="361845" y="0"/>
                </a:lnTo>
                <a:lnTo>
                  <a:pt x="361845" y="355387"/>
                </a:lnTo>
                <a:lnTo>
                  <a:pt x="0" y="35538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78337" y="1272073"/>
            <a:ext cx="11342599" cy="7497528"/>
          </a:xfrm>
          <a:custGeom>
            <a:avLst/>
            <a:gdLst/>
            <a:ahLst/>
            <a:cxnLst/>
            <a:rect l="l" t="t" r="r" b="b"/>
            <a:pathLst>
              <a:path w="11342599" h="7497528">
                <a:moveTo>
                  <a:pt x="0" y="0"/>
                </a:moveTo>
                <a:lnTo>
                  <a:pt x="11342598" y="0"/>
                </a:lnTo>
                <a:lnTo>
                  <a:pt x="11342598" y="7497528"/>
                </a:lnTo>
                <a:lnTo>
                  <a:pt x="0" y="749752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66551" y="8903970"/>
            <a:ext cx="18134581" cy="1449581"/>
          </a:xfrm>
          <a:custGeom>
            <a:avLst/>
            <a:gdLst/>
            <a:ahLst/>
            <a:cxnLst/>
            <a:rect l="l" t="t" r="r" b="b"/>
            <a:pathLst>
              <a:path w="18134581" h="1449581">
                <a:moveTo>
                  <a:pt x="0" y="0"/>
                </a:moveTo>
                <a:lnTo>
                  <a:pt x="18134581" y="0"/>
                </a:lnTo>
                <a:lnTo>
                  <a:pt x="18134581" y="1449581"/>
                </a:lnTo>
                <a:lnTo>
                  <a:pt x="0" y="144958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1700443" y="1062018"/>
            <a:ext cx="6521329" cy="7832493"/>
          </a:xfrm>
          <a:custGeom>
            <a:avLst/>
            <a:gdLst/>
            <a:ahLst/>
            <a:cxnLst/>
            <a:rect l="l" t="t" r="r" b="b"/>
            <a:pathLst>
              <a:path w="6521329" h="7832493">
                <a:moveTo>
                  <a:pt x="0" y="0"/>
                </a:moveTo>
                <a:lnTo>
                  <a:pt x="6521330" y="0"/>
                </a:lnTo>
                <a:lnTo>
                  <a:pt x="6521330" y="7832494"/>
                </a:lnTo>
                <a:lnTo>
                  <a:pt x="0" y="783249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8" name="Group 8"/>
          <p:cNvGrpSpPr/>
          <p:nvPr/>
        </p:nvGrpSpPr>
        <p:grpSpPr>
          <a:xfrm>
            <a:off x="2906697" y="8008191"/>
            <a:ext cx="685800" cy="581025"/>
            <a:chOff x="0" y="0"/>
            <a:chExt cx="914400" cy="774700"/>
          </a:xfrm>
        </p:grpSpPr>
        <p:sp>
          <p:nvSpPr>
            <p:cNvPr id="9" name="Freeform 9"/>
            <p:cNvSpPr/>
            <p:nvPr/>
          </p:nvSpPr>
          <p:spPr>
            <a:xfrm>
              <a:off x="0" y="0"/>
              <a:ext cx="914400" cy="774700"/>
            </a:xfrm>
            <a:custGeom>
              <a:avLst/>
              <a:gdLst/>
              <a:ahLst/>
              <a:cxnLst/>
              <a:rect l="l" t="t" r="r" b="b"/>
              <a:pathLst>
                <a:path w="914400" h="774700">
                  <a:moveTo>
                    <a:pt x="0" y="0"/>
                  </a:moveTo>
                  <a:lnTo>
                    <a:pt x="914400" y="0"/>
                  </a:lnTo>
                  <a:lnTo>
                    <a:pt x="914400" y="774700"/>
                  </a:lnTo>
                  <a:lnTo>
                    <a:pt x="0" y="774700"/>
                  </a:lnTo>
                  <a:lnTo>
                    <a:pt x="0" y="0"/>
                  </a:lnTo>
                  <a:close/>
                </a:path>
              </a:pathLst>
            </a:custGeom>
            <a:blipFill>
              <a:blip r:embed="rId6"/>
              <a:stretch>
                <a:fillRect/>
              </a:stretch>
            </a:blipFill>
          </p:spPr>
        </p:sp>
      </p:grpSp>
      <p:sp>
        <p:nvSpPr>
          <p:cNvPr id="10" name="Freeform 10"/>
          <p:cNvSpPr/>
          <p:nvPr/>
        </p:nvSpPr>
        <p:spPr>
          <a:xfrm>
            <a:off x="2805636" y="2593419"/>
            <a:ext cx="860422" cy="860422"/>
          </a:xfrm>
          <a:custGeom>
            <a:avLst/>
            <a:gdLst/>
            <a:ahLst/>
            <a:cxnLst/>
            <a:rect l="l" t="t" r="r" b="b"/>
            <a:pathLst>
              <a:path w="860422" h="860422">
                <a:moveTo>
                  <a:pt x="0" y="0"/>
                </a:moveTo>
                <a:lnTo>
                  <a:pt x="860422" y="0"/>
                </a:lnTo>
                <a:lnTo>
                  <a:pt x="860422" y="860422"/>
                </a:lnTo>
                <a:lnTo>
                  <a:pt x="0" y="860422"/>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2643104" y="1155192"/>
            <a:ext cx="5209032" cy="582168"/>
            <a:chOff x="0" y="0"/>
            <a:chExt cx="6945376" cy="776224"/>
          </a:xfrm>
        </p:grpSpPr>
        <p:sp>
          <p:nvSpPr>
            <p:cNvPr id="12" name="Freeform 12"/>
            <p:cNvSpPr/>
            <p:nvPr/>
          </p:nvSpPr>
          <p:spPr>
            <a:xfrm>
              <a:off x="0" y="0"/>
              <a:ext cx="6945376" cy="776224"/>
            </a:xfrm>
            <a:custGeom>
              <a:avLst/>
              <a:gdLst/>
              <a:ahLst/>
              <a:cxnLst/>
              <a:rect l="l" t="t" r="r" b="b"/>
              <a:pathLst>
                <a:path w="6945376" h="776224">
                  <a:moveTo>
                    <a:pt x="0" y="0"/>
                  </a:moveTo>
                  <a:lnTo>
                    <a:pt x="6945376" y="0"/>
                  </a:lnTo>
                  <a:lnTo>
                    <a:pt x="6945376" y="776224"/>
                  </a:lnTo>
                  <a:lnTo>
                    <a:pt x="0" y="776224"/>
                  </a:lnTo>
                  <a:lnTo>
                    <a:pt x="0" y="0"/>
                  </a:lnTo>
                  <a:close/>
                </a:path>
              </a:pathLst>
            </a:custGeom>
            <a:blipFill>
              <a:blip r:embed="rId8"/>
              <a:stretch>
                <a:fillRect/>
              </a:stretch>
            </a:blipFill>
          </p:spPr>
        </p:sp>
      </p:grpSp>
      <p:grpSp>
        <p:nvGrpSpPr>
          <p:cNvPr id="13" name="Group 13"/>
          <p:cNvGrpSpPr/>
          <p:nvPr/>
        </p:nvGrpSpPr>
        <p:grpSpPr>
          <a:xfrm>
            <a:off x="-63503" y="8826751"/>
            <a:ext cx="18414997" cy="1523752"/>
            <a:chOff x="0" y="0"/>
            <a:chExt cx="18415000" cy="1523749"/>
          </a:xfrm>
        </p:grpSpPr>
        <p:sp>
          <p:nvSpPr>
            <p:cNvPr id="14" name="Freeform 14"/>
            <p:cNvSpPr/>
            <p:nvPr/>
          </p:nvSpPr>
          <p:spPr>
            <a:xfrm>
              <a:off x="179832" y="66890"/>
              <a:ext cx="18045939" cy="649634"/>
            </a:xfrm>
            <a:custGeom>
              <a:avLst/>
              <a:gdLst/>
              <a:ahLst/>
              <a:cxnLst/>
              <a:rect l="l" t="t" r="r" b="b"/>
              <a:pathLst>
                <a:path w="18045939" h="649634">
                  <a:moveTo>
                    <a:pt x="0" y="649634"/>
                  </a:moveTo>
                  <a:lnTo>
                    <a:pt x="18045939" y="649634"/>
                  </a:lnTo>
                  <a:lnTo>
                    <a:pt x="18045939" y="0"/>
                  </a:lnTo>
                  <a:lnTo>
                    <a:pt x="0" y="0"/>
                  </a:lnTo>
                  <a:close/>
                </a:path>
              </a:pathLst>
            </a:custGeom>
            <a:solidFill>
              <a:srgbClr val="000000">
                <a:alpha val="0"/>
              </a:srgbClr>
            </a:solidFill>
          </p:spPr>
        </p:sp>
        <p:sp>
          <p:nvSpPr>
            <p:cNvPr id="15" name="Freeform 15"/>
            <p:cNvSpPr/>
            <p:nvPr/>
          </p:nvSpPr>
          <p:spPr>
            <a:xfrm>
              <a:off x="63500" y="312911"/>
              <a:ext cx="3657600" cy="1143950"/>
            </a:xfrm>
            <a:custGeom>
              <a:avLst/>
              <a:gdLst/>
              <a:ahLst/>
              <a:cxnLst/>
              <a:rect l="l" t="t" r="r" b="b"/>
              <a:pathLst>
                <a:path w="3657600" h="1143950">
                  <a:moveTo>
                    <a:pt x="0" y="0"/>
                  </a:moveTo>
                  <a:lnTo>
                    <a:pt x="0" y="1143950"/>
                  </a:lnTo>
                  <a:lnTo>
                    <a:pt x="3657600" y="1143950"/>
                  </a:lnTo>
                  <a:lnTo>
                    <a:pt x="3657600" y="0"/>
                  </a:lnTo>
                  <a:close/>
                </a:path>
              </a:pathLst>
            </a:custGeom>
            <a:solidFill>
              <a:srgbClr val="000000">
                <a:alpha val="0"/>
              </a:srgbClr>
            </a:solidFill>
          </p:spPr>
        </p:sp>
        <p:sp>
          <p:nvSpPr>
            <p:cNvPr id="16" name="Freeform 16"/>
            <p:cNvSpPr/>
            <p:nvPr/>
          </p:nvSpPr>
          <p:spPr>
            <a:xfrm>
              <a:off x="63500" y="852310"/>
              <a:ext cx="18288002" cy="604550"/>
            </a:xfrm>
            <a:custGeom>
              <a:avLst/>
              <a:gdLst/>
              <a:ahLst/>
              <a:cxnLst/>
              <a:rect l="l" t="t" r="r" b="b"/>
              <a:pathLst>
                <a:path w="18288002" h="604550">
                  <a:moveTo>
                    <a:pt x="0" y="604551"/>
                  </a:moveTo>
                  <a:lnTo>
                    <a:pt x="18288002" y="604551"/>
                  </a:lnTo>
                  <a:lnTo>
                    <a:pt x="18288002" y="0"/>
                  </a:lnTo>
                  <a:lnTo>
                    <a:pt x="0" y="0"/>
                  </a:lnTo>
                  <a:close/>
                </a:path>
              </a:pathLst>
            </a:custGeom>
            <a:solidFill>
              <a:srgbClr val="3D2500"/>
            </a:solidFill>
          </p:spPr>
        </p:sp>
      </p:grpSp>
      <p:sp>
        <p:nvSpPr>
          <p:cNvPr id="17" name="TextBox 17"/>
          <p:cNvSpPr txBox="1"/>
          <p:nvPr/>
        </p:nvSpPr>
        <p:spPr>
          <a:xfrm>
            <a:off x="16958815" y="3417056"/>
            <a:ext cx="929521" cy="504831"/>
          </a:xfrm>
          <a:prstGeom prst="rect">
            <a:avLst/>
          </a:prstGeom>
        </p:spPr>
        <p:txBody>
          <a:bodyPr lIns="0" tIns="0" rIns="0" bIns="0" rtlCol="0" anchor="t">
            <a:spAutoFit/>
          </a:bodyPr>
          <a:lstStyle/>
          <a:p>
            <a:pPr algn="l">
              <a:lnSpc>
                <a:spcPts val="4199"/>
              </a:lnSpc>
            </a:pPr>
            <a:r>
              <a:rPr lang="en-US" sz="2999">
                <a:solidFill>
                  <a:srgbClr val="000000"/>
                </a:solidFill>
                <a:latin typeface="Calistoga"/>
                <a:ea typeface="Calistoga"/>
                <a:cs typeface="Calistoga"/>
                <a:sym typeface="Calistoga"/>
              </a:rPr>
              <a:t>Legal</a:t>
            </a:r>
          </a:p>
        </p:txBody>
      </p:sp>
      <p:grpSp>
        <p:nvGrpSpPr>
          <p:cNvPr id="18" name="Group 18"/>
          <p:cNvGrpSpPr/>
          <p:nvPr/>
        </p:nvGrpSpPr>
        <p:grpSpPr>
          <a:xfrm>
            <a:off x="16315373" y="2089785"/>
            <a:ext cx="1516380" cy="1480185"/>
            <a:chOff x="0" y="0"/>
            <a:chExt cx="2021840" cy="1973580"/>
          </a:xfrm>
        </p:grpSpPr>
        <p:sp>
          <p:nvSpPr>
            <p:cNvPr id="19" name="Freeform 19"/>
            <p:cNvSpPr/>
            <p:nvPr/>
          </p:nvSpPr>
          <p:spPr>
            <a:xfrm>
              <a:off x="47605" y="49539"/>
              <a:ext cx="1922318" cy="1874785"/>
            </a:xfrm>
            <a:custGeom>
              <a:avLst/>
              <a:gdLst/>
              <a:ahLst/>
              <a:cxnLst/>
              <a:rect l="l" t="t" r="r" b="b"/>
              <a:pathLst>
                <a:path w="1922318" h="1874785">
                  <a:moveTo>
                    <a:pt x="3195" y="1135371"/>
                  </a:moveTo>
                  <a:cubicBezTo>
                    <a:pt x="189885" y="915661"/>
                    <a:pt x="215285" y="925821"/>
                    <a:pt x="220365" y="918201"/>
                  </a:cubicBezTo>
                  <a:cubicBezTo>
                    <a:pt x="225445" y="911851"/>
                    <a:pt x="217825" y="902961"/>
                    <a:pt x="217825" y="892801"/>
                  </a:cubicBezTo>
                  <a:cubicBezTo>
                    <a:pt x="217825" y="880101"/>
                    <a:pt x="229255" y="864861"/>
                    <a:pt x="222905" y="848351"/>
                  </a:cubicBezTo>
                  <a:cubicBezTo>
                    <a:pt x="211475" y="812791"/>
                    <a:pt x="120035" y="768341"/>
                    <a:pt x="95905" y="711191"/>
                  </a:cubicBezTo>
                  <a:cubicBezTo>
                    <a:pt x="70505" y="647691"/>
                    <a:pt x="83205" y="556251"/>
                    <a:pt x="90825" y="477511"/>
                  </a:cubicBezTo>
                  <a:cubicBezTo>
                    <a:pt x="99715" y="396231"/>
                    <a:pt x="104795" y="295901"/>
                    <a:pt x="149245" y="231131"/>
                  </a:cubicBezTo>
                  <a:cubicBezTo>
                    <a:pt x="189885" y="168901"/>
                    <a:pt x="268625" y="130801"/>
                    <a:pt x="342285" y="92701"/>
                  </a:cubicBezTo>
                  <a:cubicBezTo>
                    <a:pt x="421025" y="52061"/>
                    <a:pt x="515005" y="8881"/>
                    <a:pt x="608985" y="1261"/>
                  </a:cubicBezTo>
                  <a:cubicBezTo>
                    <a:pt x="709315" y="-6359"/>
                    <a:pt x="843935" y="21581"/>
                    <a:pt x="926485" y="57141"/>
                  </a:cubicBezTo>
                  <a:cubicBezTo>
                    <a:pt x="988715" y="83811"/>
                    <a:pt x="1031895" y="151121"/>
                    <a:pt x="1073805" y="166361"/>
                  </a:cubicBezTo>
                  <a:cubicBezTo>
                    <a:pt x="1099205" y="175251"/>
                    <a:pt x="1111905" y="167631"/>
                    <a:pt x="1142385" y="170171"/>
                  </a:cubicBezTo>
                  <a:cubicBezTo>
                    <a:pt x="1204615" y="177791"/>
                    <a:pt x="1339235" y="181601"/>
                    <a:pt x="1421785" y="220971"/>
                  </a:cubicBezTo>
                  <a:cubicBezTo>
                    <a:pt x="1505605" y="259071"/>
                    <a:pt x="1575455" y="339081"/>
                    <a:pt x="1641495" y="401311"/>
                  </a:cubicBezTo>
                  <a:cubicBezTo>
                    <a:pt x="1703725" y="458461"/>
                    <a:pt x="1762145" y="509261"/>
                    <a:pt x="1807865" y="577841"/>
                  </a:cubicBezTo>
                  <a:cubicBezTo>
                    <a:pt x="1857395" y="654041"/>
                    <a:pt x="1925975" y="755641"/>
                    <a:pt x="1922165" y="843271"/>
                  </a:cubicBezTo>
                  <a:cubicBezTo>
                    <a:pt x="1918355" y="932171"/>
                    <a:pt x="1845965" y="1037581"/>
                    <a:pt x="1779925" y="1107431"/>
                  </a:cubicBezTo>
                  <a:cubicBezTo>
                    <a:pt x="1713885" y="1176011"/>
                    <a:pt x="1539895" y="1234431"/>
                    <a:pt x="1528465" y="1259831"/>
                  </a:cubicBezTo>
                  <a:cubicBezTo>
                    <a:pt x="1527195" y="1264911"/>
                    <a:pt x="1531005" y="1266181"/>
                    <a:pt x="1532275" y="1271261"/>
                  </a:cubicBezTo>
                  <a:cubicBezTo>
                    <a:pt x="1533545" y="1278881"/>
                    <a:pt x="1538625" y="1299201"/>
                    <a:pt x="1538625" y="1300471"/>
                  </a:cubicBezTo>
                  <a:cubicBezTo>
                    <a:pt x="1538625" y="1300471"/>
                    <a:pt x="1538625" y="1319521"/>
                    <a:pt x="1538625" y="1329681"/>
                  </a:cubicBezTo>
                  <a:cubicBezTo>
                    <a:pt x="1538625" y="1338571"/>
                    <a:pt x="1537355" y="1357621"/>
                    <a:pt x="1537355" y="1358891"/>
                  </a:cubicBezTo>
                  <a:cubicBezTo>
                    <a:pt x="1537355" y="1358891"/>
                    <a:pt x="1533545" y="1376671"/>
                    <a:pt x="1531005" y="1386831"/>
                  </a:cubicBezTo>
                  <a:cubicBezTo>
                    <a:pt x="1528465" y="1395721"/>
                    <a:pt x="1523385" y="1414771"/>
                    <a:pt x="1523385" y="1414771"/>
                  </a:cubicBezTo>
                  <a:cubicBezTo>
                    <a:pt x="1523385" y="1414771"/>
                    <a:pt x="1514495" y="1432551"/>
                    <a:pt x="1509415" y="1440171"/>
                  </a:cubicBezTo>
                  <a:cubicBezTo>
                    <a:pt x="1504335" y="1449061"/>
                    <a:pt x="1495445" y="1465571"/>
                    <a:pt x="1495445" y="1466841"/>
                  </a:cubicBezTo>
                  <a:cubicBezTo>
                    <a:pt x="1495445" y="1466841"/>
                    <a:pt x="1482745" y="1480811"/>
                    <a:pt x="1476395" y="1488431"/>
                  </a:cubicBezTo>
                  <a:cubicBezTo>
                    <a:pt x="1468775" y="1494781"/>
                    <a:pt x="1456075" y="1508751"/>
                    <a:pt x="1456075" y="1510021"/>
                  </a:cubicBezTo>
                  <a:cubicBezTo>
                    <a:pt x="1456075" y="1510021"/>
                    <a:pt x="1439565" y="1520181"/>
                    <a:pt x="1431945" y="1526531"/>
                  </a:cubicBezTo>
                  <a:cubicBezTo>
                    <a:pt x="1424325" y="1531611"/>
                    <a:pt x="1411625" y="1536691"/>
                    <a:pt x="1407815" y="1541771"/>
                  </a:cubicBezTo>
                  <a:cubicBezTo>
                    <a:pt x="1405275" y="1544311"/>
                    <a:pt x="1407815" y="1546851"/>
                    <a:pt x="1405275" y="1549391"/>
                  </a:cubicBezTo>
                  <a:cubicBezTo>
                    <a:pt x="1387495" y="1568441"/>
                    <a:pt x="1237635" y="1630671"/>
                    <a:pt x="1158895" y="1677661"/>
                  </a:cubicBezTo>
                  <a:cubicBezTo>
                    <a:pt x="1082695" y="1724651"/>
                    <a:pt x="1016655" y="1802121"/>
                    <a:pt x="940455" y="1833871"/>
                  </a:cubicBezTo>
                  <a:cubicBezTo>
                    <a:pt x="871875" y="1863081"/>
                    <a:pt x="800755" y="1868161"/>
                    <a:pt x="727095" y="1871971"/>
                  </a:cubicBezTo>
                  <a:cubicBezTo>
                    <a:pt x="650895" y="1875781"/>
                    <a:pt x="567075" y="1879591"/>
                    <a:pt x="490875" y="1855461"/>
                  </a:cubicBezTo>
                  <a:cubicBezTo>
                    <a:pt x="407055" y="1827521"/>
                    <a:pt x="323235" y="1774181"/>
                    <a:pt x="249575" y="1705601"/>
                  </a:cubicBezTo>
                  <a:cubicBezTo>
                    <a:pt x="163215" y="1624321"/>
                    <a:pt x="57805" y="1488431"/>
                    <a:pt x="19705" y="1383021"/>
                  </a:cubicBezTo>
                  <a:cubicBezTo>
                    <a:pt x="-10775" y="1299201"/>
                    <a:pt x="3195" y="1135371"/>
                    <a:pt x="3195" y="1135371"/>
                  </a:cubicBezTo>
                </a:path>
              </a:pathLst>
            </a:custGeom>
            <a:solidFill>
              <a:srgbClr val="FFFFFF"/>
            </a:solidFill>
            <a:ln cap="sq">
              <a:noFill/>
              <a:prstDash val="solid"/>
              <a:miter/>
            </a:ln>
          </p:spPr>
        </p:sp>
      </p:grpSp>
      <p:sp>
        <p:nvSpPr>
          <p:cNvPr id="20" name="Freeform 20"/>
          <p:cNvSpPr/>
          <p:nvPr/>
        </p:nvSpPr>
        <p:spPr>
          <a:xfrm>
            <a:off x="16545589" y="2212547"/>
            <a:ext cx="1201270" cy="1201270"/>
          </a:xfrm>
          <a:custGeom>
            <a:avLst/>
            <a:gdLst/>
            <a:ahLst/>
            <a:cxnLst/>
            <a:rect l="l" t="t" r="r" b="b"/>
            <a:pathLst>
              <a:path w="1201270" h="1201270">
                <a:moveTo>
                  <a:pt x="0" y="0"/>
                </a:moveTo>
                <a:lnTo>
                  <a:pt x="1201270" y="0"/>
                </a:lnTo>
                <a:lnTo>
                  <a:pt x="1201270" y="1201270"/>
                </a:lnTo>
                <a:lnTo>
                  <a:pt x="0" y="1201270"/>
                </a:lnTo>
                <a:lnTo>
                  <a:pt x="0" y="0"/>
                </a:lnTo>
                <a:close/>
              </a:path>
            </a:pathLst>
          </a:custGeom>
          <a:blipFill>
            <a:blip>
              <a:extLst>
                <a:ext uri="{96DAC541-7B7A-43D3-8B79-37D633B846F1}">
                  <asvg:svgBlip xmlns:asvg="http://schemas.microsoft.com/office/drawing/2016/SVG/main" r:embed="rId9"/>
                </a:ext>
              </a:extLst>
            </a:blip>
            <a:stretch>
              <a:fillRect/>
            </a:stretch>
          </a:blipFill>
        </p:spPr>
      </p:sp>
      <p:grpSp>
        <p:nvGrpSpPr>
          <p:cNvPr id="21" name="Group 21"/>
          <p:cNvGrpSpPr/>
          <p:nvPr/>
        </p:nvGrpSpPr>
        <p:grpSpPr>
          <a:xfrm>
            <a:off x="16742093" y="6525578"/>
            <a:ext cx="1517332" cy="1749742"/>
            <a:chOff x="0" y="0"/>
            <a:chExt cx="2023110" cy="2332990"/>
          </a:xfrm>
        </p:grpSpPr>
        <p:sp>
          <p:nvSpPr>
            <p:cNvPr id="22" name="Freeform 22"/>
            <p:cNvSpPr/>
            <p:nvPr/>
          </p:nvSpPr>
          <p:spPr>
            <a:xfrm>
              <a:off x="50800" y="44510"/>
              <a:ext cx="1922437" cy="2238246"/>
            </a:xfrm>
            <a:custGeom>
              <a:avLst/>
              <a:gdLst/>
              <a:ahLst/>
              <a:cxnLst/>
              <a:rect l="l" t="t" r="r" b="b"/>
              <a:pathLst>
                <a:path w="1922437" h="2238246">
                  <a:moveTo>
                    <a:pt x="0" y="504130"/>
                  </a:moveTo>
                  <a:cubicBezTo>
                    <a:pt x="52070" y="99000"/>
                    <a:pt x="148590" y="26610"/>
                    <a:pt x="232410" y="6290"/>
                  </a:cubicBezTo>
                  <a:cubicBezTo>
                    <a:pt x="318770" y="-14030"/>
                    <a:pt x="439420" y="17720"/>
                    <a:pt x="521970" y="60900"/>
                  </a:cubicBezTo>
                  <a:cubicBezTo>
                    <a:pt x="603250" y="104080"/>
                    <a:pt x="641350" y="229810"/>
                    <a:pt x="725170" y="261560"/>
                  </a:cubicBezTo>
                  <a:cubicBezTo>
                    <a:pt x="812800" y="294580"/>
                    <a:pt x="961390" y="215840"/>
                    <a:pt x="1041400" y="242510"/>
                  </a:cubicBezTo>
                  <a:cubicBezTo>
                    <a:pt x="1099820" y="261560"/>
                    <a:pt x="1125220" y="345380"/>
                    <a:pt x="1176020" y="354270"/>
                  </a:cubicBezTo>
                  <a:cubicBezTo>
                    <a:pt x="1224280" y="364430"/>
                    <a:pt x="1280160" y="289500"/>
                    <a:pt x="1338580" y="302200"/>
                  </a:cubicBezTo>
                  <a:cubicBezTo>
                    <a:pt x="1422400" y="319980"/>
                    <a:pt x="1572260" y="452060"/>
                    <a:pt x="1615440" y="549850"/>
                  </a:cubicBezTo>
                  <a:cubicBezTo>
                    <a:pt x="1654810" y="640020"/>
                    <a:pt x="1620520" y="793690"/>
                    <a:pt x="1611630" y="859730"/>
                  </a:cubicBezTo>
                  <a:cubicBezTo>
                    <a:pt x="1606550" y="891480"/>
                    <a:pt x="1588770" y="925770"/>
                    <a:pt x="1593850" y="928310"/>
                  </a:cubicBezTo>
                  <a:cubicBezTo>
                    <a:pt x="1595120" y="929580"/>
                    <a:pt x="1598930" y="924500"/>
                    <a:pt x="1601470" y="923230"/>
                  </a:cubicBezTo>
                  <a:cubicBezTo>
                    <a:pt x="1605280" y="921960"/>
                    <a:pt x="1610360" y="921960"/>
                    <a:pt x="1614170" y="920690"/>
                  </a:cubicBezTo>
                  <a:cubicBezTo>
                    <a:pt x="1617980" y="919420"/>
                    <a:pt x="1621790" y="916880"/>
                    <a:pt x="1625600" y="915610"/>
                  </a:cubicBezTo>
                  <a:cubicBezTo>
                    <a:pt x="1633220" y="914340"/>
                    <a:pt x="1643380" y="914340"/>
                    <a:pt x="1651000" y="913070"/>
                  </a:cubicBezTo>
                  <a:cubicBezTo>
                    <a:pt x="1659890" y="911800"/>
                    <a:pt x="1668780" y="907990"/>
                    <a:pt x="1676400" y="907990"/>
                  </a:cubicBezTo>
                  <a:cubicBezTo>
                    <a:pt x="1681480" y="907990"/>
                    <a:pt x="1685290" y="909260"/>
                    <a:pt x="1689100" y="909260"/>
                  </a:cubicBezTo>
                  <a:cubicBezTo>
                    <a:pt x="1692910" y="909260"/>
                    <a:pt x="1696720" y="907990"/>
                    <a:pt x="1701800" y="907990"/>
                  </a:cubicBezTo>
                  <a:cubicBezTo>
                    <a:pt x="1708150" y="909260"/>
                    <a:pt x="1718310" y="913070"/>
                    <a:pt x="1725930" y="914340"/>
                  </a:cubicBezTo>
                  <a:cubicBezTo>
                    <a:pt x="1734820" y="915610"/>
                    <a:pt x="1744980" y="915610"/>
                    <a:pt x="1751330" y="918150"/>
                  </a:cubicBezTo>
                  <a:cubicBezTo>
                    <a:pt x="1756410" y="919420"/>
                    <a:pt x="1758950" y="921960"/>
                    <a:pt x="1762760" y="923230"/>
                  </a:cubicBezTo>
                  <a:cubicBezTo>
                    <a:pt x="1766570" y="924500"/>
                    <a:pt x="1771650" y="924500"/>
                    <a:pt x="1775460" y="925770"/>
                  </a:cubicBezTo>
                  <a:cubicBezTo>
                    <a:pt x="1781810" y="928310"/>
                    <a:pt x="1789430" y="935930"/>
                    <a:pt x="1797050" y="939740"/>
                  </a:cubicBezTo>
                  <a:cubicBezTo>
                    <a:pt x="1804670" y="943550"/>
                    <a:pt x="1814830" y="946090"/>
                    <a:pt x="1819910" y="949900"/>
                  </a:cubicBezTo>
                  <a:cubicBezTo>
                    <a:pt x="1823720" y="953710"/>
                    <a:pt x="1826260" y="956250"/>
                    <a:pt x="1828800" y="958790"/>
                  </a:cubicBezTo>
                  <a:cubicBezTo>
                    <a:pt x="1832610" y="961330"/>
                    <a:pt x="1836420" y="962600"/>
                    <a:pt x="1840230" y="966410"/>
                  </a:cubicBezTo>
                  <a:cubicBezTo>
                    <a:pt x="1845310" y="970220"/>
                    <a:pt x="1850390" y="979110"/>
                    <a:pt x="1856740" y="985460"/>
                  </a:cubicBezTo>
                  <a:cubicBezTo>
                    <a:pt x="1861820" y="991810"/>
                    <a:pt x="1870710" y="998160"/>
                    <a:pt x="1874520" y="1003240"/>
                  </a:cubicBezTo>
                  <a:cubicBezTo>
                    <a:pt x="1877060" y="1007050"/>
                    <a:pt x="1878330" y="1010860"/>
                    <a:pt x="1880870" y="1014670"/>
                  </a:cubicBezTo>
                  <a:cubicBezTo>
                    <a:pt x="1882140" y="1018480"/>
                    <a:pt x="1885950" y="1021020"/>
                    <a:pt x="1888490" y="1024830"/>
                  </a:cubicBezTo>
                  <a:cubicBezTo>
                    <a:pt x="1892300" y="1031180"/>
                    <a:pt x="1893570" y="1040070"/>
                    <a:pt x="1897380" y="1048960"/>
                  </a:cubicBezTo>
                  <a:cubicBezTo>
                    <a:pt x="1901190" y="1056580"/>
                    <a:pt x="1907540" y="1064200"/>
                    <a:pt x="1908810" y="1070550"/>
                  </a:cubicBezTo>
                  <a:cubicBezTo>
                    <a:pt x="1910080" y="1075630"/>
                    <a:pt x="1910080" y="1079440"/>
                    <a:pt x="1911350" y="1083250"/>
                  </a:cubicBezTo>
                  <a:cubicBezTo>
                    <a:pt x="1912620" y="1088330"/>
                    <a:pt x="1913890" y="1090870"/>
                    <a:pt x="1915160" y="1095950"/>
                  </a:cubicBezTo>
                  <a:cubicBezTo>
                    <a:pt x="1916430" y="1102300"/>
                    <a:pt x="1915160" y="1112460"/>
                    <a:pt x="1916430" y="1121350"/>
                  </a:cubicBezTo>
                  <a:cubicBezTo>
                    <a:pt x="1917700" y="1128970"/>
                    <a:pt x="1920240" y="1146750"/>
                    <a:pt x="1920240" y="1146750"/>
                  </a:cubicBezTo>
                  <a:cubicBezTo>
                    <a:pt x="1920240" y="1146750"/>
                    <a:pt x="1920240" y="1145480"/>
                    <a:pt x="1920240" y="1145480"/>
                  </a:cubicBezTo>
                  <a:cubicBezTo>
                    <a:pt x="1920240" y="1145480"/>
                    <a:pt x="1926590" y="1290260"/>
                    <a:pt x="1917700" y="1375350"/>
                  </a:cubicBezTo>
                  <a:cubicBezTo>
                    <a:pt x="1905000" y="1482030"/>
                    <a:pt x="1887220" y="1628080"/>
                    <a:pt x="1842770" y="1733490"/>
                  </a:cubicBezTo>
                  <a:cubicBezTo>
                    <a:pt x="1802130" y="1831280"/>
                    <a:pt x="1732280" y="1920180"/>
                    <a:pt x="1672590" y="1993840"/>
                  </a:cubicBezTo>
                  <a:cubicBezTo>
                    <a:pt x="1623060" y="2056070"/>
                    <a:pt x="1582420" y="2111950"/>
                    <a:pt x="1516380" y="2151320"/>
                  </a:cubicBezTo>
                  <a:cubicBezTo>
                    <a:pt x="1443990" y="2195770"/>
                    <a:pt x="1332230" y="2244030"/>
                    <a:pt x="1247140" y="2237680"/>
                  </a:cubicBezTo>
                  <a:cubicBezTo>
                    <a:pt x="1168400" y="2231330"/>
                    <a:pt x="1043940" y="2157670"/>
                    <a:pt x="1024890" y="2124650"/>
                  </a:cubicBezTo>
                  <a:cubicBezTo>
                    <a:pt x="1017270" y="2113220"/>
                    <a:pt x="1031240" y="2095440"/>
                    <a:pt x="1024890" y="2090360"/>
                  </a:cubicBezTo>
                  <a:cubicBezTo>
                    <a:pt x="1010920" y="2081470"/>
                    <a:pt x="961390" y="2120840"/>
                    <a:pt x="908050" y="2133540"/>
                  </a:cubicBezTo>
                  <a:cubicBezTo>
                    <a:pt x="798830" y="2160210"/>
                    <a:pt x="509270" y="2265620"/>
                    <a:pt x="401320" y="2199580"/>
                  </a:cubicBezTo>
                  <a:cubicBezTo>
                    <a:pt x="302260" y="2138620"/>
                    <a:pt x="271780" y="1926530"/>
                    <a:pt x="257810" y="1795720"/>
                  </a:cubicBezTo>
                  <a:cubicBezTo>
                    <a:pt x="246380" y="1678880"/>
                    <a:pt x="328930" y="1550610"/>
                    <a:pt x="304800" y="1451550"/>
                  </a:cubicBezTo>
                  <a:cubicBezTo>
                    <a:pt x="283210" y="1363920"/>
                    <a:pt x="187960" y="1316930"/>
                    <a:pt x="147320" y="1225490"/>
                  </a:cubicBezTo>
                  <a:cubicBezTo>
                    <a:pt x="96520" y="1112460"/>
                    <a:pt x="74930" y="942280"/>
                    <a:pt x="49530" y="814010"/>
                  </a:cubicBezTo>
                  <a:cubicBezTo>
                    <a:pt x="27940" y="703520"/>
                    <a:pt x="0" y="504130"/>
                    <a:pt x="0" y="504130"/>
                  </a:cubicBezTo>
                  <a:moveTo>
                    <a:pt x="414020" y="430470"/>
                  </a:moveTo>
                  <a:cubicBezTo>
                    <a:pt x="452120" y="589220"/>
                    <a:pt x="453390" y="533340"/>
                    <a:pt x="464820" y="524450"/>
                  </a:cubicBezTo>
                  <a:cubicBezTo>
                    <a:pt x="471170" y="519370"/>
                    <a:pt x="487680" y="529530"/>
                    <a:pt x="488950" y="524450"/>
                  </a:cubicBezTo>
                  <a:cubicBezTo>
                    <a:pt x="494030" y="514290"/>
                    <a:pt x="414020" y="430470"/>
                    <a:pt x="414020" y="430470"/>
                  </a:cubicBezTo>
                  <a:moveTo>
                    <a:pt x="840740" y="651450"/>
                  </a:moveTo>
                  <a:cubicBezTo>
                    <a:pt x="847090" y="661610"/>
                    <a:pt x="845820" y="652720"/>
                    <a:pt x="844550" y="651450"/>
                  </a:cubicBezTo>
                  <a:cubicBezTo>
                    <a:pt x="843280" y="650180"/>
                    <a:pt x="840740" y="651450"/>
                    <a:pt x="840740" y="651450"/>
                  </a:cubicBezTo>
                  <a:moveTo>
                    <a:pt x="981710" y="1128970"/>
                  </a:moveTo>
                  <a:cubicBezTo>
                    <a:pt x="982980" y="1131510"/>
                    <a:pt x="1003300" y="1108650"/>
                    <a:pt x="1003300" y="1104840"/>
                  </a:cubicBezTo>
                  <a:cubicBezTo>
                    <a:pt x="1004570" y="1104840"/>
                    <a:pt x="1003300" y="1103570"/>
                    <a:pt x="1003300" y="1103570"/>
                  </a:cubicBezTo>
                  <a:cubicBezTo>
                    <a:pt x="1000760" y="1103570"/>
                    <a:pt x="981710" y="1128970"/>
                    <a:pt x="981710" y="1128970"/>
                  </a:cubicBezTo>
                </a:path>
              </a:pathLst>
            </a:custGeom>
            <a:solidFill>
              <a:srgbClr val="FFFFFF"/>
            </a:solidFill>
            <a:ln cap="sq">
              <a:noFill/>
              <a:prstDash val="solid"/>
              <a:miter/>
            </a:ln>
          </p:spPr>
        </p:sp>
      </p:grpSp>
      <p:grpSp>
        <p:nvGrpSpPr>
          <p:cNvPr id="23" name="Group 23"/>
          <p:cNvGrpSpPr/>
          <p:nvPr/>
        </p:nvGrpSpPr>
        <p:grpSpPr>
          <a:xfrm>
            <a:off x="17849850" y="7223760"/>
            <a:ext cx="387668" cy="388620"/>
            <a:chOff x="0" y="0"/>
            <a:chExt cx="516890" cy="518160"/>
          </a:xfrm>
        </p:grpSpPr>
        <p:sp>
          <p:nvSpPr>
            <p:cNvPr id="24" name="Freeform 24"/>
            <p:cNvSpPr/>
            <p:nvPr/>
          </p:nvSpPr>
          <p:spPr>
            <a:xfrm>
              <a:off x="50252" y="47273"/>
              <a:ext cx="409488" cy="418976"/>
            </a:xfrm>
            <a:custGeom>
              <a:avLst/>
              <a:gdLst/>
              <a:ahLst/>
              <a:cxnLst/>
              <a:rect l="l" t="t" r="r" b="b"/>
              <a:pathLst>
                <a:path w="409488" h="418976">
                  <a:moveTo>
                    <a:pt x="409488" y="147037"/>
                  </a:moveTo>
                  <a:cubicBezTo>
                    <a:pt x="409488" y="279117"/>
                    <a:pt x="394248" y="312137"/>
                    <a:pt x="373928" y="338807"/>
                  </a:cubicBezTo>
                  <a:cubicBezTo>
                    <a:pt x="353608" y="364207"/>
                    <a:pt x="324398" y="387067"/>
                    <a:pt x="295188" y="399767"/>
                  </a:cubicBezTo>
                  <a:cubicBezTo>
                    <a:pt x="265978" y="413737"/>
                    <a:pt x="229148" y="420087"/>
                    <a:pt x="196128" y="418817"/>
                  </a:cubicBezTo>
                  <a:cubicBezTo>
                    <a:pt x="164378" y="416277"/>
                    <a:pt x="128818" y="404847"/>
                    <a:pt x="100878" y="388337"/>
                  </a:cubicBezTo>
                  <a:cubicBezTo>
                    <a:pt x="72938" y="371827"/>
                    <a:pt x="46268" y="345157"/>
                    <a:pt x="29758" y="317217"/>
                  </a:cubicBezTo>
                  <a:cubicBezTo>
                    <a:pt x="13248" y="289277"/>
                    <a:pt x="1818" y="253717"/>
                    <a:pt x="548" y="221967"/>
                  </a:cubicBezTo>
                  <a:cubicBezTo>
                    <a:pt x="-1992" y="188947"/>
                    <a:pt x="4358" y="152117"/>
                    <a:pt x="18328" y="122907"/>
                  </a:cubicBezTo>
                  <a:cubicBezTo>
                    <a:pt x="31028" y="93697"/>
                    <a:pt x="53888" y="64487"/>
                    <a:pt x="79288" y="44167"/>
                  </a:cubicBezTo>
                  <a:cubicBezTo>
                    <a:pt x="105958" y="23847"/>
                    <a:pt x="138978" y="8607"/>
                    <a:pt x="171998" y="3527"/>
                  </a:cubicBezTo>
                  <a:cubicBezTo>
                    <a:pt x="203748" y="-2823"/>
                    <a:pt x="240578" y="-283"/>
                    <a:pt x="271058" y="8607"/>
                  </a:cubicBezTo>
                  <a:cubicBezTo>
                    <a:pt x="302808" y="18767"/>
                    <a:pt x="357418" y="60677"/>
                    <a:pt x="357418" y="60677"/>
                  </a:cubicBezTo>
                </a:path>
              </a:pathLst>
            </a:custGeom>
            <a:solidFill>
              <a:srgbClr val="FFFFFF"/>
            </a:solidFill>
            <a:ln cap="sq">
              <a:noFill/>
              <a:prstDash val="solid"/>
              <a:miter/>
            </a:ln>
          </p:spPr>
        </p:sp>
      </p:grpSp>
      <p:sp>
        <p:nvSpPr>
          <p:cNvPr id="25" name="Freeform 25"/>
          <p:cNvSpPr/>
          <p:nvPr/>
        </p:nvSpPr>
        <p:spPr>
          <a:xfrm>
            <a:off x="17073562" y="6942866"/>
            <a:ext cx="802862" cy="1138811"/>
          </a:xfrm>
          <a:custGeom>
            <a:avLst/>
            <a:gdLst/>
            <a:ahLst/>
            <a:cxnLst/>
            <a:rect l="l" t="t" r="r" b="b"/>
            <a:pathLst>
              <a:path w="802862" h="1138811">
                <a:moveTo>
                  <a:pt x="0" y="0"/>
                </a:moveTo>
                <a:lnTo>
                  <a:pt x="802863" y="0"/>
                </a:lnTo>
                <a:lnTo>
                  <a:pt x="802863" y="1138811"/>
                </a:lnTo>
                <a:lnTo>
                  <a:pt x="0" y="1138811"/>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26" name="Freeform 26"/>
          <p:cNvSpPr/>
          <p:nvPr/>
        </p:nvSpPr>
        <p:spPr>
          <a:xfrm>
            <a:off x="2082826" y="1420668"/>
            <a:ext cx="733955" cy="858427"/>
          </a:xfrm>
          <a:custGeom>
            <a:avLst/>
            <a:gdLst/>
            <a:ahLst/>
            <a:cxnLst/>
            <a:rect l="l" t="t" r="r" b="b"/>
            <a:pathLst>
              <a:path w="733955" h="858427">
                <a:moveTo>
                  <a:pt x="0" y="0"/>
                </a:moveTo>
                <a:lnTo>
                  <a:pt x="733955" y="0"/>
                </a:lnTo>
                <a:lnTo>
                  <a:pt x="733955" y="858426"/>
                </a:lnTo>
                <a:lnTo>
                  <a:pt x="0" y="858426"/>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27" name="TextBox 27"/>
          <p:cNvSpPr txBox="1"/>
          <p:nvPr/>
        </p:nvSpPr>
        <p:spPr>
          <a:xfrm>
            <a:off x="7431214" y="9832934"/>
            <a:ext cx="3929896" cy="306705"/>
          </a:xfrm>
          <a:prstGeom prst="rect">
            <a:avLst/>
          </a:prstGeom>
        </p:spPr>
        <p:txBody>
          <a:bodyPr lIns="0" tIns="0" rIns="0" bIns="0" rtlCol="0" anchor="t">
            <a:spAutoFit/>
          </a:bodyPr>
          <a:lstStyle/>
          <a:p>
            <a:pPr algn="l">
              <a:lnSpc>
                <a:spcPts val="2520"/>
              </a:lnSpc>
            </a:pPr>
            <a:r>
              <a:rPr lang="en-US" sz="1800" spc="127">
                <a:solidFill>
                  <a:srgbClr val="FFFFFF"/>
                </a:solidFill>
                <a:latin typeface="Calistoga"/>
                <a:ea typeface="Calistoga"/>
                <a:cs typeface="Calistoga"/>
                <a:sym typeface="Calistoga"/>
              </a:rPr>
              <a:t>SMART INDIA HACKATHON 2026</a:t>
            </a:r>
          </a:p>
        </p:txBody>
      </p:sp>
      <p:sp>
        <p:nvSpPr>
          <p:cNvPr id="28" name="TextBox 28"/>
          <p:cNvSpPr txBox="1"/>
          <p:nvPr/>
        </p:nvSpPr>
        <p:spPr>
          <a:xfrm>
            <a:off x="17235507" y="9838887"/>
            <a:ext cx="140599" cy="318135"/>
          </a:xfrm>
          <a:prstGeom prst="rect">
            <a:avLst/>
          </a:prstGeom>
        </p:spPr>
        <p:txBody>
          <a:bodyPr lIns="0" tIns="0" rIns="0" bIns="0" rtlCol="0" anchor="t">
            <a:spAutoFit/>
          </a:bodyPr>
          <a:lstStyle/>
          <a:p>
            <a:pPr algn="l">
              <a:lnSpc>
                <a:spcPts val="2520"/>
              </a:lnSpc>
            </a:pPr>
            <a:r>
              <a:rPr lang="en-US" sz="1800">
                <a:solidFill>
                  <a:srgbClr val="FFFFFF"/>
                </a:solidFill>
                <a:latin typeface="Calistoga"/>
                <a:ea typeface="Calistoga"/>
                <a:cs typeface="Calistoga"/>
                <a:sym typeface="Calistoga"/>
              </a:rPr>
              <a:t>5</a:t>
            </a:r>
          </a:p>
        </p:txBody>
      </p:sp>
      <p:sp>
        <p:nvSpPr>
          <p:cNvPr id="29" name="TextBox 29"/>
          <p:cNvSpPr txBox="1"/>
          <p:nvPr/>
        </p:nvSpPr>
        <p:spPr>
          <a:xfrm>
            <a:off x="5905052" y="128759"/>
            <a:ext cx="6607016" cy="688981"/>
          </a:xfrm>
          <a:prstGeom prst="rect">
            <a:avLst/>
          </a:prstGeom>
        </p:spPr>
        <p:txBody>
          <a:bodyPr lIns="0" tIns="0" rIns="0" bIns="0" rtlCol="0" anchor="t">
            <a:spAutoFit/>
          </a:bodyPr>
          <a:lstStyle/>
          <a:p>
            <a:pPr algn="l">
              <a:lnSpc>
                <a:spcPts val="5599"/>
              </a:lnSpc>
            </a:pPr>
            <a:r>
              <a:rPr lang="en-US" sz="3999" b="1">
                <a:solidFill>
                  <a:srgbClr val="000000"/>
                </a:solidFill>
                <a:latin typeface="Georgia Pro Bold"/>
                <a:ea typeface="Georgia Pro Bold"/>
                <a:cs typeface="Georgia Pro Bold"/>
                <a:sym typeface="Georgia Pro Bold"/>
              </a:rPr>
              <a:t>IMPACT AND BENEFITS </a:t>
            </a:r>
          </a:p>
        </p:txBody>
      </p:sp>
      <p:sp>
        <p:nvSpPr>
          <p:cNvPr id="30" name="TextBox 30"/>
          <p:cNvSpPr txBox="1"/>
          <p:nvPr/>
        </p:nvSpPr>
        <p:spPr>
          <a:xfrm>
            <a:off x="5255638" y="4813983"/>
            <a:ext cx="1408052" cy="1261122"/>
          </a:xfrm>
          <a:prstGeom prst="rect">
            <a:avLst/>
          </a:prstGeom>
        </p:spPr>
        <p:txBody>
          <a:bodyPr lIns="0" tIns="0" rIns="0" bIns="0" rtlCol="0" anchor="t">
            <a:spAutoFit/>
          </a:bodyPr>
          <a:lstStyle/>
          <a:p>
            <a:pPr algn="ctr">
              <a:lnSpc>
                <a:spcPts val="2549"/>
              </a:lnSpc>
            </a:pPr>
            <a:r>
              <a:rPr lang="en-US" sz="2149" b="1" spc="47">
                <a:solidFill>
                  <a:srgbClr val="000000"/>
                </a:solidFill>
                <a:latin typeface="Comic Sans Bold"/>
                <a:ea typeface="Comic Sans Bold"/>
                <a:cs typeface="Comic Sans Bold"/>
                <a:sym typeface="Comic Sans Bold"/>
              </a:rPr>
              <a:t>Potential Impact on </a:t>
            </a:r>
            <a:r>
              <a:rPr lang="en-US" sz="2149" b="1" spc="47">
                <a:solidFill>
                  <a:srgbClr val="1800AD"/>
                </a:solidFill>
                <a:latin typeface="Comic Sans Bold"/>
                <a:ea typeface="Comic Sans Bold"/>
                <a:cs typeface="Comic Sans Bold"/>
                <a:sym typeface="Comic Sans Bold"/>
              </a:rPr>
              <a:t>Targeted Audience</a:t>
            </a:r>
          </a:p>
        </p:txBody>
      </p:sp>
      <p:sp>
        <p:nvSpPr>
          <p:cNvPr id="31" name="TextBox 31"/>
          <p:cNvSpPr txBox="1"/>
          <p:nvPr/>
        </p:nvSpPr>
        <p:spPr>
          <a:xfrm>
            <a:off x="4882467" y="3308052"/>
            <a:ext cx="176717" cy="215465"/>
          </a:xfrm>
          <a:prstGeom prst="rect">
            <a:avLst/>
          </a:prstGeom>
        </p:spPr>
        <p:txBody>
          <a:bodyPr lIns="0" tIns="0" rIns="0" bIns="0" rtlCol="0" anchor="t">
            <a:spAutoFit/>
          </a:bodyPr>
          <a:lstStyle/>
          <a:p>
            <a:pPr algn="l">
              <a:lnSpc>
                <a:spcPts val="1703"/>
              </a:lnSpc>
            </a:pPr>
            <a:r>
              <a:rPr lang="en-US" sz="1216" b="1">
                <a:solidFill>
                  <a:srgbClr val="FFFFFF"/>
                </a:solidFill>
                <a:latin typeface="Open Sauce Bold"/>
                <a:ea typeface="Open Sauce Bold"/>
                <a:cs typeface="Open Sauce Bold"/>
                <a:sym typeface="Open Sauce Bold"/>
              </a:rPr>
              <a:t>01</a:t>
            </a:r>
          </a:p>
        </p:txBody>
      </p:sp>
      <p:sp>
        <p:nvSpPr>
          <p:cNvPr id="32" name="TextBox 32"/>
          <p:cNvSpPr txBox="1"/>
          <p:nvPr/>
        </p:nvSpPr>
        <p:spPr>
          <a:xfrm>
            <a:off x="12752632" y="1091670"/>
            <a:ext cx="5067405" cy="603971"/>
          </a:xfrm>
          <a:prstGeom prst="rect">
            <a:avLst/>
          </a:prstGeom>
        </p:spPr>
        <p:txBody>
          <a:bodyPr lIns="0" tIns="0" rIns="0" bIns="0" rtlCol="0" anchor="t">
            <a:spAutoFit/>
          </a:bodyPr>
          <a:lstStyle/>
          <a:p>
            <a:pPr algn="l">
              <a:lnSpc>
                <a:spcPts val="4899"/>
              </a:lnSpc>
            </a:pPr>
            <a:r>
              <a:rPr lang="en-US" sz="3499" b="1" spc="115">
                <a:solidFill>
                  <a:srgbClr val="FFFFFF"/>
                </a:solidFill>
                <a:latin typeface="Caladea Bold"/>
                <a:ea typeface="Caladea Bold"/>
                <a:cs typeface="Caladea Bold"/>
                <a:sym typeface="Caladea Bold"/>
              </a:rPr>
              <a:t>Benefits of the solution</a:t>
            </a:r>
          </a:p>
        </p:txBody>
      </p:sp>
      <p:sp>
        <p:nvSpPr>
          <p:cNvPr id="33" name="TextBox 33"/>
          <p:cNvSpPr txBox="1"/>
          <p:nvPr/>
        </p:nvSpPr>
        <p:spPr>
          <a:xfrm>
            <a:off x="2906697" y="1293637"/>
            <a:ext cx="6774425" cy="1320878"/>
          </a:xfrm>
          <a:prstGeom prst="rect">
            <a:avLst/>
          </a:prstGeom>
        </p:spPr>
        <p:txBody>
          <a:bodyPr lIns="0" tIns="0" rIns="0" bIns="0" rtlCol="0" anchor="t">
            <a:spAutoFit/>
          </a:bodyPr>
          <a:lstStyle/>
          <a:p>
            <a:pPr algn="ctr">
              <a:lnSpc>
                <a:spcPts val="2085"/>
              </a:lnSpc>
            </a:pPr>
            <a:r>
              <a:rPr lang="en-US" sz="1684" b="1">
                <a:solidFill>
                  <a:srgbClr val="1800AD"/>
                </a:solidFill>
                <a:latin typeface="Caladea Bold"/>
                <a:ea typeface="Caladea Bold"/>
                <a:cs typeface="Caladea Bold"/>
                <a:sym typeface="Caladea Bold"/>
              </a:rPr>
              <a:t>Ayurvedic Vaidyas &amp; Traditional Healers</a:t>
            </a:r>
            <a:r>
              <a:rPr lang="en-US" sz="1684" b="1">
                <a:solidFill>
                  <a:srgbClr val="1F497D"/>
                </a:solidFill>
                <a:latin typeface="Caladea Bold"/>
                <a:ea typeface="Caladea Bold"/>
                <a:cs typeface="Caladea Bold"/>
                <a:sym typeface="Caladea Bold"/>
              </a:rPr>
              <a:t>:</a:t>
            </a:r>
          </a:p>
          <a:p>
            <a:pPr algn="ctr">
              <a:lnSpc>
                <a:spcPts val="2085"/>
              </a:lnSpc>
            </a:pPr>
            <a:r>
              <a:rPr lang="en-US" sz="1684">
                <a:solidFill>
                  <a:srgbClr val="000000"/>
                </a:solidFill>
                <a:latin typeface="Caladea"/>
                <a:ea typeface="Caladea"/>
                <a:cs typeface="Caladea"/>
                <a:sym typeface="Caladea"/>
              </a:rPr>
              <a:t>Multilingual Legal Accessibility: Translates complex statutory requirements into regional languages, enabling grassroots healers and small practitioners to protect ancestral knowledge without prohibitive legal expenses.</a:t>
            </a:r>
          </a:p>
          <a:p>
            <a:pPr algn="ctr">
              <a:lnSpc>
                <a:spcPts val="2085"/>
              </a:lnSpc>
            </a:pPr>
            <a:endParaRPr lang="en-US" sz="1684">
              <a:solidFill>
                <a:srgbClr val="000000"/>
              </a:solidFill>
              <a:latin typeface="Caladea"/>
              <a:ea typeface="Caladea"/>
              <a:cs typeface="Caladea"/>
              <a:sym typeface="Caladea"/>
            </a:endParaRPr>
          </a:p>
        </p:txBody>
      </p:sp>
      <p:sp>
        <p:nvSpPr>
          <p:cNvPr id="34" name="TextBox 34"/>
          <p:cNvSpPr txBox="1"/>
          <p:nvPr/>
        </p:nvSpPr>
        <p:spPr>
          <a:xfrm>
            <a:off x="9465697" y="6235713"/>
            <a:ext cx="46758" cy="333651"/>
          </a:xfrm>
          <a:prstGeom prst="rect">
            <a:avLst/>
          </a:prstGeom>
        </p:spPr>
        <p:txBody>
          <a:bodyPr lIns="0" tIns="0" rIns="0" bIns="0" rtlCol="0" anchor="t">
            <a:spAutoFit/>
          </a:bodyPr>
          <a:lstStyle/>
          <a:p>
            <a:pPr algn="l">
              <a:lnSpc>
                <a:spcPts val="2659"/>
              </a:lnSpc>
            </a:pPr>
            <a:r>
              <a:rPr lang="en-US" sz="1899">
                <a:solidFill>
                  <a:srgbClr val="1800AD"/>
                </a:solidFill>
                <a:latin typeface="Calistoga"/>
                <a:ea typeface="Calistoga"/>
                <a:cs typeface="Calistoga"/>
                <a:sym typeface="Calistoga"/>
              </a:rPr>
              <a:t> </a:t>
            </a:r>
          </a:p>
        </p:txBody>
      </p:sp>
      <p:sp>
        <p:nvSpPr>
          <p:cNvPr id="35" name="TextBox 35"/>
          <p:cNvSpPr txBox="1"/>
          <p:nvPr/>
        </p:nvSpPr>
        <p:spPr>
          <a:xfrm>
            <a:off x="10330901" y="3080166"/>
            <a:ext cx="46758" cy="333651"/>
          </a:xfrm>
          <a:prstGeom prst="rect">
            <a:avLst/>
          </a:prstGeom>
        </p:spPr>
        <p:txBody>
          <a:bodyPr lIns="0" tIns="0" rIns="0" bIns="0" rtlCol="0" anchor="t">
            <a:spAutoFit/>
          </a:bodyPr>
          <a:lstStyle/>
          <a:p>
            <a:pPr algn="l">
              <a:lnSpc>
                <a:spcPts val="2659"/>
              </a:lnSpc>
            </a:pPr>
            <a:r>
              <a:rPr lang="en-US" sz="1899">
                <a:solidFill>
                  <a:srgbClr val="1800AD"/>
                </a:solidFill>
                <a:latin typeface="Calistoga"/>
                <a:ea typeface="Calistoga"/>
                <a:cs typeface="Calistoga"/>
                <a:sym typeface="Calistoga"/>
              </a:rPr>
              <a:t> </a:t>
            </a:r>
          </a:p>
        </p:txBody>
      </p:sp>
      <p:sp>
        <p:nvSpPr>
          <p:cNvPr id="36" name="TextBox 36"/>
          <p:cNvSpPr txBox="1"/>
          <p:nvPr/>
        </p:nvSpPr>
        <p:spPr>
          <a:xfrm>
            <a:off x="12075324" y="2224399"/>
            <a:ext cx="3643741" cy="1588938"/>
          </a:xfrm>
          <a:prstGeom prst="rect">
            <a:avLst/>
          </a:prstGeom>
        </p:spPr>
        <p:txBody>
          <a:bodyPr lIns="0" tIns="0" rIns="0" bIns="0" rtlCol="0" anchor="t">
            <a:spAutoFit/>
          </a:bodyPr>
          <a:lstStyle/>
          <a:p>
            <a:pPr algn="ctr">
              <a:lnSpc>
                <a:spcPts val="2083"/>
              </a:lnSpc>
            </a:pPr>
            <a:r>
              <a:rPr lang="en-US" sz="1683" spc="40">
                <a:solidFill>
                  <a:srgbClr val="000000"/>
                </a:solidFill>
                <a:latin typeface="Caladea"/>
                <a:ea typeface="Caladea"/>
                <a:cs typeface="Caladea"/>
                <a:sym typeface="Caladea"/>
              </a:rPr>
              <a:t>Built-in jurisdictional separation prevents cross-country legal conflation, providing verifiable, audit-proof statutory citations (Patents Act, Biodiversity Act, Nagoya Protocol, WIPO Treaties).</a:t>
            </a:r>
          </a:p>
        </p:txBody>
      </p:sp>
      <p:sp>
        <p:nvSpPr>
          <p:cNvPr id="37" name="TextBox 37"/>
          <p:cNvSpPr txBox="1"/>
          <p:nvPr/>
        </p:nvSpPr>
        <p:spPr>
          <a:xfrm>
            <a:off x="16553295" y="8264769"/>
            <a:ext cx="1641360" cy="510461"/>
          </a:xfrm>
          <a:prstGeom prst="rect">
            <a:avLst/>
          </a:prstGeom>
        </p:spPr>
        <p:txBody>
          <a:bodyPr wrap="square" lIns="0" tIns="0" rIns="0" bIns="0" rtlCol="0" anchor="t">
            <a:spAutoFit/>
          </a:bodyPr>
          <a:lstStyle/>
          <a:p>
            <a:pPr algn="l">
              <a:lnSpc>
                <a:spcPts val="4199"/>
              </a:lnSpc>
            </a:pPr>
            <a:r>
              <a:rPr lang="en-US" sz="2999" dirty="0">
                <a:solidFill>
                  <a:srgbClr val="000000"/>
                </a:solidFill>
                <a:latin typeface="Calistoga"/>
                <a:ea typeface="Calistoga"/>
                <a:cs typeface="Calistoga"/>
                <a:sym typeface="Calistoga"/>
              </a:rPr>
              <a:t>Cultural</a:t>
            </a:r>
          </a:p>
        </p:txBody>
      </p:sp>
      <p:sp>
        <p:nvSpPr>
          <p:cNvPr id="38" name="TextBox 38"/>
          <p:cNvSpPr txBox="1"/>
          <p:nvPr/>
        </p:nvSpPr>
        <p:spPr>
          <a:xfrm>
            <a:off x="12163949" y="5681482"/>
            <a:ext cx="1733245" cy="533400"/>
          </a:xfrm>
          <a:prstGeom prst="rect">
            <a:avLst/>
          </a:prstGeom>
        </p:spPr>
        <p:txBody>
          <a:bodyPr lIns="0" tIns="0" rIns="0" bIns="0" rtlCol="0" anchor="t">
            <a:spAutoFit/>
          </a:bodyPr>
          <a:lstStyle/>
          <a:p>
            <a:pPr algn="l">
              <a:lnSpc>
                <a:spcPts val="4200"/>
              </a:lnSpc>
            </a:pPr>
            <a:r>
              <a:rPr lang="en-US" sz="3000">
                <a:solidFill>
                  <a:srgbClr val="000000"/>
                </a:solidFill>
                <a:latin typeface="Calistoga"/>
                <a:ea typeface="Calistoga"/>
                <a:cs typeface="Calistoga"/>
                <a:sym typeface="Calistoga"/>
              </a:rPr>
              <a:t>Economic</a:t>
            </a:r>
          </a:p>
        </p:txBody>
      </p:sp>
      <p:sp>
        <p:nvSpPr>
          <p:cNvPr id="39" name="TextBox 39"/>
          <p:cNvSpPr txBox="1"/>
          <p:nvPr/>
        </p:nvSpPr>
        <p:spPr>
          <a:xfrm>
            <a:off x="1039254" y="9108674"/>
            <a:ext cx="16486746" cy="359970"/>
          </a:xfrm>
          <a:prstGeom prst="rect">
            <a:avLst/>
          </a:prstGeom>
        </p:spPr>
        <p:txBody>
          <a:bodyPr wrap="square" lIns="0" tIns="0" rIns="0" bIns="0" rtlCol="0" anchor="t">
            <a:spAutoFit/>
          </a:bodyPr>
          <a:lstStyle/>
          <a:p>
            <a:pPr algn="ctr">
              <a:lnSpc>
                <a:spcPts val="2991"/>
              </a:lnSpc>
              <a:spcBef>
                <a:spcPct val="0"/>
              </a:spcBef>
            </a:pPr>
            <a:r>
              <a:rPr lang="en-US" sz="2136" spc="49" dirty="0">
                <a:solidFill>
                  <a:srgbClr val="000000"/>
                </a:solidFill>
                <a:latin typeface="Caladea"/>
                <a:ea typeface="Caladea"/>
                <a:cs typeface="Caladea"/>
                <a:sym typeface="Caladea"/>
              </a:rPr>
              <a:t>Democratizing Ayurveda IPR: Protecting ancestral heritage, preventing biopiracy, and accelerating commercialization through verifiable AI.</a:t>
            </a:r>
          </a:p>
        </p:txBody>
      </p:sp>
      <p:sp>
        <p:nvSpPr>
          <p:cNvPr id="40" name="TextBox 40"/>
          <p:cNvSpPr txBox="1"/>
          <p:nvPr/>
        </p:nvSpPr>
        <p:spPr>
          <a:xfrm>
            <a:off x="220896" y="6054950"/>
            <a:ext cx="3407355" cy="2267839"/>
          </a:xfrm>
          <a:prstGeom prst="rect">
            <a:avLst/>
          </a:prstGeom>
        </p:spPr>
        <p:txBody>
          <a:bodyPr lIns="0" tIns="0" rIns="0" bIns="0" rtlCol="0" anchor="t">
            <a:spAutoFit/>
          </a:bodyPr>
          <a:lstStyle/>
          <a:p>
            <a:pPr algn="ctr">
              <a:lnSpc>
                <a:spcPts val="2575"/>
              </a:lnSpc>
              <a:spcBef>
                <a:spcPct val="0"/>
              </a:spcBef>
            </a:pPr>
            <a:r>
              <a:rPr lang="en-US" sz="1839" b="1" spc="42">
                <a:solidFill>
                  <a:srgbClr val="1800AD"/>
                </a:solidFill>
                <a:latin typeface="Caladea Bold"/>
                <a:ea typeface="Caladea Bold"/>
                <a:cs typeface="Caladea Bold"/>
                <a:sym typeface="Caladea Bold"/>
              </a:rPr>
              <a:t>Nation &amp; Indigenous Communities:</a:t>
            </a:r>
          </a:p>
          <a:p>
            <a:pPr algn="ctr">
              <a:lnSpc>
                <a:spcPts val="2575"/>
              </a:lnSpc>
              <a:spcBef>
                <a:spcPct val="0"/>
              </a:spcBef>
            </a:pPr>
            <a:r>
              <a:rPr lang="en-US" sz="1839" spc="42">
                <a:solidFill>
                  <a:srgbClr val="000000"/>
                </a:solidFill>
                <a:latin typeface="Caladea"/>
                <a:ea typeface="Caladea"/>
                <a:cs typeface="Caladea"/>
                <a:sym typeface="Caladea"/>
              </a:rPr>
              <a:t>Secures India's bio-heritage against global biopiracy while fostering an innovation ecosystem for authentic Ayurvedic exports.</a:t>
            </a:r>
          </a:p>
        </p:txBody>
      </p:sp>
      <p:sp>
        <p:nvSpPr>
          <p:cNvPr id="41" name="TextBox 41"/>
          <p:cNvSpPr txBox="1"/>
          <p:nvPr/>
        </p:nvSpPr>
        <p:spPr>
          <a:xfrm>
            <a:off x="8133521" y="6226188"/>
            <a:ext cx="3227589" cy="1749269"/>
          </a:xfrm>
          <a:prstGeom prst="rect">
            <a:avLst/>
          </a:prstGeom>
        </p:spPr>
        <p:txBody>
          <a:bodyPr lIns="0" tIns="0" rIns="0" bIns="0" rtlCol="0" anchor="t">
            <a:spAutoFit/>
          </a:bodyPr>
          <a:lstStyle/>
          <a:p>
            <a:pPr algn="ctr">
              <a:lnSpc>
                <a:spcPts val="2318"/>
              </a:lnSpc>
              <a:spcBef>
                <a:spcPct val="0"/>
              </a:spcBef>
            </a:pPr>
            <a:r>
              <a:rPr lang="en-US" sz="1656" b="1" spc="38">
                <a:solidFill>
                  <a:srgbClr val="1800AD"/>
                </a:solidFill>
                <a:latin typeface="Caladea Bold"/>
                <a:ea typeface="Caladea Bold"/>
                <a:cs typeface="Caladea Bold"/>
                <a:sym typeface="Caladea Bold"/>
              </a:rPr>
              <a:t>AYUSH Researchers &amp; Startups:</a:t>
            </a:r>
          </a:p>
          <a:p>
            <a:pPr algn="ctr">
              <a:lnSpc>
                <a:spcPts val="2318"/>
              </a:lnSpc>
              <a:spcBef>
                <a:spcPct val="0"/>
              </a:spcBef>
            </a:pPr>
            <a:r>
              <a:rPr lang="en-US" sz="1656" spc="38">
                <a:solidFill>
                  <a:srgbClr val="000000"/>
                </a:solidFill>
                <a:latin typeface="Caladea"/>
                <a:ea typeface="Caladea"/>
                <a:cs typeface="Caladea"/>
                <a:sym typeface="Caladea"/>
              </a:rPr>
              <a:t>Delivers instant patentability and prior-art assessments against TKDL and international databases, slashing regulatory clearance timelines from months to days.</a:t>
            </a:r>
          </a:p>
        </p:txBody>
      </p:sp>
      <p:sp>
        <p:nvSpPr>
          <p:cNvPr id="42" name="TextBox 42"/>
          <p:cNvSpPr txBox="1"/>
          <p:nvPr/>
        </p:nvSpPr>
        <p:spPr>
          <a:xfrm>
            <a:off x="8192095" y="3052312"/>
            <a:ext cx="3267942" cy="1645449"/>
          </a:xfrm>
          <a:prstGeom prst="rect">
            <a:avLst/>
          </a:prstGeom>
        </p:spPr>
        <p:txBody>
          <a:bodyPr lIns="0" tIns="0" rIns="0" bIns="0" rtlCol="0" anchor="t">
            <a:spAutoFit/>
          </a:bodyPr>
          <a:lstStyle/>
          <a:p>
            <a:pPr algn="ctr">
              <a:lnSpc>
                <a:spcPts val="2436"/>
              </a:lnSpc>
              <a:spcBef>
                <a:spcPct val="0"/>
              </a:spcBef>
            </a:pPr>
            <a:r>
              <a:rPr lang="en-US" sz="1740" b="1" spc="40">
                <a:solidFill>
                  <a:srgbClr val="1800AD"/>
                </a:solidFill>
                <a:latin typeface="Caladea Bold"/>
                <a:ea typeface="Caladea Bold"/>
                <a:cs typeface="Caladea Bold"/>
                <a:sym typeface="Caladea Bold"/>
              </a:rPr>
              <a:t>   IP Attorneys &amp; Patent Examiners (IPO/WIPO):</a:t>
            </a:r>
          </a:p>
          <a:p>
            <a:pPr algn="ctr">
              <a:lnSpc>
                <a:spcPts val="2025"/>
              </a:lnSpc>
              <a:spcBef>
                <a:spcPct val="0"/>
              </a:spcBef>
            </a:pPr>
            <a:r>
              <a:rPr lang="en-US" sz="1446" spc="33">
                <a:solidFill>
                  <a:srgbClr val="000000"/>
                </a:solidFill>
                <a:latin typeface="Caladea"/>
                <a:ea typeface="Caladea"/>
                <a:cs typeface="Caladea"/>
                <a:sym typeface="Caladea"/>
              </a:rPr>
              <a:t>Provides pinpoint citations to specific sections, rules, and gazettes, streamlining novelty checks under Section 3(p) and international patent standards.</a:t>
            </a:r>
          </a:p>
        </p:txBody>
      </p:sp>
      <p:sp>
        <p:nvSpPr>
          <p:cNvPr id="43" name="TextBox 43"/>
          <p:cNvSpPr txBox="1"/>
          <p:nvPr/>
        </p:nvSpPr>
        <p:spPr>
          <a:xfrm>
            <a:off x="54249" y="3059461"/>
            <a:ext cx="3740649" cy="1652464"/>
          </a:xfrm>
          <a:prstGeom prst="rect">
            <a:avLst/>
          </a:prstGeom>
        </p:spPr>
        <p:txBody>
          <a:bodyPr lIns="0" tIns="0" rIns="0" bIns="0" rtlCol="0" anchor="t">
            <a:spAutoFit/>
          </a:bodyPr>
          <a:lstStyle/>
          <a:p>
            <a:pPr algn="ctr">
              <a:lnSpc>
                <a:spcPts val="2225"/>
              </a:lnSpc>
              <a:spcBef>
                <a:spcPct val="0"/>
              </a:spcBef>
            </a:pPr>
            <a:r>
              <a:rPr lang="en-US" sz="1589" b="1" spc="36">
                <a:solidFill>
                  <a:srgbClr val="1800AD"/>
                </a:solidFill>
                <a:latin typeface="Caladea Bold"/>
                <a:ea typeface="Caladea Bold"/>
                <a:cs typeface="Caladea Bold"/>
                <a:sym typeface="Caladea Bold"/>
              </a:rPr>
              <a:t>Ministry of Ayush &amp;</a:t>
            </a:r>
          </a:p>
          <a:p>
            <a:pPr algn="ctr">
              <a:lnSpc>
                <a:spcPts val="2225"/>
              </a:lnSpc>
              <a:spcBef>
                <a:spcPct val="0"/>
              </a:spcBef>
            </a:pPr>
            <a:r>
              <a:rPr lang="en-US" sz="1589" b="1" spc="36">
                <a:solidFill>
                  <a:srgbClr val="1800AD"/>
                </a:solidFill>
                <a:latin typeface="Caladea Bold"/>
                <a:ea typeface="Caladea Bold"/>
                <a:cs typeface="Caladea Bold"/>
                <a:sym typeface="Caladea Bold"/>
              </a:rPr>
              <a:t> Regulators:</a:t>
            </a:r>
          </a:p>
          <a:p>
            <a:pPr algn="ctr">
              <a:lnSpc>
                <a:spcPts val="2225"/>
              </a:lnSpc>
              <a:spcBef>
                <a:spcPct val="0"/>
              </a:spcBef>
            </a:pPr>
            <a:r>
              <a:rPr lang="en-US" sz="1589" spc="36">
                <a:solidFill>
                  <a:srgbClr val="000000"/>
                </a:solidFill>
                <a:latin typeface="Caladea"/>
                <a:ea typeface="Caladea"/>
                <a:cs typeface="Caladea"/>
                <a:sym typeface="Caladea"/>
              </a:rPr>
              <a:t>Tracks emerging IPR filings, monitors compliance with Biodiversity Acts, and prevents unlawful monopolization of classical formulations.</a:t>
            </a:r>
          </a:p>
        </p:txBody>
      </p:sp>
      <p:sp>
        <p:nvSpPr>
          <p:cNvPr id="44" name="TextBox 44"/>
          <p:cNvSpPr txBox="1"/>
          <p:nvPr/>
        </p:nvSpPr>
        <p:spPr>
          <a:xfrm>
            <a:off x="14304396" y="4523670"/>
            <a:ext cx="3665981" cy="1567477"/>
          </a:xfrm>
          <a:prstGeom prst="rect">
            <a:avLst/>
          </a:prstGeom>
        </p:spPr>
        <p:txBody>
          <a:bodyPr lIns="0" tIns="0" rIns="0" bIns="0" rtlCol="0" anchor="t">
            <a:spAutoFit/>
          </a:bodyPr>
          <a:lstStyle/>
          <a:p>
            <a:pPr algn="ctr">
              <a:lnSpc>
                <a:spcPts val="2474"/>
              </a:lnSpc>
              <a:spcBef>
                <a:spcPct val="0"/>
              </a:spcBef>
            </a:pPr>
            <a:r>
              <a:rPr lang="en-US" sz="1767" spc="40">
                <a:solidFill>
                  <a:srgbClr val="000000"/>
                </a:solidFill>
                <a:latin typeface="Caladea"/>
                <a:ea typeface="Caladea"/>
                <a:cs typeface="Caladea"/>
                <a:sym typeface="Caladea"/>
              </a:rPr>
              <a:t>Cuts patent drafting and prior-art search costs by up to 70% for MSMEs, encouraging commercialization of novel herbal formulations and increasing global market share.</a:t>
            </a:r>
          </a:p>
        </p:txBody>
      </p:sp>
      <p:sp>
        <p:nvSpPr>
          <p:cNvPr id="45" name="TextBox 45"/>
          <p:cNvSpPr txBox="1"/>
          <p:nvPr/>
        </p:nvSpPr>
        <p:spPr>
          <a:xfrm>
            <a:off x="12163949" y="6776857"/>
            <a:ext cx="3420456" cy="1888018"/>
          </a:xfrm>
          <a:prstGeom prst="rect">
            <a:avLst/>
          </a:prstGeom>
        </p:spPr>
        <p:txBody>
          <a:bodyPr lIns="0" tIns="0" rIns="0" bIns="0" rtlCol="0" anchor="t">
            <a:spAutoFit/>
          </a:bodyPr>
          <a:lstStyle/>
          <a:p>
            <a:pPr algn="ctr">
              <a:lnSpc>
                <a:spcPts val="2511"/>
              </a:lnSpc>
              <a:spcBef>
                <a:spcPct val="0"/>
              </a:spcBef>
            </a:pPr>
            <a:r>
              <a:rPr lang="en-US" sz="1793" spc="41">
                <a:solidFill>
                  <a:srgbClr val="000000"/>
                </a:solidFill>
                <a:latin typeface="Caladea"/>
                <a:ea typeface="Caladea"/>
                <a:cs typeface="Caladea"/>
                <a:sym typeface="Caladea"/>
              </a:rPr>
              <a:t>Preserves codified traditional knowledge and prevents unauthorized biopiracy abroad through proactive TKDL alignment and automated patent surveillance.</a:t>
            </a:r>
          </a:p>
        </p:txBody>
      </p:sp>
      <p:grpSp>
        <p:nvGrpSpPr>
          <p:cNvPr id="46" name="Group 46"/>
          <p:cNvGrpSpPr/>
          <p:nvPr/>
        </p:nvGrpSpPr>
        <p:grpSpPr>
          <a:xfrm>
            <a:off x="15508833" y="-38938"/>
            <a:ext cx="2712939" cy="1280998"/>
            <a:chOff x="0" y="0"/>
            <a:chExt cx="4499699" cy="2124672"/>
          </a:xfrm>
        </p:grpSpPr>
        <p:sp>
          <p:nvSpPr>
            <p:cNvPr id="47" name="Freeform 47"/>
            <p:cNvSpPr/>
            <p:nvPr/>
          </p:nvSpPr>
          <p:spPr>
            <a:xfrm>
              <a:off x="0" y="0"/>
              <a:ext cx="4499737" cy="2124710"/>
            </a:xfrm>
            <a:custGeom>
              <a:avLst/>
              <a:gdLst/>
              <a:ahLst/>
              <a:cxnLst/>
              <a:rect l="l" t="t" r="r" b="b"/>
              <a:pathLst>
                <a:path w="4499737" h="2124710">
                  <a:moveTo>
                    <a:pt x="0" y="0"/>
                  </a:moveTo>
                  <a:lnTo>
                    <a:pt x="4499737" y="0"/>
                  </a:lnTo>
                  <a:lnTo>
                    <a:pt x="4499737" y="2124710"/>
                  </a:lnTo>
                  <a:lnTo>
                    <a:pt x="0" y="2124710"/>
                  </a:lnTo>
                  <a:lnTo>
                    <a:pt x="0" y="0"/>
                  </a:lnTo>
                  <a:close/>
                </a:path>
              </a:pathLst>
            </a:custGeom>
            <a:blipFill>
              <a:blip r:embed="rId12"/>
              <a:stretch>
                <a:fillRect b="1"/>
              </a:stretch>
            </a:blipFill>
          </p:spPr>
        </p:sp>
      </p:grpSp>
      <p:sp>
        <p:nvSpPr>
          <p:cNvPr id="48" name="Freeform 48"/>
          <p:cNvSpPr/>
          <p:nvPr/>
        </p:nvSpPr>
        <p:spPr>
          <a:xfrm>
            <a:off x="581480" y="97150"/>
            <a:ext cx="562668" cy="716360"/>
          </a:xfrm>
          <a:custGeom>
            <a:avLst/>
            <a:gdLst/>
            <a:ahLst/>
            <a:cxnLst/>
            <a:rect l="l" t="t" r="r" b="b"/>
            <a:pathLst>
              <a:path w="562668" h="716360">
                <a:moveTo>
                  <a:pt x="0" y="0"/>
                </a:moveTo>
                <a:lnTo>
                  <a:pt x="562668" y="0"/>
                </a:lnTo>
                <a:lnTo>
                  <a:pt x="562668" y="716361"/>
                </a:lnTo>
                <a:lnTo>
                  <a:pt x="0" y="716361"/>
                </a:lnTo>
                <a:lnTo>
                  <a:pt x="0" y="0"/>
                </a:lnTo>
                <a:close/>
              </a:path>
            </a:pathLst>
          </a:custGeom>
          <a:blipFill>
            <a:blip r:embed="rId13"/>
            <a:stretch>
              <a:fillRect t="-837" r="-164092"/>
            </a:stretch>
          </a:blipFill>
        </p:spPr>
      </p:sp>
      <p:sp>
        <p:nvSpPr>
          <p:cNvPr id="49" name="TextBox 49"/>
          <p:cNvSpPr txBox="1"/>
          <p:nvPr/>
        </p:nvSpPr>
        <p:spPr>
          <a:xfrm>
            <a:off x="23125" y="754647"/>
            <a:ext cx="1881875" cy="250261"/>
          </a:xfrm>
          <a:prstGeom prst="rect">
            <a:avLst/>
          </a:prstGeom>
        </p:spPr>
        <p:txBody>
          <a:bodyPr wrap="square" lIns="0" tIns="0" rIns="0" bIns="0" rtlCol="0" anchor="t">
            <a:spAutoFit/>
          </a:bodyPr>
          <a:lstStyle/>
          <a:p>
            <a:pPr algn="ctr">
              <a:lnSpc>
                <a:spcPts val="2100"/>
              </a:lnSpc>
            </a:pPr>
            <a:r>
              <a:rPr lang="en-US" sz="1500" i="1">
                <a:solidFill>
                  <a:srgbClr val="000000"/>
                </a:solidFill>
                <a:latin typeface="Comic Sans Italics"/>
                <a:ea typeface="Comic Sans Italics"/>
                <a:cs typeface="Comic Sans Italics"/>
                <a:sym typeface="Comic Sans Italics"/>
              </a:rPr>
              <a:t>HALLUCINATORS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713119"/>
            <a:ext cx="18287914" cy="573881"/>
            <a:chOff x="0" y="0"/>
            <a:chExt cx="18287911" cy="573875"/>
          </a:xfrm>
        </p:grpSpPr>
        <p:sp>
          <p:nvSpPr>
            <p:cNvPr id="3" name="Freeform 3"/>
            <p:cNvSpPr/>
            <p:nvPr/>
          </p:nvSpPr>
          <p:spPr>
            <a:xfrm>
              <a:off x="0" y="0"/>
              <a:ext cx="18287874" cy="573909"/>
            </a:xfrm>
            <a:custGeom>
              <a:avLst/>
              <a:gdLst/>
              <a:ahLst/>
              <a:cxnLst/>
              <a:rect l="l" t="t" r="r" b="b"/>
              <a:pathLst>
                <a:path w="18287874" h="573909">
                  <a:moveTo>
                    <a:pt x="0" y="0"/>
                  </a:moveTo>
                  <a:lnTo>
                    <a:pt x="0" y="573909"/>
                  </a:lnTo>
                  <a:lnTo>
                    <a:pt x="18287874" y="573909"/>
                  </a:lnTo>
                  <a:lnTo>
                    <a:pt x="18287874" y="0"/>
                  </a:lnTo>
                  <a:close/>
                </a:path>
              </a:pathLst>
            </a:custGeom>
            <a:solidFill>
              <a:srgbClr val="0070C0"/>
            </a:solidFill>
          </p:spPr>
        </p:sp>
      </p:grpSp>
      <p:grpSp>
        <p:nvGrpSpPr>
          <p:cNvPr id="4" name="Group 4"/>
          <p:cNvGrpSpPr/>
          <p:nvPr/>
        </p:nvGrpSpPr>
        <p:grpSpPr>
          <a:xfrm>
            <a:off x="0" y="9713119"/>
            <a:ext cx="18288000" cy="573881"/>
            <a:chOff x="0" y="0"/>
            <a:chExt cx="18288000" cy="573875"/>
          </a:xfrm>
        </p:grpSpPr>
        <p:sp>
          <p:nvSpPr>
            <p:cNvPr id="5" name="Freeform 5"/>
            <p:cNvSpPr/>
            <p:nvPr/>
          </p:nvSpPr>
          <p:spPr>
            <a:xfrm>
              <a:off x="0" y="0"/>
              <a:ext cx="18288002" cy="573909"/>
            </a:xfrm>
            <a:custGeom>
              <a:avLst/>
              <a:gdLst/>
              <a:ahLst/>
              <a:cxnLst/>
              <a:rect l="l" t="t" r="r" b="b"/>
              <a:pathLst>
                <a:path w="18288002" h="573909">
                  <a:moveTo>
                    <a:pt x="0" y="573909"/>
                  </a:moveTo>
                  <a:lnTo>
                    <a:pt x="18288002" y="573909"/>
                  </a:lnTo>
                  <a:lnTo>
                    <a:pt x="18288002" y="0"/>
                  </a:lnTo>
                  <a:lnTo>
                    <a:pt x="0" y="0"/>
                  </a:lnTo>
                  <a:close/>
                </a:path>
              </a:pathLst>
            </a:custGeom>
            <a:solidFill>
              <a:srgbClr val="3D2500"/>
            </a:solidFill>
          </p:spPr>
        </p:sp>
      </p:grpSp>
      <p:sp>
        <p:nvSpPr>
          <p:cNvPr id="6" name="TextBox 6"/>
          <p:cNvSpPr txBox="1"/>
          <p:nvPr/>
        </p:nvSpPr>
        <p:spPr>
          <a:xfrm>
            <a:off x="7431214" y="9832934"/>
            <a:ext cx="3929896" cy="306705"/>
          </a:xfrm>
          <a:prstGeom prst="rect">
            <a:avLst/>
          </a:prstGeom>
        </p:spPr>
        <p:txBody>
          <a:bodyPr lIns="0" tIns="0" rIns="0" bIns="0" rtlCol="0" anchor="t">
            <a:spAutoFit/>
          </a:bodyPr>
          <a:lstStyle/>
          <a:p>
            <a:pPr algn="l">
              <a:lnSpc>
                <a:spcPts val="2520"/>
              </a:lnSpc>
            </a:pPr>
            <a:r>
              <a:rPr lang="en-US" sz="1800" spc="127">
                <a:solidFill>
                  <a:srgbClr val="FFFFFF"/>
                </a:solidFill>
                <a:latin typeface="Calistoga"/>
                <a:ea typeface="Calistoga"/>
                <a:cs typeface="Calistoga"/>
                <a:sym typeface="Calistoga"/>
              </a:rPr>
              <a:t>SMART INDIA HACKATHON 2026</a:t>
            </a:r>
          </a:p>
        </p:txBody>
      </p:sp>
      <p:sp>
        <p:nvSpPr>
          <p:cNvPr id="7" name="TextBox 7"/>
          <p:cNvSpPr txBox="1"/>
          <p:nvPr/>
        </p:nvSpPr>
        <p:spPr>
          <a:xfrm>
            <a:off x="17228210" y="9838887"/>
            <a:ext cx="148066" cy="318135"/>
          </a:xfrm>
          <a:prstGeom prst="rect">
            <a:avLst/>
          </a:prstGeom>
        </p:spPr>
        <p:txBody>
          <a:bodyPr lIns="0" tIns="0" rIns="0" bIns="0" rtlCol="0" anchor="t">
            <a:spAutoFit/>
          </a:bodyPr>
          <a:lstStyle/>
          <a:p>
            <a:pPr algn="l">
              <a:lnSpc>
                <a:spcPts val="2520"/>
              </a:lnSpc>
            </a:pPr>
            <a:r>
              <a:rPr lang="en-US" sz="1800">
                <a:solidFill>
                  <a:srgbClr val="FFFFFF"/>
                </a:solidFill>
                <a:latin typeface="Calistoga"/>
                <a:ea typeface="Calistoga"/>
                <a:cs typeface="Calistoga"/>
                <a:sym typeface="Calistoga"/>
              </a:rPr>
              <a:t>6</a:t>
            </a:r>
          </a:p>
        </p:txBody>
      </p:sp>
      <p:sp>
        <p:nvSpPr>
          <p:cNvPr id="8" name="TextBox 8"/>
          <p:cNvSpPr txBox="1"/>
          <p:nvPr/>
        </p:nvSpPr>
        <p:spPr>
          <a:xfrm>
            <a:off x="4988566" y="128759"/>
            <a:ext cx="9032234" cy="657359"/>
          </a:xfrm>
          <a:prstGeom prst="rect">
            <a:avLst/>
          </a:prstGeom>
        </p:spPr>
        <p:txBody>
          <a:bodyPr wrap="square" lIns="0" tIns="0" rIns="0" bIns="0" rtlCol="0" anchor="t">
            <a:spAutoFit/>
          </a:bodyPr>
          <a:lstStyle/>
          <a:p>
            <a:pPr algn="l">
              <a:lnSpc>
                <a:spcPts val="5599"/>
              </a:lnSpc>
            </a:pPr>
            <a:r>
              <a:rPr lang="en-US" sz="3999" b="1" dirty="0">
                <a:solidFill>
                  <a:srgbClr val="000000"/>
                </a:solidFill>
                <a:latin typeface="Georgia Pro Bold"/>
                <a:ea typeface="Georgia Pro Bold"/>
                <a:cs typeface="Georgia Pro Bold"/>
                <a:sym typeface="Georgia Pro Bold"/>
              </a:rPr>
              <a:t>RESEARCH AND REFERENCES</a:t>
            </a:r>
          </a:p>
        </p:txBody>
      </p:sp>
      <p:sp>
        <p:nvSpPr>
          <p:cNvPr id="9" name="TextBox 9"/>
          <p:cNvSpPr txBox="1"/>
          <p:nvPr/>
        </p:nvSpPr>
        <p:spPr>
          <a:xfrm>
            <a:off x="418681" y="3611343"/>
            <a:ext cx="6218025" cy="487690"/>
          </a:xfrm>
          <a:prstGeom prst="rect">
            <a:avLst/>
          </a:prstGeom>
        </p:spPr>
        <p:txBody>
          <a:bodyPr lIns="0" tIns="0" rIns="0" bIns="0" rtlCol="0" anchor="t">
            <a:spAutoFit/>
          </a:bodyPr>
          <a:lstStyle/>
          <a:p>
            <a:pPr algn="l">
              <a:lnSpc>
                <a:spcPts val="3919"/>
              </a:lnSpc>
            </a:pPr>
            <a:r>
              <a:rPr lang="en-US" sz="2799" b="1">
                <a:solidFill>
                  <a:srgbClr val="1800AD"/>
                </a:solidFill>
                <a:latin typeface="Georgia Pro Bold"/>
                <a:ea typeface="Georgia Pro Bold"/>
                <a:cs typeface="Georgia Pro Bold"/>
                <a:sym typeface="Georgia Pro Bold"/>
              </a:rPr>
              <a:t>Academic &amp; Government Sources</a:t>
            </a:r>
          </a:p>
        </p:txBody>
      </p:sp>
      <p:sp>
        <p:nvSpPr>
          <p:cNvPr id="10" name="TextBox 10"/>
          <p:cNvSpPr txBox="1"/>
          <p:nvPr/>
        </p:nvSpPr>
        <p:spPr>
          <a:xfrm>
            <a:off x="1212380" y="1309154"/>
            <a:ext cx="78943" cy="408527"/>
          </a:xfrm>
          <a:prstGeom prst="rect">
            <a:avLst/>
          </a:prstGeom>
        </p:spPr>
        <p:txBody>
          <a:bodyPr lIns="0" tIns="0" rIns="0" bIns="0" rtlCol="0" anchor="t">
            <a:spAutoFit/>
          </a:bodyPr>
          <a:lstStyle/>
          <a:p>
            <a:pPr algn="l">
              <a:lnSpc>
                <a:spcPts val="3359"/>
              </a:lnSpc>
            </a:pPr>
            <a:r>
              <a:rPr lang="en-US" sz="2400" b="1">
                <a:solidFill>
                  <a:srgbClr val="1800AD"/>
                </a:solidFill>
                <a:latin typeface="Georgia Pro Bold"/>
                <a:ea typeface="Georgia Pro Bold"/>
                <a:cs typeface="Georgia Pro Bold"/>
                <a:sym typeface="Georgia Pro Bold"/>
              </a:rPr>
              <a:t> </a:t>
            </a:r>
          </a:p>
        </p:txBody>
      </p:sp>
      <p:sp>
        <p:nvSpPr>
          <p:cNvPr id="11" name="TextBox 11"/>
          <p:cNvSpPr txBox="1"/>
          <p:nvPr/>
        </p:nvSpPr>
        <p:spPr>
          <a:xfrm>
            <a:off x="873713" y="1673125"/>
            <a:ext cx="17414202" cy="2349759"/>
          </a:xfrm>
          <a:prstGeom prst="rect">
            <a:avLst/>
          </a:prstGeom>
        </p:spPr>
        <p:txBody>
          <a:bodyPr lIns="0" tIns="0" rIns="0" bIns="0" rtlCol="0" anchor="t">
            <a:spAutoFit/>
          </a:bodyPr>
          <a:lstStyle/>
          <a:p>
            <a:pPr algn="l">
              <a:lnSpc>
                <a:spcPts val="3760"/>
              </a:lnSpc>
            </a:pPr>
            <a:r>
              <a:rPr lang="en-US" sz="2240" b="1" spc="51">
                <a:solidFill>
                  <a:srgbClr val="000000"/>
                </a:solidFill>
                <a:latin typeface="Caladea Bold"/>
                <a:ea typeface="Caladea Bold"/>
                <a:cs typeface="Caladea Bold"/>
                <a:sym typeface="Caladea Bold"/>
              </a:rPr>
              <a:t>Practitioner &amp; Legal Field Analysis</a:t>
            </a:r>
            <a:r>
              <a:rPr lang="en-US" sz="2240" spc="51">
                <a:solidFill>
                  <a:srgbClr val="000000"/>
                </a:solidFill>
                <a:latin typeface="Caladea"/>
                <a:ea typeface="Caladea"/>
                <a:cs typeface="Caladea"/>
                <a:sym typeface="Caladea"/>
              </a:rPr>
              <a:t>: Consulted Ayurvedic practitioners, IP attorneys, and regulatory specialists to map friction points in patent filings under Indian Patents Act Sec 3(p) (TK bar), Sec 3(e) (synergy bar), and NBA approval workflows.</a:t>
            </a:r>
          </a:p>
          <a:p>
            <a:pPr algn="l">
              <a:lnSpc>
                <a:spcPts val="3760"/>
              </a:lnSpc>
            </a:pPr>
            <a:r>
              <a:rPr lang="en-US" sz="2240" b="1" spc="51">
                <a:solidFill>
                  <a:srgbClr val="000000"/>
                </a:solidFill>
                <a:latin typeface="Caladea Bold"/>
                <a:ea typeface="Caladea Bold"/>
                <a:cs typeface="Caladea Bold"/>
                <a:sym typeface="Caladea Bold"/>
              </a:rPr>
              <a:t>Multi-RAG Evidence Indexing:</a:t>
            </a:r>
            <a:r>
              <a:rPr lang="en-US" sz="2240" spc="51">
                <a:solidFill>
                  <a:srgbClr val="000000"/>
                </a:solidFill>
                <a:latin typeface="Caladea"/>
                <a:ea typeface="Caladea"/>
                <a:cs typeface="Caladea"/>
                <a:sym typeface="Caladea"/>
              </a:rPr>
              <a:t> Built and vector-indexed a curated corpus of 2,500+ statutory legal chunks alongside TKDL (Traditional Knowledge Digital Library) classifications, classical Samhita formulations (Charaka, Sushruta, Vagbhata), and botanical prior-art datasets.</a:t>
            </a:r>
          </a:p>
          <a:p>
            <a:pPr algn="l">
              <a:lnSpc>
                <a:spcPts val="3760"/>
              </a:lnSpc>
            </a:pPr>
            <a:endParaRPr lang="en-US" sz="2240" spc="51">
              <a:solidFill>
                <a:srgbClr val="000000"/>
              </a:solidFill>
              <a:latin typeface="Caladea"/>
              <a:ea typeface="Caladea"/>
              <a:cs typeface="Caladea"/>
              <a:sym typeface="Caladea"/>
            </a:endParaRPr>
          </a:p>
        </p:txBody>
      </p:sp>
      <p:sp>
        <p:nvSpPr>
          <p:cNvPr id="12" name="TextBox 12"/>
          <p:cNvSpPr txBox="1"/>
          <p:nvPr/>
        </p:nvSpPr>
        <p:spPr>
          <a:xfrm>
            <a:off x="418681" y="1309154"/>
            <a:ext cx="4026922" cy="408527"/>
          </a:xfrm>
          <a:prstGeom prst="rect">
            <a:avLst/>
          </a:prstGeom>
        </p:spPr>
        <p:txBody>
          <a:bodyPr lIns="0" tIns="0" rIns="0" bIns="0" rtlCol="0" anchor="t">
            <a:spAutoFit/>
          </a:bodyPr>
          <a:lstStyle/>
          <a:p>
            <a:pPr algn="l">
              <a:lnSpc>
                <a:spcPts val="3359"/>
              </a:lnSpc>
            </a:pPr>
            <a:r>
              <a:rPr lang="en-US" sz="2400" b="1">
                <a:solidFill>
                  <a:srgbClr val="1800AD"/>
                </a:solidFill>
                <a:latin typeface="Georgia Pro Bold"/>
                <a:ea typeface="Georgia Pro Bold"/>
                <a:cs typeface="Georgia Pro Bold"/>
                <a:sym typeface="Georgia Pro Bold"/>
              </a:rPr>
              <a:t>Field</a:t>
            </a:r>
            <a:r>
              <a:rPr lang="en-US" sz="2400" b="1">
                <a:solidFill>
                  <a:srgbClr val="FFFFFF"/>
                </a:solidFill>
                <a:latin typeface="Georgia Pro Bold"/>
                <a:ea typeface="Georgia Pro Bold"/>
                <a:cs typeface="Georgia Pro Bold"/>
                <a:sym typeface="Georgia Pro Bold"/>
              </a:rPr>
              <a:t> </a:t>
            </a:r>
            <a:r>
              <a:rPr lang="en-US" sz="2400" b="1">
                <a:solidFill>
                  <a:srgbClr val="1800AD"/>
                </a:solidFill>
                <a:latin typeface="Georgia Pro Bold"/>
                <a:ea typeface="Georgia Pro Bold"/>
                <a:cs typeface="Georgia Pro Bold"/>
                <a:sym typeface="Georgia Pro Bold"/>
              </a:rPr>
              <a:t>&amp;</a:t>
            </a:r>
            <a:r>
              <a:rPr lang="en-US" sz="2400" b="1">
                <a:solidFill>
                  <a:srgbClr val="FFFFFF"/>
                </a:solidFill>
                <a:latin typeface="Georgia Pro Bold"/>
                <a:ea typeface="Georgia Pro Bold"/>
                <a:cs typeface="Georgia Pro Bold"/>
                <a:sym typeface="Georgia Pro Bold"/>
              </a:rPr>
              <a:t> </a:t>
            </a:r>
            <a:r>
              <a:rPr lang="en-US" sz="2400" b="1">
                <a:solidFill>
                  <a:srgbClr val="1800AD"/>
                </a:solidFill>
                <a:latin typeface="Georgia Pro Bold"/>
                <a:ea typeface="Georgia Pro Bold"/>
                <a:cs typeface="Georgia Pro Bold"/>
                <a:sym typeface="Georgia Pro Bold"/>
              </a:rPr>
              <a:t>Applied</a:t>
            </a:r>
            <a:r>
              <a:rPr lang="en-US" sz="2400" b="1">
                <a:solidFill>
                  <a:srgbClr val="FFFFFF"/>
                </a:solidFill>
                <a:latin typeface="Georgia Pro Bold"/>
                <a:ea typeface="Georgia Pro Bold"/>
                <a:cs typeface="Georgia Pro Bold"/>
                <a:sym typeface="Georgia Pro Bold"/>
              </a:rPr>
              <a:t> </a:t>
            </a:r>
            <a:r>
              <a:rPr lang="en-US" sz="2400" b="1">
                <a:solidFill>
                  <a:srgbClr val="1800AD"/>
                </a:solidFill>
                <a:latin typeface="Georgia Pro Bold"/>
                <a:ea typeface="Georgia Pro Bold"/>
                <a:cs typeface="Georgia Pro Bold"/>
                <a:sym typeface="Georgia Pro Bold"/>
              </a:rPr>
              <a:t>Research</a:t>
            </a:r>
          </a:p>
        </p:txBody>
      </p:sp>
      <p:grpSp>
        <p:nvGrpSpPr>
          <p:cNvPr id="13" name="Group 13"/>
          <p:cNvGrpSpPr/>
          <p:nvPr/>
        </p:nvGrpSpPr>
        <p:grpSpPr>
          <a:xfrm>
            <a:off x="15291475" y="0"/>
            <a:ext cx="2852311" cy="1356779"/>
            <a:chOff x="0" y="0"/>
            <a:chExt cx="3803082" cy="1809039"/>
          </a:xfrm>
        </p:grpSpPr>
        <p:sp>
          <p:nvSpPr>
            <p:cNvPr id="14" name="Freeform 14"/>
            <p:cNvSpPr/>
            <p:nvPr/>
          </p:nvSpPr>
          <p:spPr>
            <a:xfrm>
              <a:off x="0" y="0"/>
              <a:ext cx="3803120" cy="1809077"/>
            </a:xfrm>
            <a:custGeom>
              <a:avLst/>
              <a:gdLst/>
              <a:ahLst/>
              <a:cxnLst/>
              <a:rect l="l" t="t" r="r" b="b"/>
              <a:pathLst>
                <a:path w="3803120" h="1809077">
                  <a:moveTo>
                    <a:pt x="0" y="0"/>
                  </a:moveTo>
                  <a:lnTo>
                    <a:pt x="3803120" y="0"/>
                  </a:lnTo>
                  <a:lnTo>
                    <a:pt x="3803120" y="1809077"/>
                  </a:lnTo>
                  <a:lnTo>
                    <a:pt x="0" y="1809077"/>
                  </a:lnTo>
                  <a:lnTo>
                    <a:pt x="0" y="0"/>
                  </a:lnTo>
                  <a:close/>
                </a:path>
              </a:pathLst>
            </a:custGeom>
            <a:blipFill>
              <a:blip r:embed="rId2"/>
              <a:stretch>
                <a:fillRect l="-372" t="-1" r="-371"/>
              </a:stretch>
            </a:blipFill>
          </p:spPr>
        </p:sp>
      </p:grpSp>
      <p:sp>
        <p:nvSpPr>
          <p:cNvPr id="15" name="TextBox 15"/>
          <p:cNvSpPr txBox="1"/>
          <p:nvPr/>
        </p:nvSpPr>
        <p:spPr>
          <a:xfrm>
            <a:off x="873713" y="4174940"/>
            <a:ext cx="17414202" cy="771857"/>
          </a:xfrm>
          <a:prstGeom prst="rect">
            <a:avLst/>
          </a:prstGeom>
        </p:spPr>
        <p:txBody>
          <a:bodyPr lIns="0" tIns="0" rIns="0" bIns="0" rtlCol="0" anchor="t">
            <a:spAutoFit/>
          </a:bodyPr>
          <a:lstStyle/>
          <a:p>
            <a:pPr algn="l">
              <a:lnSpc>
                <a:spcPts val="3131"/>
              </a:lnSpc>
              <a:spcBef>
                <a:spcPct val="0"/>
              </a:spcBef>
            </a:pPr>
            <a:r>
              <a:rPr lang="en-US" sz="2236" b="1" spc="51">
                <a:solidFill>
                  <a:srgbClr val="000000"/>
                </a:solidFill>
                <a:latin typeface="Caladea Bold"/>
                <a:ea typeface="Caladea Bold"/>
                <a:cs typeface="Caladea Bold"/>
                <a:sym typeface="Caladea Bold"/>
              </a:rPr>
              <a:t>The Patents Act, 1970 &amp; Patent Rules (India Code)</a:t>
            </a:r>
            <a:r>
              <a:rPr lang="en-US" sz="2236" spc="51">
                <a:solidFill>
                  <a:srgbClr val="000000"/>
                </a:solidFill>
                <a:latin typeface="Caladea"/>
                <a:ea typeface="Caladea"/>
                <a:cs typeface="Caladea"/>
                <a:sym typeface="Caladea"/>
              </a:rPr>
              <a:t>: Official statutory provisions governing patentability standards (Sec 3(p), 3(e), 3(d)) and Section 10(4) mandatory biological source disclosures.</a:t>
            </a:r>
            <a:r>
              <a:rPr lang="en-US" sz="2236" u="sng" spc="51">
                <a:solidFill>
                  <a:srgbClr val="000000"/>
                </a:solidFill>
                <a:latin typeface="Caladea"/>
                <a:ea typeface="Caladea"/>
                <a:cs typeface="Caladea"/>
                <a:sym typeface="Caladea"/>
                <a:hlinkClick r:id="rId3" tooltip="https://ipindia.gov.in/pages/patents/chapter"/>
              </a:rPr>
              <a:t> https://www.indiacode.nic.in/handle/123456789/1392</a:t>
            </a:r>
          </a:p>
        </p:txBody>
      </p:sp>
      <p:sp>
        <p:nvSpPr>
          <p:cNvPr id="16" name="TextBox 16"/>
          <p:cNvSpPr txBox="1"/>
          <p:nvPr/>
        </p:nvSpPr>
        <p:spPr>
          <a:xfrm>
            <a:off x="873713" y="5022997"/>
            <a:ext cx="17270074" cy="771857"/>
          </a:xfrm>
          <a:prstGeom prst="rect">
            <a:avLst/>
          </a:prstGeom>
        </p:spPr>
        <p:txBody>
          <a:bodyPr lIns="0" tIns="0" rIns="0" bIns="0" rtlCol="0" anchor="t">
            <a:spAutoFit/>
          </a:bodyPr>
          <a:lstStyle/>
          <a:p>
            <a:pPr algn="l">
              <a:lnSpc>
                <a:spcPts val="3131"/>
              </a:lnSpc>
              <a:spcBef>
                <a:spcPct val="0"/>
              </a:spcBef>
            </a:pPr>
            <a:r>
              <a:rPr lang="en-US" sz="2236" b="1" spc="51">
                <a:solidFill>
                  <a:srgbClr val="000000"/>
                </a:solidFill>
                <a:latin typeface="Caladea Bold"/>
                <a:ea typeface="Caladea Bold"/>
                <a:cs typeface="Caladea Bold"/>
                <a:sym typeface="Caladea Bold"/>
              </a:rPr>
              <a:t>The Biological Diversity Act, 2002 &amp; NBA Guidelines (National Biodiversity Authority): </a:t>
            </a:r>
            <a:r>
              <a:rPr lang="en-US" sz="2236" spc="51">
                <a:solidFill>
                  <a:srgbClr val="000000"/>
                </a:solidFill>
                <a:latin typeface="Caladea"/>
                <a:ea typeface="Caladea"/>
                <a:cs typeface="Caladea"/>
                <a:sym typeface="Caladea"/>
              </a:rPr>
              <a:t>Statutory mandate for Form III approvals, Access &amp; Benefit Sharing (ABS), and Nagoya Protocol compliance for IPR applicants. </a:t>
            </a:r>
            <a:r>
              <a:rPr lang="en-US" sz="2236" u="sng" spc="51">
                <a:solidFill>
                  <a:srgbClr val="000000"/>
                </a:solidFill>
                <a:latin typeface="Caladea"/>
                <a:ea typeface="Caladea"/>
                <a:cs typeface="Caladea"/>
                <a:sym typeface="Caladea"/>
                <a:hlinkClick r:id="rId4" tooltip="https://www.nbaindia.nic.in"/>
              </a:rPr>
              <a:t>http://nbaindia.org/content/25/19/1/act.html</a:t>
            </a:r>
          </a:p>
        </p:txBody>
      </p:sp>
      <p:sp>
        <p:nvSpPr>
          <p:cNvPr id="17" name="TextBox 17"/>
          <p:cNvSpPr txBox="1"/>
          <p:nvPr/>
        </p:nvSpPr>
        <p:spPr>
          <a:xfrm>
            <a:off x="873627" y="5956779"/>
            <a:ext cx="17414373" cy="771853"/>
          </a:xfrm>
          <a:prstGeom prst="rect">
            <a:avLst/>
          </a:prstGeom>
        </p:spPr>
        <p:txBody>
          <a:bodyPr lIns="0" tIns="0" rIns="0" bIns="0" rtlCol="0" anchor="t">
            <a:spAutoFit/>
          </a:bodyPr>
          <a:lstStyle/>
          <a:p>
            <a:pPr algn="l">
              <a:lnSpc>
                <a:spcPts val="3131"/>
              </a:lnSpc>
              <a:spcBef>
                <a:spcPct val="0"/>
              </a:spcBef>
            </a:pPr>
            <a:r>
              <a:rPr lang="en-US" sz="2236" b="1" spc="51">
                <a:solidFill>
                  <a:srgbClr val="000000"/>
                </a:solidFill>
                <a:latin typeface="Caladea Bold"/>
                <a:ea typeface="Caladea Bold"/>
                <a:cs typeface="Caladea Bold"/>
                <a:sym typeface="Caladea Bold"/>
              </a:rPr>
              <a:t>Traditional Knowledge Digital Library (TKDL) &amp; CSIR Prior-Art Corpus:</a:t>
            </a:r>
            <a:r>
              <a:rPr lang="en-US" sz="2236" spc="51">
                <a:solidFill>
                  <a:srgbClr val="000000"/>
                </a:solidFill>
                <a:latin typeface="Caladea"/>
                <a:ea typeface="Caladea"/>
                <a:cs typeface="Caladea"/>
                <a:sym typeface="Caladea"/>
              </a:rPr>
              <a:t> Standardized Sanskrit taxonomy, classical formulation references, and international patent examiner protection guidelines.</a:t>
            </a:r>
            <a:r>
              <a:rPr lang="en-US" sz="2236" u="sng" spc="51">
                <a:solidFill>
                  <a:srgbClr val="000000"/>
                </a:solidFill>
                <a:latin typeface="Caladea"/>
                <a:ea typeface="Caladea"/>
                <a:cs typeface="Caladea"/>
                <a:sym typeface="Caladea"/>
                <a:hlinkClick r:id="rId5" tooltip="https://www.tkdl.res.in/tkdl/langdefault/common/Home.asp"/>
              </a:rPr>
              <a:t> https://www.tkdl.res.in/tkdl/langdefault/common/Home.asp</a:t>
            </a:r>
          </a:p>
        </p:txBody>
      </p:sp>
      <p:sp>
        <p:nvSpPr>
          <p:cNvPr id="18" name="TextBox 18"/>
          <p:cNvSpPr txBox="1"/>
          <p:nvPr/>
        </p:nvSpPr>
        <p:spPr>
          <a:xfrm>
            <a:off x="873627" y="6842932"/>
            <a:ext cx="17270160" cy="771857"/>
          </a:xfrm>
          <a:prstGeom prst="rect">
            <a:avLst/>
          </a:prstGeom>
        </p:spPr>
        <p:txBody>
          <a:bodyPr lIns="0" tIns="0" rIns="0" bIns="0" rtlCol="0" anchor="t">
            <a:spAutoFit/>
          </a:bodyPr>
          <a:lstStyle/>
          <a:p>
            <a:pPr algn="just">
              <a:lnSpc>
                <a:spcPts val="3131"/>
              </a:lnSpc>
              <a:spcBef>
                <a:spcPct val="0"/>
              </a:spcBef>
            </a:pPr>
            <a:r>
              <a:rPr lang="en-US" sz="2236" b="1" spc="51">
                <a:solidFill>
                  <a:srgbClr val="000000"/>
                </a:solidFill>
                <a:latin typeface="Caladea Bold"/>
                <a:ea typeface="Caladea Bold"/>
                <a:cs typeface="Caladea Bold"/>
                <a:sym typeface="Caladea Bold"/>
              </a:rPr>
              <a:t>Drugs &amp; Cosmetics Act, 1940 &amp; AYUSH Licensing Rules:</a:t>
            </a:r>
            <a:r>
              <a:rPr lang="en-US" sz="2236" spc="51">
                <a:solidFill>
                  <a:srgbClr val="000000"/>
                </a:solidFill>
                <a:latin typeface="Caladea"/>
                <a:ea typeface="Caladea"/>
                <a:cs typeface="Caladea"/>
                <a:sym typeface="Caladea"/>
              </a:rPr>
              <a:t> Statutory standards for Form 25D ASU drug licensing, Rule 158B safety/clinical waivers, and FSSAI (Ayurveda Aahara) Regulations 2022.</a:t>
            </a:r>
            <a:r>
              <a:rPr lang="en-US" sz="2236" u="sng" spc="51">
                <a:solidFill>
                  <a:srgbClr val="000000"/>
                </a:solidFill>
                <a:latin typeface="Caladea"/>
                <a:ea typeface="Caladea"/>
                <a:cs typeface="Caladea"/>
                <a:sym typeface="Caladea"/>
                <a:hlinkClick r:id="rId6" tooltip="https://ayush.gov.in"/>
              </a:rPr>
              <a:t> https://ayush.gov.in/</a:t>
            </a:r>
          </a:p>
        </p:txBody>
      </p:sp>
      <p:sp>
        <p:nvSpPr>
          <p:cNvPr id="19" name="TextBox 19"/>
          <p:cNvSpPr txBox="1"/>
          <p:nvPr/>
        </p:nvSpPr>
        <p:spPr>
          <a:xfrm>
            <a:off x="873627" y="7729089"/>
            <a:ext cx="17414287" cy="1552907"/>
          </a:xfrm>
          <a:prstGeom prst="rect">
            <a:avLst/>
          </a:prstGeom>
        </p:spPr>
        <p:txBody>
          <a:bodyPr lIns="0" tIns="0" rIns="0" bIns="0" rtlCol="0" anchor="t">
            <a:spAutoFit/>
          </a:bodyPr>
          <a:lstStyle/>
          <a:p>
            <a:pPr algn="l">
              <a:lnSpc>
                <a:spcPts val="3131"/>
              </a:lnSpc>
              <a:spcBef>
                <a:spcPct val="0"/>
              </a:spcBef>
            </a:pPr>
            <a:r>
              <a:rPr lang="en-US" sz="2236" b="1" spc="51">
                <a:solidFill>
                  <a:srgbClr val="000000"/>
                </a:solidFill>
                <a:latin typeface="Caladea Bold"/>
                <a:ea typeface="Caladea Bold"/>
                <a:cs typeface="Caladea Bold"/>
                <a:sym typeface="Caladea Bold"/>
              </a:rPr>
              <a:t>WIPO Treaty on IP, Genetic Resources &amp; Associated Traditional Knowledge (2024)</a:t>
            </a:r>
            <a:r>
              <a:rPr lang="en-US" sz="2236" spc="51">
                <a:solidFill>
                  <a:srgbClr val="000000"/>
                </a:solidFill>
                <a:latin typeface="Caladea"/>
                <a:ea typeface="Caladea"/>
                <a:cs typeface="Caladea"/>
                <a:sym typeface="Caladea"/>
              </a:rPr>
              <a:t>: International legal treaty governing mandatory disclosure obligations of genetic origin and traditional knowledge in patent applications. </a:t>
            </a:r>
          </a:p>
          <a:p>
            <a:pPr algn="l">
              <a:lnSpc>
                <a:spcPts val="3131"/>
              </a:lnSpc>
              <a:spcBef>
                <a:spcPct val="0"/>
              </a:spcBef>
            </a:pPr>
            <a:r>
              <a:rPr lang="en-US" sz="2236" u="sng" spc="51">
                <a:solidFill>
                  <a:srgbClr val="000000"/>
                </a:solidFill>
                <a:latin typeface="Caladea"/>
                <a:ea typeface="Caladea"/>
                <a:cs typeface="Caladea"/>
                <a:sym typeface="Caladea"/>
                <a:hlinkClick r:id="rId7" tooltip="https://www.wipo.int/en/web/traditional-knowledge"/>
              </a:rPr>
              <a:t>https://www.wipo.int/en/web/traditional-knowledge</a:t>
            </a:r>
          </a:p>
          <a:p>
            <a:pPr algn="l">
              <a:lnSpc>
                <a:spcPts val="3131"/>
              </a:lnSpc>
              <a:spcBef>
                <a:spcPct val="0"/>
              </a:spcBef>
            </a:pPr>
            <a:endParaRPr lang="en-US" sz="2236" u="sng" spc="51">
              <a:solidFill>
                <a:srgbClr val="000000"/>
              </a:solidFill>
              <a:latin typeface="Caladea"/>
              <a:ea typeface="Caladea"/>
              <a:cs typeface="Caladea"/>
              <a:sym typeface="Caladea"/>
              <a:hlinkClick r:id="rId7" tooltip="https://www.wipo.int/en/web/traditional-knowledge"/>
            </a:endParaRPr>
          </a:p>
        </p:txBody>
      </p:sp>
      <p:sp>
        <p:nvSpPr>
          <p:cNvPr id="20" name="Freeform 20"/>
          <p:cNvSpPr/>
          <p:nvPr/>
        </p:nvSpPr>
        <p:spPr>
          <a:xfrm>
            <a:off x="581480" y="97150"/>
            <a:ext cx="562668" cy="716360"/>
          </a:xfrm>
          <a:custGeom>
            <a:avLst/>
            <a:gdLst/>
            <a:ahLst/>
            <a:cxnLst/>
            <a:rect l="l" t="t" r="r" b="b"/>
            <a:pathLst>
              <a:path w="562668" h="716360">
                <a:moveTo>
                  <a:pt x="0" y="0"/>
                </a:moveTo>
                <a:lnTo>
                  <a:pt x="562668" y="0"/>
                </a:lnTo>
                <a:lnTo>
                  <a:pt x="562668" y="716361"/>
                </a:lnTo>
                <a:lnTo>
                  <a:pt x="0" y="716361"/>
                </a:lnTo>
                <a:lnTo>
                  <a:pt x="0" y="0"/>
                </a:lnTo>
                <a:close/>
              </a:path>
            </a:pathLst>
          </a:custGeom>
          <a:blipFill>
            <a:blip r:embed="rId8"/>
            <a:stretch>
              <a:fillRect t="-837" r="-164092"/>
            </a:stretch>
          </a:blipFill>
        </p:spPr>
      </p:sp>
      <p:sp>
        <p:nvSpPr>
          <p:cNvPr id="21" name="TextBox 21"/>
          <p:cNvSpPr txBox="1"/>
          <p:nvPr/>
        </p:nvSpPr>
        <p:spPr>
          <a:xfrm>
            <a:off x="23125" y="754647"/>
            <a:ext cx="2034275" cy="250261"/>
          </a:xfrm>
          <a:prstGeom prst="rect">
            <a:avLst/>
          </a:prstGeom>
        </p:spPr>
        <p:txBody>
          <a:bodyPr wrap="square" lIns="0" tIns="0" rIns="0" bIns="0" rtlCol="0" anchor="t">
            <a:spAutoFit/>
          </a:bodyPr>
          <a:lstStyle/>
          <a:p>
            <a:pPr algn="ctr">
              <a:lnSpc>
                <a:spcPts val="2100"/>
              </a:lnSpc>
            </a:pPr>
            <a:r>
              <a:rPr lang="en-US" sz="1500" i="1">
                <a:solidFill>
                  <a:srgbClr val="000000"/>
                </a:solidFill>
                <a:latin typeface="Comic Sans Italics"/>
                <a:ea typeface="Comic Sans Italics"/>
                <a:cs typeface="Comic Sans Italics"/>
                <a:sym typeface="Comic Sans Italics"/>
              </a:rPr>
              <a:t>HALLUCINATORS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1547</Words>
  <Application>Microsoft Office PowerPoint</Application>
  <PresentationFormat>Custom</PresentationFormat>
  <Paragraphs>179</Paragraphs>
  <Slides>6</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6</vt:i4>
      </vt:variant>
    </vt:vector>
  </HeadingPairs>
  <TitlesOfParts>
    <vt:vector size="26" baseType="lpstr">
      <vt:lpstr>Canva Student Font</vt:lpstr>
      <vt:lpstr>Georgia Pro Bold</vt:lpstr>
      <vt:lpstr>Canva Sans Bold</vt:lpstr>
      <vt:lpstr>Canva Sans Italics</vt:lpstr>
      <vt:lpstr>Arial</vt:lpstr>
      <vt:lpstr>DM Sans</vt:lpstr>
      <vt:lpstr>Calistoga</vt:lpstr>
      <vt:lpstr>Caladea Bold</vt:lpstr>
      <vt:lpstr>Comic Sans Bold</vt:lpstr>
      <vt:lpstr>Comic Sans Italics</vt:lpstr>
      <vt:lpstr>Caladea</vt:lpstr>
      <vt:lpstr>Open Sauce Bold</vt:lpstr>
      <vt:lpstr>Cambria Italics</vt:lpstr>
      <vt:lpstr>Caladea Bold Italics</vt:lpstr>
      <vt:lpstr>Garamond Bold</vt:lpstr>
      <vt:lpstr>Garamond</vt:lpstr>
      <vt:lpstr>Canva Sans</vt:lpstr>
      <vt:lpstr>Calibri</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SIH26045 Problem Statement Title – IP-Sakti Sahayak a multilingiual , RAG-based (soruce-cited) AI assistant Theme – Agriculture, FoodTech &amp; Rural Development PS Category – Software Team ID – 73869 Team Name – Algo Sapiens</dc:title>
  <dc:creator>prafull gothwal</dc:creator>
  <cp:lastModifiedBy>Krrish Kumar</cp:lastModifiedBy>
  <cp:revision>7</cp:revision>
  <dcterms:created xsi:type="dcterms:W3CDTF">2006-08-16T00:00:00Z</dcterms:created>
  <dcterms:modified xsi:type="dcterms:W3CDTF">2026-09-10T17:34:15Z</dcterms:modified>
  <dc:identifier>DAHUxa8COiA</dc:identifier>
</cp:coreProperties>
</file>